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colors5.xml" ContentType="application/vnd.ms-office.chartcolorstyle+xml"/>
  <Override PartName="/ppt/charts/colors6.xml" ContentType="application/vnd.ms-office.chartcolorstyle+xml"/>
  <Override PartName="/ppt/charts/colors7.xml" ContentType="application/vnd.ms-office.chartcolorstyle+xml"/>
  <Override PartName="/ppt/charts/colors8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charts/style5.xml" ContentType="application/vnd.ms-office.chartstyle+xml"/>
  <Override PartName="/ppt/charts/style6.xml" ContentType="application/vnd.ms-office.chartstyle+xml"/>
  <Override PartName="/ppt/charts/style7.xml" ContentType="application/vnd.ms-office.chartstyle+xml"/>
  <Override PartName="/ppt/charts/style8.xml" ContentType="application/vnd.ms-office.chartstyle+xml"/>
  <Override PartName="/ppt/fonts/font1.fntdata" ContentType="application/x-fontdata"/>
  <Override PartName="/ppt/fonts/font2.fntdata" ContentType="application/x-fontdata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  <p:sldMasterId id="2147483660" r:id="rId3"/>
  </p:sldMasterIdLst>
  <p:notesMasterIdLst>
    <p:notesMasterId r:id="rId20"/>
  </p:notesMasterIdLst>
  <p:sldIdLst>
    <p:sldId id="256" r:id="rId4"/>
    <p:sldId id="296" r:id="rId5"/>
    <p:sldId id="316" r:id="rId6"/>
    <p:sldId id="317" r:id="rId7"/>
    <p:sldId id="318" r:id="rId8"/>
    <p:sldId id="339" r:id="rId9"/>
    <p:sldId id="338" r:id="rId10"/>
    <p:sldId id="341" r:id="rId11"/>
    <p:sldId id="342" r:id="rId12"/>
    <p:sldId id="343" r:id="rId13"/>
    <p:sldId id="351" r:id="rId14"/>
    <p:sldId id="344" r:id="rId15"/>
    <p:sldId id="348" r:id="rId16"/>
    <p:sldId id="349" r:id="rId17"/>
    <p:sldId id="346" r:id="rId18"/>
    <p:sldId id="347" r:id="rId19"/>
  </p:sldIdLst>
  <p:sldSz cx="12192000" cy="6858000"/>
  <p:notesSz cx="6858000" cy="9144000"/>
  <p:embeddedFontLst>
    <p:embeddedFont>
      <p:font typeface="汉仪字酷堂义山楷W" panose="00020600040101010101" pitchFamily="18" charset="-122"/>
      <p:regular r:id="rId24"/>
    </p:embeddedFont>
    <p:embeddedFont>
      <p:font typeface="汉仪大宋简" panose="02010600000101010101" pitchFamily="2" charset="-122"/>
      <p:regular r:id="rId25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12" userDrawn="1">
          <p15:clr>
            <a:srgbClr val="A4A3A4"/>
          </p15:clr>
        </p15:guide>
        <p15:guide id="2" pos="377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699"/>
    <a:srgbClr val="FE9E6B"/>
    <a:srgbClr val="FCD5AC"/>
    <a:srgbClr val="FE9866"/>
    <a:srgbClr val="FF9A66"/>
    <a:srgbClr val="FCBC86"/>
    <a:srgbClr val="F6EE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24" autoAdjust="0"/>
    <p:restoredTop sz="85012" autoAdjust="0"/>
  </p:normalViewPr>
  <p:slideViewPr>
    <p:cSldViewPr snapToGrid="0" showGuides="1">
      <p:cViewPr varScale="1">
        <p:scale>
          <a:sx n="73" d="100"/>
          <a:sy n="73" d="100"/>
        </p:scale>
        <p:origin x="331" y="370"/>
      </p:cViewPr>
      <p:guideLst>
        <p:guide orient="horz" pos="2312"/>
        <p:guide pos="377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5" Type="http://schemas.openxmlformats.org/officeDocument/2006/relationships/font" Target="fonts/font2.fntdata"/><Relationship Id="rId24" Type="http://schemas.openxmlformats.org/officeDocument/2006/relationships/font" Target="fonts/font1.fntdata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notesMaster" Target="notesMasters/notesMaster1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oleObject" Target="/Users/shenmengxuan/Library/Containers/com.tencent.xinWeChat/Data/Library/Application%20Support/com.tencent.xinWeChat/2.0b4.0.9/5246265d8bde6a3dc6374b824215cebd/Message/MessageTemp/7c48a6d6a56cb00ecf4178d71aa73331/File/&#24037;&#20316;&#31807;1(1).xlsx" TargetMode="External"/></Relationships>
</file>

<file path=ppt/charts/_rels/chart2.xml.rels><?xml version="1.0" encoding="UTF-8" standalone="yes"?>
<Relationships xmlns="http://schemas.openxmlformats.org/package/2006/relationships"><Relationship Id="rId3" Type="http://schemas.microsoft.com/office/2011/relationships/chartColorStyle" Target="colors2.xml"/><Relationship Id="rId2" Type="http://schemas.microsoft.com/office/2011/relationships/chartStyle" Target="style2.xml"/><Relationship Id="rId1" Type="http://schemas.openxmlformats.org/officeDocument/2006/relationships/oleObject" Target="/Users/shenmengxuan/Library/Containers/com.tencent.xinWeChat/Data/Library/Application%20Support/com.tencent.xinWeChat/2.0b4.0.9/5246265d8bde6a3dc6374b824215cebd/Message/MessageTemp/7c48a6d6a56cb00ecf4178d71aa73331/File/&#24037;&#20316;&#31807;1(1).xlsx" TargetMode="External"/></Relationships>
</file>

<file path=ppt/charts/_rels/chart3.xml.rels><?xml version="1.0" encoding="UTF-8" standalone="yes"?>
<Relationships xmlns="http://schemas.openxmlformats.org/package/2006/relationships"><Relationship Id="rId3" Type="http://schemas.microsoft.com/office/2011/relationships/chartColorStyle" Target="colors3.xml"/><Relationship Id="rId2" Type="http://schemas.microsoft.com/office/2011/relationships/chartStyle" Target="style3.xml"/><Relationship Id="rId1" Type="http://schemas.openxmlformats.org/officeDocument/2006/relationships/oleObject" Target="/Users/shenmengxuan/Library/Containers/com.tencent.xinWeChat/Data/Library/Application%20Support/com.tencent.xinWeChat/2.0b4.0.9/5246265d8bde6a3dc6374b824215cebd/Message/MessageTemp/7c48a6d6a56cb00ecf4178d71aa73331/File/&#24037;&#20316;&#31807;1(1).xlsx" TargetMode="External"/></Relationships>
</file>

<file path=ppt/charts/_rels/chart4.xml.rels><?xml version="1.0" encoding="UTF-8" standalone="yes"?>
<Relationships xmlns="http://schemas.openxmlformats.org/package/2006/relationships"><Relationship Id="rId3" Type="http://schemas.microsoft.com/office/2011/relationships/chartColorStyle" Target="colors4.xml"/><Relationship Id="rId2" Type="http://schemas.microsoft.com/office/2011/relationships/chartStyle" Target="style4.xml"/><Relationship Id="rId1" Type="http://schemas.openxmlformats.org/officeDocument/2006/relationships/oleObject" Target="/Users/shenmengxuan/Library/Containers/com.tencent.xinWeChat/Data/Library/Application%20Support/com.tencent.xinWeChat/2.0b4.0.9/5246265d8bde6a3dc6374b824215cebd/Message/MessageTemp/7c48a6d6a56cb00ecf4178d71aa73331/File/&#24037;&#20316;&#31807;1(1).xlsx" TargetMode="External"/></Relationships>
</file>

<file path=ppt/charts/_rels/chart5.xml.rels><?xml version="1.0" encoding="UTF-8" standalone="yes"?>
<Relationships xmlns="http://schemas.openxmlformats.org/package/2006/relationships"><Relationship Id="rId3" Type="http://schemas.microsoft.com/office/2011/relationships/chartColorStyle" Target="colors5.xml"/><Relationship Id="rId2" Type="http://schemas.microsoft.com/office/2011/relationships/chartStyle" Target="style5.xml"/><Relationship Id="rId1" Type="http://schemas.openxmlformats.org/officeDocument/2006/relationships/oleObject" Target="/Users/shenmengxuan/Library/Containers/com.tencent.xinWeChat/Data/Library/Application%20Support/com.tencent.xinWeChat/2.0b4.0.9/5246265d8bde6a3dc6374b824215cebd/Message/MessageTemp/7c48a6d6a56cb00ecf4178d71aa73331/File/&#24037;&#20316;&#31807;1(1).xlsx" TargetMode="External"/></Relationships>
</file>

<file path=ppt/charts/_rels/chart6.xml.rels><?xml version="1.0" encoding="UTF-8" standalone="yes"?>
<Relationships xmlns="http://schemas.openxmlformats.org/package/2006/relationships"><Relationship Id="rId3" Type="http://schemas.microsoft.com/office/2011/relationships/chartColorStyle" Target="colors6.xml"/><Relationship Id="rId2" Type="http://schemas.microsoft.com/office/2011/relationships/chartStyle" Target="style6.xml"/><Relationship Id="rId1" Type="http://schemas.openxmlformats.org/officeDocument/2006/relationships/oleObject" Target="/Users/shenmengxuan/Library/Containers/com.tencent.xinWeChat/Data/Library/Application%20Support/com.tencent.xinWeChat/2.0b4.0.9/5246265d8bde6a3dc6374b824215cebd/Message/MessageTemp/7c48a6d6a56cb00ecf4178d71aa73331/File/&#24037;&#20316;&#31807;1(1).xlsx" TargetMode="External"/></Relationships>
</file>

<file path=ppt/charts/_rels/chart7.xml.rels><?xml version="1.0" encoding="UTF-8" standalone="yes"?>
<Relationships xmlns="http://schemas.openxmlformats.org/package/2006/relationships"><Relationship Id="rId3" Type="http://schemas.microsoft.com/office/2011/relationships/chartColorStyle" Target="colors7.xml"/><Relationship Id="rId2" Type="http://schemas.microsoft.com/office/2011/relationships/chartStyle" Target="style7.xml"/><Relationship Id="rId1" Type="http://schemas.openxmlformats.org/officeDocument/2006/relationships/oleObject" Target="/Users/shenmengxuan/Library/Containers/com.tencent.xinWeChat/Data/Library/Application%20Support/com.tencent.xinWeChat/2.0b4.0.9/5246265d8bde6a3dc6374b824215cebd/Message/MessageTemp/7c48a6d6a56cb00ecf4178d71aa73331/File/&#24037;&#20316;&#31807;1(1).xlsx" TargetMode="External"/></Relationships>
</file>

<file path=ppt/charts/_rels/chart8.xml.rels><?xml version="1.0" encoding="UTF-8" standalone="yes"?>
<Relationships xmlns="http://schemas.openxmlformats.org/package/2006/relationships"><Relationship Id="rId4" Type="http://schemas.microsoft.com/office/2011/relationships/chartColorStyle" Target="colors8.xml"/><Relationship Id="rId3" Type="http://schemas.microsoft.com/office/2011/relationships/chartStyle" Target="style8.xml"/><Relationship Id="rId2" Type="http://schemas.openxmlformats.org/officeDocument/2006/relationships/themeOverride" Target="../theme/themeOverride1.xml"/><Relationship Id="rId1" Type="http://schemas.openxmlformats.org/officeDocument/2006/relationships/oleObject" Target="/Users/shenmengxuan/Library/Containers/com.tencent.xinWeChat/Data/Library/Application%20Support/com.tencent.xinWeChat/2.0b4.0.9/5246265d8bde6a3dc6374b824215cebd/Message/MessageTemp/7c48a6d6a56cb00ecf4178d71aa73331/File/&#24037;&#20316;&#31807;1(1)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1000" b="1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603050405020304" charset="0"/>
                <a:ea typeface="Times New Roman Regular" panose="02020603050405020304" charset="0"/>
                <a:cs typeface="Times New Roman Regular" panose="02020603050405020304" charset="0"/>
                <a:sym typeface="Times New Roman Regular" panose="02020603050405020304" charset="0"/>
              </a:defRPr>
            </a:pPr>
            <a:r>
              <a:rPr sz="1000">
                <a:latin typeface="Times New Roman Regular" panose="02020603050405020304" charset="0"/>
                <a:ea typeface="Times New Roman Regular" panose="02020603050405020304" charset="0"/>
                <a:cs typeface="Times New Roman Regular" panose="02020603050405020304" charset="0"/>
                <a:sym typeface="Times New Roman Regular" panose="02020603050405020304" charset="0"/>
              </a:rPr>
              <a:t>What trip planning features do you want from a smart Butler?</a:t>
            </a:r>
            <a:endParaRPr sz="1000">
              <a:latin typeface="Times New Roman Regular" panose="02020603050405020304" charset="0"/>
              <a:ea typeface="Times New Roman Regular" panose="02020603050405020304" charset="0"/>
              <a:cs typeface="Times New Roman Regular" panose="02020603050405020304" charset="0"/>
              <a:sym typeface="Times New Roman Regular" panose="02020603050405020304" charset="0"/>
            </a:endParaRP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33564074132742"/>
          <c:y val="0.268231611893584"/>
          <c:w val="0.654855060985269"/>
          <c:h val="0.602942097026604"/>
        </c:manualLayout>
      </c:layout>
      <c:barChart>
        <c:barDir val="bar"/>
        <c:grouping val="clustered"/>
        <c:varyColors val="0"/>
        <c:ser>
          <c:idx val="0"/>
          <c:order val="0"/>
          <c:spPr>
            <a:gradFill>
              <a:gsLst>
                <a:gs pos="50000">
                  <a:srgbClr val="F5BD7C"/>
                </a:gs>
                <a:gs pos="0">
                  <a:srgbClr val="F6D1A7"/>
                </a:gs>
                <a:gs pos="100000">
                  <a:srgbClr val="F4A850"/>
                </a:gs>
              </a:gsLst>
              <a:lin scaled="1"/>
            </a:gra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'[工作簿1(1).xlsx]Sheet1'!$A$54:$A$57</c:f>
              <c:strCache>
                <c:ptCount val="4"/>
                <c:pt idx="0">
                  <c:v>Daily schedule</c:v>
                </c:pt>
                <c:pt idx="1">
                  <c:v>Travel route planning</c:v>
                </c:pt>
                <c:pt idx="2">
                  <c:v>Transportation mode recommendation</c:v>
                </c:pt>
                <c:pt idx="3">
                  <c:v>Activity reminder</c:v>
                </c:pt>
              </c:strCache>
            </c:strRef>
          </c:cat>
          <c:val>
            <c:numRef>
              <c:f>'[工作簿1(1).xlsx]Sheet1'!$B$54:$B$57</c:f>
              <c:numCache>
                <c:formatCode>General</c:formatCode>
                <c:ptCount val="4"/>
                <c:pt idx="0">
                  <c:v>25</c:v>
                </c:pt>
                <c:pt idx="1">
                  <c:v>26</c:v>
                </c:pt>
                <c:pt idx="2">
                  <c:v>19</c:v>
                </c:pt>
                <c:pt idx="3">
                  <c:v>14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40"/>
        <c:overlap val="-40"/>
        <c:axId val="33100600"/>
        <c:axId val="181426935"/>
      </c:barChart>
      <c:catAx>
        <c:axId val="33100600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 Regular" panose="02020603050405020304" charset="0"/>
                <a:ea typeface="Times New Roman Regular" panose="02020603050405020304" charset="0"/>
                <a:cs typeface="Times New Roman Regular" panose="02020603050405020304" charset="0"/>
                <a:sym typeface="Times New Roman Regular" panose="02020603050405020304" charset="0"/>
              </a:defRPr>
            </a:pPr>
          </a:p>
        </c:txPr>
        <c:crossAx val="181426935"/>
        <c:crosses val="autoZero"/>
        <c:auto val="1"/>
        <c:lblAlgn val="ctr"/>
        <c:lblOffset val="100"/>
        <c:noMultiLvlLbl val="0"/>
      </c:catAx>
      <c:valAx>
        <c:axId val="181426935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 Regular" panose="02020603050405020304" charset="0"/>
                <a:ea typeface="Times New Roman Regular" panose="02020603050405020304" charset="0"/>
                <a:cs typeface="Times New Roman Regular" panose="02020603050405020304" charset="0"/>
                <a:sym typeface="Times New Roman Regular" panose="02020603050405020304" charset="0"/>
              </a:defRPr>
            </a:pPr>
          </a:p>
        </c:txPr>
        <c:crossAx val="3310060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lang="zh-CN" sz="900">
          <a:latin typeface="Times New Roman Regular" panose="02020603050405020304" charset="0"/>
          <a:ea typeface="Times New Roman Regular" panose="02020603050405020304" charset="0"/>
          <a:cs typeface="Times New Roman Regular" panose="02020603050405020304" charset="0"/>
          <a:sym typeface="Times New Roman Regular" panose="02020603050405020304" charset="0"/>
        </a:defRPr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1000" b="1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603050405020304" charset="0"/>
                <a:ea typeface="Times New Roman Regular" panose="02020603050405020304" charset="0"/>
                <a:cs typeface="Times New Roman Regular" panose="02020603050405020304" charset="0"/>
                <a:sym typeface="Times New Roman Regular" panose="02020603050405020304" charset="0"/>
              </a:defRPr>
            </a:pPr>
            <a:r>
              <a:rPr sz="1000">
                <a:latin typeface="Times New Roman Regular" panose="02020603050405020304" charset="0"/>
                <a:ea typeface="Times New Roman Regular" panose="02020603050405020304" charset="0"/>
                <a:cs typeface="Times New Roman Regular" panose="02020603050405020304" charset="0"/>
                <a:sym typeface="Times New Roman Regular" panose="02020603050405020304" charset="0"/>
              </a:rPr>
              <a:t>Where do you want smart Butler to provide decision support?</a:t>
            </a:r>
            <a:endParaRPr sz="1000">
              <a:latin typeface="Times New Roman Regular" panose="02020603050405020304" charset="0"/>
              <a:ea typeface="Times New Roman Regular" panose="02020603050405020304" charset="0"/>
              <a:cs typeface="Times New Roman Regular" panose="02020603050405020304" charset="0"/>
              <a:sym typeface="Times New Roman Regular" panose="02020603050405020304" charset="0"/>
            </a:endParaRPr>
          </a:p>
        </c:rich>
      </c:tx>
      <c:layout>
        <c:manualLayout>
          <c:xMode val="edge"/>
          <c:yMode val="edge"/>
          <c:x val="0.169489973445655"/>
          <c:y val="0.0500208420175073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182469278033794"/>
          <c:y val="0.246484085862324"/>
          <c:w val="0.75397465437788"/>
          <c:h val="0.550333086602517"/>
        </c:manualLayout>
      </c:layout>
      <c:barChart>
        <c:barDir val="bar"/>
        <c:grouping val="clustered"/>
        <c:varyColors val="0"/>
        <c:ser>
          <c:idx val="0"/>
          <c:order val="0"/>
          <c:spPr>
            <a:gradFill flip="none">
              <a:gsLst>
                <a:gs pos="50000">
                  <a:srgbClr val="F5BD7C"/>
                </a:gs>
                <a:gs pos="0">
                  <a:srgbClr val="F6D1A7"/>
                </a:gs>
                <a:gs pos="100000">
                  <a:srgbClr val="F4A850"/>
                </a:gs>
              </a:gsLst>
              <a:lin ang="5400000" scaled="1"/>
            </a:gra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'[工作簿1(1).xlsx]Sheet1'!$A$86:$A$89</c:f>
              <c:strCache>
                <c:ptCount val="4"/>
                <c:pt idx="0">
                  <c:v>Shopping advice</c:v>
                </c:pt>
                <c:pt idx="1">
                  <c:v>Time management</c:v>
                </c:pt>
                <c:pt idx="2">
                  <c:v>Financial management</c:v>
                </c:pt>
                <c:pt idx="3">
                  <c:v>health management</c:v>
                </c:pt>
              </c:strCache>
            </c:strRef>
          </c:cat>
          <c:val>
            <c:numRef>
              <c:f>'[工作簿1(1).xlsx]Sheet1'!$B$86:$B$89</c:f>
              <c:numCache>
                <c:formatCode>General</c:formatCode>
                <c:ptCount val="4"/>
                <c:pt idx="0">
                  <c:v>17</c:v>
                </c:pt>
                <c:pt idx="1">
                  <c:v>10</c:v>
                </c:pt>
                <c:pt idx="2">
                  <c:v>9</c:v>
                </c:pt>
                <c:pt idx="3">
                  <c:v>25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40"/>
        <c:overlap val="-40"/>
        <c:axId val="157344715"/>
        <c:axId val="779329319"/>
      </c:barChart>
      <c:catAx>
        <c:axId val="157344715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 Regular" panose="02020603050405020304" charset="0"/>
                <a:ea typeface="Times New Roman Regular" panose="02020603050405020304" charset="0"/>
                <a:cs typeface="Times New Roman Regular" panose="02020603050405020304" charset="0"/>
                <a:sym typeface="Times New Roman Regular" panose="02020603050405020304" charset="0"/>
              </a:defRPr>
            </a:pPr>
          </a:p>
        </c:txPr>
        <c:crossAx val="779329319"/>
        <c:crosses val="autoZero"/>
        <c:auto val="1"/>
        <c:lblAlgn val="ctr"/>
        <c:lblOffset val="100"/>
        <c:noMultiLvlLbl val="0"/>
      </c:catAx>
      <c:valAx>
        <c:axId val="779329319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5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 Regular" panose="02020603050405020304" charset="0"/>
                <a:ea typeface="Times New Roman Regular" panose="02020603050405020304" charset="0"/>
                <a:cs typeface="Times New Roman Regular" panose="02020603050405020304" charset="0"/>
                <a:sym typeface="Times New Roman Regular" panose="02020603050405020304" charset="0"/>
              </a:defRPr>
            </a:pPr>
          </a:p>
        </c:txPr>
        <c:crossAx val="15734471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lang="zh-CN" sz="500">
          <a:latin typeface="Times New Roman Regular" panose="02020603050405020304" charset="0"/>
          <a:ea typeface="Times New Roman Regular" panose="02020603050405020304" charset="0"/>
          <a:cs typeface="Times New Roman Regular" panose="02020603050405020304" charset="0"/>
          <a:sym typeface="Times New Roman Regular" panose="02020603050405020304" charset="0"/>
        </a:defRPr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1000" b="1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603050405020304" charset="0"/>
                <a:ea typeface="Times New Roman Regular" panose="02020603050405020304" charset="0"/>
                <a:cs typeface="Times New Roman Regular" panose="02020603050405020304" charset="0"/>
                <a:sym typeface="Times New Roman Regular" panose="02020603050405020304" charset="0"/>
              </a:defRPr>
            </a:pPr>
            <a:r>
              <a:rPr sz="1000">
                <a:latin typeface="Times New Roman Regular" panose="02020603050405020304" charset="0"/>
                <a:ea typeface="Times New Roman Regular" panose="02020603050405020304" charset="0"/>
                <a:cs typeface="Times New Roman Regular" panose="02020603050405020304" charset="0"/>
                <a:sym typeface="Times New Roman Regular" panose="02020603050405020304" charset="0"/>
              </a:rPr>
              <a:t>What functions do you think you need an </a:t>
            </a:r>
            <a:r>
              <a:rPr lang="en-US" altLang="zh-CN" sz="1000">
                <a:latin typeface="Times New Roman Regular" panose="02020603050405020304" charset="0"/>
                <a:ea typeface="Times New Roman Regular" panose="02020603050405020304" charset="0"/>
                <a:cs typeface="Times New Roman Regular" panose="02020603050405020304" charset="0"/>
                <a:sym typeface="Times New Roman Regular" panose="02020603050405020304" charset="0"/>
              </a:rPr>
              <a:t>AI</a:t>
            </a:r>
            <a:r>
              <a:rPr sz="1000">
                <a:latin typeface="Times New Roman Regular" panose="02020603050405020304" charset="0"/>
                <a:ea typeface="Times New Roman Regular" panose="02020603050405020304" charset="0"/>
                <a:cs typeface="Times New Roman Regular" panose="02020603050405020304" charset="0"/>
                <a:sym typeface="Times New Roman Regular" panose="02020603050405020304" charset="0"/>
              </a:rPr>
              <a:t> steward to help you with</a:t>
            </a:r>
            <a:endParaRPr sz="1000">
              <a:latin typeface="Times New Roman Regular" panose="02020603050405020304" charset="0"/>
              <a:ea typeface="Times New Roman Regular" panose="02020603050405020304" charset="0"/>
              <a:cs typeface="Times New Roman Regular" panose="02020603050405020304" charset="0"/>
              <a:sym typeface="Times New Roman Regular" panose="02020603050405020304" charset="0"/>
            </a:endParaRP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spPr>
            <a:gradFill>
              <a:gsLst>
                <a:gs pos="50000">
                  <a:srgbClr val="F5BD7C"/>
                </a:gs>
                <a:gs pos="0">
                  <a:srgbClr val="F6D1A7"/>
                </a:gs>
                <a:gs pos="100000">
                  <a:srgbClr val="F4A850"/>
                </a:gs>
              </a:gsLst>
              <a:lin scaled="1"/>
            </a:gra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'[工作簿1(1).xlsx]Sheet1'!$A$113:$A$119</c:f>
              <c:strCache>
                <c:ptCount val="7"/>
                <c:pt idx="0">
                  <c:v>Basic information query(weather)</c:v>
                </c:pt>
                <c:pt idx="1">
                  <c:v>Smart Assistant Travel </c:v>
                </c:pt>
                <c:pt idx="2">
                  <c:v>Smart Assistant Decision(heath management)</c:v>
                </c:pt>
                <c:pt idx="3">
                  <c:v>Mild recreational function(jokes)</c:v>
                </c:pt>
                <c:pt idx="4">
                  <c:v>Basic home management</c:v>
                </c:pt>
                <c:pt idx="5">
                  <c:v>Mild social assistance(social calendar)</c:v>
                </c:pt>
                <c:pt idx="6">
                  <c:v>Dietary Recommendation </c:v>
                </c:pt>
              </c:strCache>
            </c:strRef>
          </c:cat>
          <c:val>
            <c:numRef>
              <c:f>'[工作簿1(1).xlsx]Sheet1'!$B$113:$B$119</c:f>
              <c:numCache>
                <c:formatCode>General</c:formatCode>
                <c:ptCount val="7"/>
                <c:pt idx="0">
                  <c:v>7</c:v>
                </c:pt>
                <c:pt idx="1">
                  <c:v>32</c:v>
                </c:pt>
                <c:pt idx="2">
                  <c:v>30</c:v>
                </c:pt>
                <c:pt idx="3">
                  <c:v>5</c:v>
                </c:pt>
                <c:pt idx="4">
                  <c:v>15</c:v>
                </c:pt>
                <c:pt idx="5">
                  <c:v>14</c:v>
                </c:pt>
                <c:pt idx="6">
                  <c:v>35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40"/>
        <c:overlap val="-40"/>
        <c:axId val="298600952"/>
        <c:axId val="176014489"/>
      </c:barChart>
      <c:catAx>
        <c:axId val="298600952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 Regular" panose="02020603050405020304" charset="0"/>
                <a:ea typeface="Times New Roman Regular" panose="02020603050405020304" charset="0"/>
                <a:cs typeface="Times New Roman Regular" panose="02020603050405020304" charset="0"/>
                <a:sym typeface="Times New Roman Regular" panose="02020603050405020304" charset="0"/>
              </a:defRPr>
            </a:pPr>
          </a:p>
        </c:txPr>
        <c:crossAx val="176014489"/>
        <c:crosses val="autoZero"/>
        <c:auto val="1"/>
        <c:lblAlgn val="ctr"/>
        <c:lblOffset val="100"/>
        <c:noMultiLvlLbl val="0"/>
      </c:catAx>
      <c:valAx>
        <c:axId val="176014489"/>
        <c:scaling>
          <c:orientation val="minMax"/>
        </c:scaling>
        <c:delete val="1"/>
        <c:axPos val="b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 Regular" panose="02020603050405020304" charset="0"/>
                <a:ea typeface="Times New Roman Regular" panose="02020603050405020304" charset="0"/>
                <a:cs typeface="Times New Roman Regular" panose="02020603050405020304" charset="0"/>
                <a:sym typeface="Times New Roman Regular" panose="02020603050405020304" charset="0"/>
              </a:defRPr>
            </a:pPr>
          </a:p>
        </c:txPr>
        <c:crossAx val="29860095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lang="zh-CN">
          <a:latin typeface="Times New Roman Regular" panose="02020603050405020304" charset="0"/>
          <a:ea typeface="Times New Roman Regular" panose="02020603050405020304" charset="0"/>
          <a:cs typeface="Times New Roman Regular" panose="02020603050405020304" charset="0"/>
          <a:sym typeface="Times New Roman Regular" panose="02020603050405020304" charset="0"/>
        </a:defRPr>
      </a:p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900" b="1" i="0" u="none" strike="noStrike" kern="1200" cap="all" spc="100" normalizeH="0" baseline="0">
                <a:solidFill>
                  <a:schemeClr val="bg1"/>
                </a:solidFill>
                <a:latin typeface="Times New Roman Regular" panose="02020603050405020304" charset="0"/>
                <a:ea typeface="Times New Roman Regular" panose="02020603050405020304" charset="0"/>
                <a:cs typeface="Times New Roman Regular" panose="02020603050405020304" charset="0"/>
                <a:sym typeface="Times New Roman Regular" panose="02020603050405020304" charset="0"/>
              </a:defRPr>
            </a:pPr>
            <a:r>
              <a:rPr sz="900">
                <a:solidFill>
                  <a:schemeClr val="bg1"/>
                </a:solidFill>
                <a:latin typeface="Times New Roman Regular" panose="02020603050405020304" charset="0"/>
                <a:ea typeface="Times New Roman Regular" panose="02020603050405020304" charset="0"/>
                <a:cs typeface="Times New Roman Regular" panose="02020603050405020304" charset="0"/>
                <a:sym typeface="Times New Roman Regular" panose="02020603050405020304" charset="0"/>
              </a:rPr>
              <a:t>Do you need help making daily decisions?</a:t>
            </a:r>
            <a:endParaRPr sz="900">
              <a:solidFill>
                <a:schemeClr val="bg1"/>
              </a:solidFill>
              <a:latin typeface="Times New Roman Regular" panose="02020603050405020304" charset="0"/>
              <a:ea typeface="Times New Roman Regular" panose="02020603050405020304" charset="0"/>
              <a:cs typeface="Times New Roman Regular" panose="02020603050405020304" charset="0"/>
              <a:sym typeface="Times New Roman Regular" panose="02020603050405020304" charset="0"/>
            </a:endParaRP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pieChart>
        <c:varyColors val="1"/>
        <c:ser>
          <c:idx val="0"/>
          <c:order val="0"/>
          <c:spPr>
            <a:ln w="19050">
              <a:solidFill>
                <a:schemeClr val="accent2"/>
              </a:solidFill>
            </a:ln>
          </c:spPr>
          <c:explosion val="0"/>
          <c:dPt>
            <c:idx val="0"/>
            <c:bubble3D val="0"/>
            <c:spPr>
              <a:solidFill>
                <a:schemeClr val="lt1"/>
              </a:solidFill>
              <a:ln w="19050">
                <a:solidFill>
                  <a:schemeClr val="accent2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lt1"/>
              </a:solidFill>
              <a:ln w="19050">
                <a:solidFill>
                  <a:schemeClr val="accent2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lt1"/>
              </a:solidFill>
              <a:ln w="19050">
                <a:solidFill>
                  <a:schemeClr val="accent2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lt1"/>
              </a:solidFill>
              <a:ln w="19050">
                <a:solidFill>
                  <a:schemeClr val="accent2"/>
                </a:solidFill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1" i="0" u="none" strike="noStrike" kern="1200" baseline="0">
                    <a:solidFill>
                      <a:schemeClr val="accent2"/>
                    </a:solidFill>
                    <a:latin typeface="Times New Roman Regular" panose="02020603050405020304" charset="0"/>
                    <a:ea typeface="Times New Roman Regular" panose="02020603050405020304" charset="0"/>
                    <a:cs typeface="Times New Roman Regular" panose="02020603050405020304" charset="0"/>
                    <a:sym typeface="Times New Roman Regular" panose="02020603050405020304" charset="0"/>
                  </a:defRPr>
                </a:pPr>
              </a:p>
            </c:txPr>
            <c:dLblPos val="inEnd"/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'[工作簿1(1).20250512064910260.xlsx]Sheet1'!$A$47:$A$50</c:f>
              <c:strCache>
                <c:ptCount val="4"/>
                <c:pt idx="0">
                  <c:v>Frequently need </c:v>
                </c:pt>
                <c:pt idx="1">
                  <c:v>Occasionally needed</c:v>
                </c:pt>
                <c:pt idx="2">
                  <c:v>Ware plate</c:v>
                </c:pt>
                <c:pt idx="3">
                  <c:v>Absolutely no need</c:v>
                </c:pt>
              </c:strCache>
            </c:strRef>
          </c:cat>
          <c:val>
            <c:numRef>
              <c:f>'[工作簿1(1).20250512064910260.xlsx]Sheet1'!$B$46:$B$49</c:f>
              <c:numCache>
                <c:formatCode>General</c:formatCode>
                <c:ptCount val="4"/>
                <c:pt idx="0">
                  <c:v>12</c:v>
                </c:pt>
                <c:pt idx="1">
                  <c:v>46</c:v>
                </c:pt>
                <c:pt idx="2">
                  <c:v>14</c:v>
                </c:pt>
                <c:pt idx="3">
                  <c:v>4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accent2">
        <a:lumMod val="60000"/>
        <a:lumOff val="40000"/>
      </a:schemeClr>
    </a:solidFill>
    <a:ln w="9525" cap="flat" cmpd="sng" algn="ctr">
      <a:solidFill>
        <a:schemeClr val="accent2">
          <a:lumMod val="60000"/>
          <a:lumOff val="40000"/>
        </a:schemeClr>
      </a:solidFill>
      <a:prstDash val="solid"/>
      <a:round/>
    </a:ln>
    <a:effectLst/>
  </c:spPr>
  <c:txPr>
    <a:bodyPr/>
    <a:lstStyle/>
    <a:p>
      <a:pPr>
        <a:defRPr lang="zh-CN">
          <a:solidFill>
            <a:schemeClr val="bg1"/>
          </a:solidFill>
          <a:latin typeface="Times New Roman Regular" panose="02020603050405020304" charset="0"/>
          <a:ea typeface="Times New Roman Regular" panose="02020603050405020304" charset="0"/>
          <a:cs typeface="Times New Roman Regular" panose="02020603050405020304" charset="0"/>
          <a:sym typeface="Times New Roman Regular" panose="02020603050405020304" charset="0"/>
        </a:defRPr>
      </a:pPr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900" b="1" i="0" u="none" strike="noStrike" kern="1200" cap="all" spc="100" normalizeH="0" baseline="0">
                <a:solidFill>
                  <a:schemeClr val="bg1"/>
                </a:solidFill>
                <a:latin typeface="Times New Roman Regular" panose="02020603050405020304" charset="0"/>
                <a:ea typeface="Times New Roman Regular" panose="02020603050405020304" charset="0"/>
                <a:cs typeface="Times New Roman Regular" panose="02020603050405020304" charset="0"/>
                <a:sym typeface="Times New Roman Regular" panose="02020603050405020304" charset="0"/>
              </a:defRPr>
            </a:pPr>
            <a:r>
              <a:rPr sz="900">
                <a:solidFill>
                  <a:schemeClr val="bg1"/>
                </a:solidFill>
                <a:latin typeface="Times New Roman Regular" panose="02020603050405020304" charset="0"/>
                <a:ea typeface="Times New Roman Regular" panose="02020603050405020304" charset="0"/>
                <a:cs typeface="Times New Roman Regular" panose="02020603050405020304" charset="0"/>
                <a:sym typeface="Times New Roman Regular" panose="02020603050405020304" charset="0"/>
              </a:rPr>
              <a:t>Do you care about eating a healthy diet</a:t>
            </a:r>
            <a:endParaRPr sz="900">
              <a:solidFill>
                <a:schemeClr val="bg1"/>
              </a:solidFill>
              <a:latin typeface="Times New Roman Regular" panose="02020603050405020304" charset="0"/>
              <a:ea typeface="Times New Roman Regular" panose="02020603050405020304" charset="0"/>
              <a:cs typeface="Times New Roman Regular" panose="02020603050405020304" charset="0"/>
              <a:sym typeface="Times New Roman Regular" panose="02020603050405020304" charset="0"/>
            </a:endParaRP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pieChart>
        <c:varyColors val="1"/>
        <c:ser>
          <c:idx val="0"/>
          <c:order val="0"/>
          <c:spPr>
            <a:ln w="19050">
              <a:solidFill>
                <a:schemeClr val="accent2"/>
              </a:solidFill>
            </a:ln>
          </c:spPr>
          <c:explosion val="0"/>
          <c:dPt>
            <c:idx val="0"/>
            <c:bubble3D val="0"/>
            <c:spPr>
              <a:solidFill>
                <a:schemeClr val="lt1"/>
              </a:solidFill>
              <a:ln w="19050">
                <a:solidFill>
                  <a:schemeClr val="accent2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lt1"/>
              </a:solidFill>
              <a:ln w="19050">
                <a:solidFill>
                  <a:schemeClr val="accent2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lt1"/>
              </a:solidFill>
              <a:ln w="19050">
                <a:solidFill>
                  <a:schemeClr val="accent2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lt1"/>
              </a:solidFill>
              <a:ln w="19050">
                <a:solidFill>
                  <a:schemeClr val="accent2"/>
                </a:solidFill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1" i="0" u="none" strike="noStrike" kern="1200" baseline="0">
                    <a:solidFill>
                      <a:schemeClr val="accent2"/>
                    </a:solidFill>
                    <a:latin typeface="Times New Roman Regular" panose="02020603050405020304" charset="0"/>
                    <a:ea typeface="Times New Roman Regular" panose="02020603050405020304" charset="0"/>
                    <a:cs typeface="Times New Roman Regular" panose="02020603050405020304" charset="0"/>
                    <a:sym typeface="Times New Roman Regular" panose="02020603050405020304" charset="0"/>
                  </a:defRPr>
                </a:pPr>
              </a:p>
            </c:txPr>
            <c:dLblPos val="inEnd"/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'[工作簿1(1).20250512064910260.xlsx]Sheet1'!$A$29:$A$32</c:f>
              <c:strCache>
                <c:ptCount val="4"/>
                <c:pt idx="0">
                  <c:v>pay attention to</c:v>
                </c:pt>
                <c:pt idx="1">
                  <c:v>pay more attention to</c:v>
                </c:pt>
                <c:pt idx="2">
                  <c:v>common</c:v>
                </c:pt>
                <c:pt idx="3">
                  <c:v>pay no attention to</c:v>
                </c:pt>
              </c:strCache>
            </c:strRef>
          </c:cat>
          <c:val>
            <c:numRef>
              <c:f>'[工作簿1(1).20250512064910260.xlsx]Sheet1'!$B$29:$B$32</c:f>
              <c:numCache>
                <c:formatCode>General</c:formatCode>
                <c:ptCount val="4"/>
                <c:pt idx="0">
                  <c:v>40</c:v>
                </c:pt>
                <c:pt idx="1">
                  <c:v>12</c:v>
                </c:pt>
                <c:pt idx="2">
                  <c:v>8</c:v>
                </c:pt>
                <c:pt idx="3">
                  <c:v>10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accent2">
        <a:lumMod val="60000"/>
        <a:lumOff val="40000"/>
      </a:schemeClr>
    </a:solidFill>
    <a:ln w="9525" cap="flat" cmpd="sng" algn="ctr">
      <a:solidFill>
        <a:schemeClr val="accent2">
          <a:lumMod val="60000"/>
          <a:lumOff val="40000"/>
        </a:schemeClr>
      </a:solidFill>
      <a:round/>
    </a:ln>
    <a:effectLst/>
  </c:spPr>
  <c:txPr>
    <a:bodyPr/>
    <a:lstStyle/>
    <a:p>
      <a:pPr>
        <a:defRPr lang="zh-CN">
          <a:solidFill>
            <a:schemeClr val="accent2"/>
          </a:solidFill>
          <a:latin typeface="Times New Roman Regular" panose="02020603050405020304" charset="0"/>
          <a:ea typeface="Times New Roman Regular" panose="02020603050405020304" charset="0"/>
          <a:cs typeface="Times New Roman Regular" panose="02020603050405020304" charset="0"/>
          <a:sym typeface="Times New Roman Regular" panose="02020603050405020304" charset="0"/>
        </a:defRPr>
      </a:pPr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900" b="1" i="0" u="none" strike="noStrike" kern="1200" cap="all" spc="100" normalizeH="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r>
              <a:rPr sz="900">
                <a:solidFill>
                  <a:schemeClr val="bg1"/>
                </a:solidFill>
              </a:rPr>
              <a:t>How often do you need to plan your daily itinerary</a:t>
            </a:r>
            <a:endParaRPr sz="900">
              <a:solidFill>
                <a:schemeClr val="bg1"/>
              </a:solidFill>
            </a:endParaRP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pieChart>
        <c:varyColors val="1"/>
        <c:ser>
          <c:idx val="0"/>
          <c:order val="0"/>
          <c:spPr>
            <a:ln w="19050">
              <a:solidFill>
                <a:schemeClr val="accent2"/>
              </a:solidFill>
            </a:ln>
          </c:spPr>
          <c:explosion val="0"/>
          <c:dPt>
            <c:idx val="0"/>
            <c:bubble3D val="0"/>
            <c:spPr>
              <a:solidFill>
                <a:schemeClr val="lt1"/>
              </a:solidFill>
              <a:ln w="19050">
                <a:solidFill>
                  <a:schemeClr val="accent2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lt1"/>
              </a:solidFill>
              <a:ln w="19050">
                <a:solidFill>
                  <a:schemeClr val="accent2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lt1"/>
              </a:solidFill>
              <a:ln w="19050">
                <a:solidFill>
                  <a:schemeClr val="accent2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lt1"/>
              </a:solidFill>
              <a:ln w="19050">
                <a:solidFill>
                  <a:schemeClr val="accent2"/>
                </a:solidFill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1" i="0" u="none" strike="noStrike" kern="1200" baseline="0">
                    <a:solidFill>
                      <a:schemeClr val="accent2"/>
                    </a:solidFill>
                    <a:latin typeface="Times New Roman Regular" panose="02020603050405020304" charset="0"/>
                    <a:ea typeface="Times New Roman Regular" panose="02020603050405020304" charset="0"/>
                    <a:cs typeface="Times New Roman Regular" panose="02020603050405020304" charset="0"/>
                    <a:sym typeface="Times New Roman Regular" panose="02020603050405020304" charset="0"/>
                  </a:defRPr>
                </a:pPr>
              </a:p>
            </c:txPr>
            <c:dLblPos val="inEnd"/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'[工作簿1(1).20250512064910260.xlsx]Sheet1'!$A$38:$A$41</c:f>
              <c:strCache>
                <c:ptCount val="4"/>
                <c:pt idx="0">
                  <c:v>Often need</c:v>
                </c:pt>
                <c:pt idx="1">
                  <c:v>Occasionally needed</c:v>
                </c:pt>
                <c:pt idx="2">
                  <c:v>Rarely</c:v>
                </c:pt>
                <c:pt idx="3">
                  <c:v>Never</c:v>
                </c:pt>
              </c:strCache>
            </c:strRef>
          </c:cat>
          <c:val>
            <c:numRef>
              <c:f>'[工作簿1(1).20250512064910260.xlsx]Sheet1'!$B$38:$B$41</c:f>
              <c:numCache>
                <c:formatCode>General</c:formatCode>
                <c:ptCount val="4"/>
                <c:pt idx="0">
                  <c:v>10</c:v>
                </c:pt>
                <c:pt idx="1">
                  <c:v>23</c:v>
                </c:pt>
                <c:pt idx="2">
                  <c:v>2</c:v>
                </c:pt>
                <c:pt idx="3">
                  <c:v>1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accent2">
        <a:lumMod val="60000"/>
        <a:lumOff val="40000"/>
      </a:schemeClr>
    </a:solidFill>
    <a:ln w="9525" cap="flat" cmpd="sng" algn="ctr">
      <a:solidFill>
        <a:schemeClr val="accent2"/>
      </a:solidFill>
      <a:prstDash val="solid"/>
      <a:round/>
    </a:ln>
    <a:effectLst/>
  </c:spPr>
  <c:txPr>
    <a:bodyPr/>
    <a:lstStyle/>
    <a:p>
      <a:pPr>
        <a:defRPr lang="zh-CN">
          <a:solidFill>
            <a:schemeClr val="accent2"/>
          </a:solidFill>
        </a:defRPr>
      </a:pPr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sz="1200">
                <a:latin typeface="Times New Roman Regular" panose="02020603050405020304" charset="0"/>
              </a:rPr>
              <a:t>A graph showing the number of users changing over time</a:t>
            </a:r>
            <a:endParaRPr sz="1200">
              <a:latin typeface="Times New Roman Regular" panose="02020603050405020304" charset="0"/>
            </a:endParaRPr>
          </a:p>
        </c:rich>
      </c:tx>
      <c:layout>
        <c:manualLayout>
          <c:xMode val="edge"/>
          <c:yMode val="edge"/>
          <c:x val="0.133344508041544"/>
          <c:y val="0.0303600412298813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/>
      <c:lineChart>
        <c:grouping val="standard"/>
        <c:varyColors val="0"/>
        <c:ser>
          <c:idx val="1"/>
          <c:order val="0"/>
          <c:tx>
            <c:strRef>
              <c:f>'[工作簿1(1).xlsx]Sheet1'!$Y$32</c:f>
              <c:strCache>
                <c:ptCount val="1"/>
                <c:pt idx="0">
                  <c:v>User volume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val>
            <c:numRef>
              <c:f>'[工作簿1(1).xlsx]Sheet1'!$Y$33:$Y$35</c:f>
              <c:numCache>
                <c:formatCode>General</c:formatCode>
                <c:ptCount val="3"/>
                <c:pt idx="0">
                  <c:v>500</c:v>
                </c:pt>
                <c:pt idx="1">
                  <c:v>800</c:v>
                </c:pt>
                <c:pt idx="2">
                  <c:v>1000</c:v>
                </c:pt>
              </c:numCache>
            </c:numRef>
          </c:val>
          <c:smooth val="1"/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0"/>
        <c:smooth val="1"/>
        <c:axId val="741552401"/>
        <c:axId val="217967372"/>
      </c:lineChart>
      <c:catAx>
        <c:axId val="74155240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217967372"/>
        <c:crosses val="autoZero"/>
        <c:auto val="1"/>
        <c:lblAlgn val="ctr"/>
        <c:lblOffset val="100"/>
        <c:noMultiLvlLbl val="0"/>
      </c:catAx>
      <c:valAx>
        <c:axId val="2179673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74155240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lang="zh-CN" sz="1000"/>
      </a:pPr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0" vertOverflow="ellipsis" vert="horz" wrap="square" anchor="ctr" anchorCtr="1" forceAA="0"/>
          <a:lstStyle/>
          <a:p>
            <a:pPr defTabSz="914400">
              <a:defRPr lang="zh-CN" sz="1080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-122"/>
                <a:ea typeface="微软雅黑" charset="-122"/>
                <a:cs typeface="微软雅黑" charset="-122"/>
                <a:sym typeface="微软雅黑" charset="-122"/>
              </a:defRPr>
            </a:pPr>
            <a:r>
              <a:rPr sz="1080"/>
              <a:t>The average usage duration of AIVA</a:t>
            </a:r>
            <a:endParaRPr sz="1080"/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scatterChart>
        <c:scatterStyle val="marker"/>
        <c:varyColors val="0"/>
        <c:ser>
          <c:idx val="0"/>
          <c:order val="0"/>
          <c:spPr>
            <a:ln w="1905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delete val="1"/>
          </c:dLbls>
          <c:yVal>
            <c:numRef>
              <c:f>'[工作簿1(1).xlsx]Sheet1'!$S$51:$S$100</c:f>
              <c:numCache>
                <c:formatCode>General</c:formatCode>
                <c:ptCount val="50"/>
                <c:pt idx="0">
                  <c:v>5</c:v>
                </c:pt>
                <c:pt idx="1">
                  <c:v>6</c:v>
                </c:pt>
                <c:pt idx="2">
                  <c:v>7</c:v>
                </c:pt>
                <c:pt idx="3">
                  <c:v>9</c:v>
                </c:pt>
                <c:pt idx="4">
                  <c:v>8</c:v>
                </c:pt>
                <c:pt idx="5">
                  <c:v>5</c:v>
                </c:pt>
                <c:pt idx="6">
                  <c:v>6</c:v>
                </c:pt>
                <c:pt idx="7">
                  <c:v>5</c:v>
                </c:pt>
                <c:pt idx="8">
                  <c:v>7</c:v>
                </c:pt>
                <c:pt idx="9">
                  <c:v>5</c:v>
                </c:pt>
                <c:pt idx="10">
                  <c:v>3</c:v>
                </c:pt>
                <c:pt idx="11">
                  <c:v>5</c:v>
                </c:pt>
                <c:pt idx="12">
                  <c:v>7</c:v>
                </c:pt>
                <c:pt idx="13">
                  <c:v>9</c:v>
                </c:pt>
                <c:pt idx="14">
                  <c:v>8</c:v>
                </c:pt>
                <c:pt idx="15">
                  <c:v>5</c:v>
                </c:pt>
                <c:pt idx="16">
                  <c:v>6</c:v>
                </c:pt>
                <c:pt idx="17">
                  <c:v>3</c:v>
                </c:pt>
                <c:pt idx="18">
                  <c:v>7</c:v>
                </c:pt>
                <c:pt idx="19">
                  <c:v>5</c:v>
                </c:pt>
                <c:pt idx="20">
                  <c:v>3</c:v>
                </c:pt>
                <c:pt idx="21">
                  <c:v>5</c:v>
                </c:pt>
                <c:pt idx="22">
                  <c:v>7</c:v>
                </c:pt>
                <c:pt idx="23">
                  <c:v>9</c:v>
                </c:pt>
                <c:pt idx="24">
                  <c:v>5</c:v>
                </c:pt>
                <c:pt idx="25">
                  <c:v>8</c:v>
                </c:pt>
                <c:pt idx="26">
                  <c:v>6</c:v>
                </c:pt>
                <c:pt idx="27">
                  <c:v>8</c:v>
                </c:pt>
                <c:pt idx="28">
                  <c:v>7</c:v>
                </c:pt>
                <c:pt idx="29">
                  <c:v>5</c:v>
                </c:pt>
                <c:pt idx="30">
                  <c:v>7</c:v>
                </c:pt>
                <c:pt idx="31">
                  <c:v>5</c:v>
                </c:pt>
                <c:pt idx="32">
                  <c:v>3</c:v>
                </c:pt>
                <c:pt idx="33">
                  <c:v>9</c:v>
                </c:pt>
                <c:pt idx="34">
                  <c:v>8</c:v>
                </c:pt>
                <c:pt idx="35">
                  <c:v>5</c:v>
                </c:pt>
                <c:pt idx="36">
                  <c:v>6</c:v>
                </c:pt>
                <c:pt idx="37">
                  <c:v>4</c:v>
                </c:pt>
                <c:pt idx="38">
                  <c:v>7</c:v>
                </c:pt>
                <c:pt idx="39">
                  <c:v>5</c:v>
                </c:pt>
                <c:pt idx="40">
                  <c:v>9</c:v>
                </c:pt>
                <c:pt idx="41">
                  <c:v>5</c:v>
                </c:pt>
                <c:pt idx="42">
                  <c:v>7</c:v>
                </c:pt>
                <c:pt idx="43">
                  <c:v>9</c:v>
                </c:pt>
                <c:pt idx="44">
                  <c:v>2</c:v>
                </c:pt>
                <c:pt idx="45">
                  <c:v>5</c:v>
                </c:pt>
                <c:pt idx="46">
                  <c:v>6</c:v>
                </c:pt>
                <c:pt idx="47">
                  <c:v>6</c:v>
                </c:pt>
                <c:pt idx="48">
                  <c:v>7</c:v>
                </c:pt>
                <c:pt idx="49">
                  <c:v>5</c:v>
                </c:pt>
              </c:numCache>
            </c:numRef>
          </c:y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709417944"/>
        <c:axId val="898367971"/>
      </c:scatterChart>
      <c:valAx>
        <c:axId val="709417944"/>
        <c:scaling>
          <c:orientation val="minMax"/>
        </c:scaling>
        <c:delete val="0"/>
        <c:axPos val="b"/>
        <c:majorGridlines>
          <c:spPr>
            <a:ln w="6350" cap="flat" cmpd="sng" algn="ctr">
              <a:solidFill>
                <a:schemeClr val="tx1">
                  <a:lumMod val="50000"/>
                  <a:lumOff val="50000"/>
                  <a:alpha val="2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6350" cap="flat" cmpd="sng" algn="ctr">
            <a:solidFill>
              <a:schemeClr val="tx1">
                <a:lumMod val="50000"/>
                <a:lumOff val="50000"/>
                <a:alpha val="2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 forceAA="0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-122"/>
                <a:ea typeface="微软雅黑" charset="-122"/>
                <a:cs typeface="微软雅黑" charset="-122"/>
                <a:sym typeface="微软雅黑" charset="-122"/>
              </a:defRPr>
            </a:pPr>
          </a:p>
        </c:txPr>
        <c:crossAx val="898367971"/>
        <c:crosses val="autoZero"/>
        <c:crossBetween val="midCat"/>
      </c:valAx>
      <c:valAx>
        <c:axId val="898367971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chemeClr val="tx1">
                  <a:lumMod val="50000"/>
                  <a:lumOff val="50000"/>
                  <a:alpha val="2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6350" cap="flat" cmpd="sng" algn="ctr">
            <a:solidFill>
              <a:schemeClr val="tx1">
                <a:lumMod val="50000"/>
                <a:lumOff val="50000"/>
                <a:alpha val="2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 forceAA="0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-122"/>
                <a:ea typeface="微软雅黑" charset="-122"/>
                <a:cs typeface="微软雅黑" charset="-122"/>
                <a:sym typeface="微软雅黑" charset="-122"/>
              </a:defRPr>
            </a:pPr>
          </a:p>
        </c:txPr>
        <c:crossAx val="709417944"/>
        <c:crosses val="autoZero"/>
        <c:crossBetween val="midCat"/>
      </c:valAx>
      <c:spPr>
        <a:noFill/>
        <a:ln w="6350" cap="flat" cmpd="sng" algn="ctr">
          <a:solidFill>
            <a:schemeClr val="tx1">
              <a:lumMod val="50000"/>
              <a:lumOff val="50000"/>
              <a:alpha val="25000"/>
            </a:schemeClr>
          </a:solidFill>
          <a:round/>
        </a:ln>
        <a:effectLst/>
      </c:spPr>
    </c:plotArea>
    <c:plotVisOnly val="1"/>
    <c:dispBlanksAs val="gap"/>
    <c:showDLblsOverMax val="0"/>
  </c:chart>
  <c:spPr>
    <a:solidFill>
      <a:schemeClr val="bg1"/>
    </a:solidFill>
    <a:ln w="6350" cap="flat" cmpd="sng" algn="ctr">
      <a:solidFill>
        <a:schemeClr val="tx1">
          <a:lumMod val="50000"/>
          <a:lumOff val="50000"/>
          <a:alpha val="25000"/>
        </a:schemeClr>
      </a:solidFill>
      <a:round/>
    </a:ln>
    <a:effectLst>
      <a:outerShdw blurRad="63500" dist="37357" dir="2700000" sx="0" sy="0" rotWithShape="0">
        <a:scrgbClr r="0" g="0" b="0"/>
      </a:outerShdw>
    </a:effectLst>
  </c:spPr>
  <c:txPr>
    <a:bodyPr/>
    <a:lstStyle/>
    <a:p>
      <a:pPr>
        <a:defRPr lang="zh-CN" sz="900"/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1011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noFill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1011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noFill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1011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noFill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60">
  <cs:axisTitle>
    <cs:lnRef idx="0"/>
    <cs:fillRef idx="0"/>
    <cs:effectRef idx="0"/>
    <cs:fontRef idx="minor">
      <a:schemeClr val="lt1"/>
    </cs:fontRef>
    <cs:defRPr sz="900" b="1" kern="1200"/>
  </cs:axisTitle>
  <cs:categoryAxis>
    <cs:lnRef idx="0">
      <cs:styleClr val="0"/>
    </cs:lnRef>
    <cs:fillRef idx="0"/>
    <cs:effectRef idx="0"/>
    <cs:fontRef idx="minor">
      <a:schemeClr val="lt1"/>
    </cs:fontRef>
    <cs:spPr>
      <a:ln w="3175" cap="flat" cmpd="sng" algn="ctr">
        <a:solidFill>
          <a:schemeClr val="phClr">
            <a:lumMod val="60000"/>
            <a:lumOff val="40000"/>
          </a:schemeClr>
        </a:solidFill>
        <a:round/>
      </a:ln>
    </cs:spPr>
    <cs:defRPr sz="800" kern="1200" cap="all" spc="150" normalizeH="0" baseline="0"/>
  </cs:categoryAxis>
  <cs:chartArea>
    <cs:lnRef idx="0">
      <cs:styleClr val="0"/>
    </cs:lnRef>
    <cs:fillRef idx="0">
      <cs:styleClr val="0"/>
    </cs:fillRef>
    <cs:effectRef idx="0"/>
    <cs:fontRef idx="minor">
      <a:schemeClr val="dk1"/>
    </cs:fontRef>
    <cs:spPr>
      <a:solidFill>
        <a:schemeClr val="phClr"/>
      </a:solidFill>
      <a:ln w="9525" cap="flat" cmpd="sng" algn="ctr">
        <a:solidFill>
          <a:schemeClr val="phClr"/>
        </a:solidFill>
        <a:round/>
      </a:ln>
    </cs:spPr>
    <cs:defRPr sz="1000" kern="1200"/>
  </cs:chartArea>
  <cs:dataLabel>
    <cs:lnRef idx="0">
      <cs:styleClr val="0"/>
    </cs:lnRef>
    <cs:fillRef idx="0"/>
    <cs:effectRef idx="0"/>
    <cs:fontRef idx="minor">
      <cs:styleClr val="0"/>
    </cs:fontRef>
    <cs:defRPr sz="900" b="1" kern="1200"/>
  </cs:dataLabel>
  <cs:dataLabelCallout>
    <cs:lnRef idx="0">
      <cs:styleClr val="0"/>
    </cs:lnRef>
    <cs:fillRef idx="0"/>
    <cs:effectRef idx="0"/>
    <cs:fontRef idx="minor">
      <cs:styleClr val="0"/>
    </cs:fontRef>
    <cs:spPr>
      <a:solidFill>
        <a:schemeClr val="lt1"/>
      </a:solidFill>
      <a:ln>
        <a:solidFill>
          <a:schemeClr val="phClr"/>
        </a:solidFill>
      </a:ln>
    </cs:spPr>
    <cs:defRPr sz="9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0"/>
    </cs:lnRef>
    <cs:fillRef idx="0"/>
    <cs:effectRef idx="0"/>
    <cs:fontRef idx="minor">
      <a:schemeClr val="dk1"/>
    </cs:fontRef>
    <cs:spPr>
      <a:solidFill>
        <a:schemeClr val="lt1"/>
      </a:solidFill>
      <a:ln w="19050">
        <a:solidFill>
          <a:schemeClr val="phClr"/>
        </a:solidFill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>
      <cs:styleClr val="auto"/>
    </cs:effectRef>
    <cs:fontRef idx="minor">
      <a:schemeClr val="dk1"/>
    </cs:fontRef>
    <cs:spPr>
      <a:ln w="34925" cap="rnd">
        <a:solidFill>
          <a:schemeClr val="lt1"/>
        </a:solidFill>
        <a:round/>
      </a:ln>
      <a:effectLst>
        <a:outerShdw dist="25400" dir="2700000" algn="tl" rotWithShape="0">
          <a:schemeClr val="phClr"/>
        </a:outerShdw>
      </a:effectLst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22225">
        <a:solidFill>
          <a:schemeClr val="lt1"/>
        </a:solidFill>
        <a:round/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>
      <cs:styleClr val="0"/>
    </cs:lnRef>
    <cs:fillRef idx="0"/>
    <cs:effectRef idx="0"/>
    <cs:fontRef idx="minor">
      <a:schemeClr val="lt1"/>
    </cs:fontRef>
    <cs:spPr>
      <a:ln w="9525">
        <a:solidFill>
          <a:schemeClr val="phClr">
            <a:lumMod val="60000"/>
            <a:lumOff val="40000"/>
          </a:schemeClr>
        </a:solidFill>
      </a:ln>
    </cs:spPr>
    <cs:defRPr sz="900" kern="1200"/>
  </cs:dataTable>
  <cs:downBar>
    <cs:lnRef idx="0">
      <cs:styleClr val="0"/>
    </cs:lnRef>
    <cs:fillRef idx="0"/>
    <cs:effectRef idx="0"/>
    <cs:fontRef idx="minor">
      <a:schemeClr val="dk1"/>
    </cs:fontRef>
    <cs:spPr>
      <a:solidFill>
        <a:schemeClr val="dk1">
          <a:lumMod val="35000"/>
          <a:lumOff val="65000"/>
        </a:schemeClr>
      </a:solidFill>
      <a:ln w="9525">
        <a:solidFill>
          <a:schemeClr val="phClr">
            <a:lumMod val="60000"/>
            <a:lumOff val="40000"/>
          </a:schemeClr>
        </a:solidFill>
      </a:ln>
    </cs:spPr>
  </cs:downBar>
  <cs:dropLine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</a:schemeClr>
        </a:solidFill>
        <a:prstDash val="dash"/>
      </a:ln>
    </cs:spPr>
  </cs:dropLine>
  <cs:errorBar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</a:schemeClr>
        </a:solidFill>
        <a:round/>
      </a:ln>
      <a:effectLst>
        <a:glow rad="25400">
          <a:schemeClr val="lt1"/>
        </a:glow>
      </a:effectLst>
    </cs:spPr>
  </cs:errorBar>
  <cs:floor>
    <cs:lnRef idx="0"/>
    <cs:fillRef idx="0"/>
    <cs:effectRef idx="0"/>
    <cs:fontRef idx="minor">
      <a:schemeClr val="dk1"/>
    </cs:fontRef>
  </cs:floor>
  <cs:gridlineMajor>
    <cs:lnRef idx="0">
      <cs:styleClr val="0"/>
    </cs:lnRef>
    <cs:fillRef idx="0"/>
    <cs:effectRef idx="0"/>
    <cs:fontRef idx="minor">
      <a:schemeClr val="dk1"/>
    </cs:fontRef>
    <cs:spPr>
      <a:ln w="9525" cap="flat" cmpd="sng" algn="ctr">
        <a:solidFill>
          <a:schemeClr val="lt1">
            <a:alpha val="25000"/>
          </a:schemeClr>
        </a:solidFill>
        <a:round/>
      </a:ln>
    </cs:spPr>
  </cs:gridlineMajor>
  <cs:gridlineMinor>
    <cs:lnRef idx="0">
      <cs:styleClr val="0"/>
    </cs:lnRef>
    <cs:fillRef idx="0"/>
    <cs:effectRef idx="0"/>
    <cs:fontRef idx="minor">
      <a:schemeClr val="dk1"/>
    </cs:fontRef>
    <cs:spPr>
      <a:ln>
        <a:solidFill>
          <a:schemeClr val="lt1">
            <a:alpha val="10000"/>
          </a:schemeClr>
        </a:solidFill>
      </a:ln>
    </cs:spPr>
  </cs:gridlineMinor>
  <cs:hiLoLine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</a:schemeClr>
        </a:solidFill>
        <a:prstDash val="dash"/>
      </a:ln>
    </cs:spPr>
  </cs:hiLoLine>
  <cs:leaderLine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</a:schemeClr>
        </a:solidFill>
      </a:ln>
    </cs:spPr>
  </cs:leaderLine>
  <cs:legend>
    <cs:lnRef idx="0"/>
    <cs:fillRef idx="0"/>
    <cs:effectRef idx="0"/>
    <cs:fontRef idx="minor">
      <a:schemeClr val="lt1"/>
    </cs:fontRef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>
      <cs:styleClr val="0"/>
    </cs:lnRef>
    <cs:fillRef idx="0"/>
    <cs:effectRef idx="0"/>
    <cs:fontRef idx="minor">
      <a:schemeClr val="lt1"/>
    </cs:fontRef>
    <cs:spPr>
      <a:ln w="3175" cap="flat" cmpd="sng" algn="ctr">
        <a:solidFill>
          <a:schemeClr val="phClr">
            <a:lumMod val="60000"/>
            <a:lumOff val="40000"/>
          </a:schemeClr>
        </a:solidFill>
        <a:round/>
      </a:ln>
    </cs:spPr>
    <cs:defRPr sz="900" kern="1200"/>
  </cs:seriesAxis>
  <cs:seriesLine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  <a:tint val="5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lt1"/>
    </cs:fontRef>
    <cs:defRPr sz="1500" b="1" kern="1200" cap="all" spc="100" normalizeH="0" baseline="0"/>
  </cs:title>
  <cs:trendline>
    <cs:lnRef idx="0"/>
    <cs:fillRef idx="0"/>
    <cs:effectRef idx="0"/>
    <cs:fontRef idx="minor">
      <a:schemeClr val="dk1"/>
    </cs:fontRef>
    <cs:spPr>
      <a:ln w="28575" cap="rnd">
        <a:solidFill>
          <a:schemeClr val="lt1">
            <a:alpha val="50000"/>
          </a:schemeClr>
        </a:solidFill>
        <a:round/>
      </a:ln>
    </cs:spPr>
  </cs:trendline>
  <cs:trendlineLabel>
    <cs:lnRef idx="0"/>
    <cs:fillRef idx="0"/>
    <cs:effectRef idx="0"/>
    <cs:fontRef idx="minor">
      <a:schemeClr val="lt1"/>
    </cs:fontRef>
    <cs:defRPr sz="900" kern="1200"/>
  </cs:trendlineLabel>
  <cs:upBar>
    <cs:lnRef idx="0">
      <cs:styleClr val="0"/>
    </cs:lnRef>
    <cs:fillRef idx="0"/>
    <cs:effectRef idx="0"/>
    <cs:fontRef idx="minor">
      <a:schemeClr val="dk1"/>
    </cs:fontRef>
    <cs:spPr>
      <a:solidFill>
        <a:schemeClr val="lt1">
          <a:lumMod val="95000"/>
        </a:schemeClr>
      </a:solidFill>
      <a:ln w="9525">
        <a:solidFill>
          <a:schemeClr val="phClr">
            <a:lumMod val="60000"/>
            <a:lumOff val="40000"/>
          </a:schemeClr>
        </a:solidFill>
      </a:ln>
    </cs:spPr>
  </cs:upBar>
  <cs:valueAxis>
    <cs:lnRef idx="0"/>
    <cs:fillRef idx="0"/>
    <cs:effectRef idx="0"/>
    <cs:fontRef idx="minor">
      <a:schemeClr val="lt1"/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260">
  <cs:axisTitle>
    <cs:lnRef idx="0"/>
    <cs:fillRef idx="0"/>
    <cs:effectRef idx="0"/>
    <cs:fontRef idx="minor">
      <a:schemeClr val="lt1"/>
    </cs:fontRef>
    <cs:defRPr sz="900" b="1" kern="1200"/>
  </cs:axisTitle>
  <cs:categoryAxis>
    <cs:lnRef idx="0">
      <cs:styleClr val="0"/>
    </cs:lnRef>
    <cs:fillRef idx="0"/>
    <cs:effectRef idx="0"/>
    <cs:fontRef idx="minor">
      <a:schemeClr val="lt1"/>
    </cs:fontRef>
    <cs:spPr>
      <a:ln w="3175" cap="flat" cmpd="sng" algn="ctr">
        <a:solidFill>
          <a:schemeClr val="phClr">
            <a:lumMod val="60000"/>
            <a:lumOff val="40000"/>
          </a:schemeClr>
        </a:solidFill>
        <a:round/>
      </a:ln>
    </cs:spPr>
    <cs:defRPr sz="800" kern="1200" cap="all" spc="150" normalizeH="0" baseline="0"/>
  </cs:categoryAxis>
  <cs:chartArea>
    <cs:lnRef idx="0">
      <cs:styleClr val="0"/>
    </cs:lnRef>
    <cs:fillRef idx="0">
      <cs:styleClr val="0"/>
    </cs:fillRef>
    <cs:effectRef idx="0"/>
    <cs:fontRef idx="minor">
      <a:schemeClr val="dk1"/>
    </cs:fontRef>
    <cs:spPr>
      <a:solidFill>
        <a:schemeClr val="phClr"/>
      </a:solidFill>
      <a:ln w="9525" cap="flat" cmpd="sng" algn="ctr">
        <a:solidFill>
          <a:schemeClr val="phClr"/>
        </a:solidFill>
        <a:round/>
      </a:ln>
    </cs:spPr>
    <cs:defRPr sz="1000" kern="1200"/>
  </cs:chartArea>
  <cs:dataLabel>
    <cs:lnRef idx="0">
      <cs:styleClr val="0"/>
    </cs:lnRef>
    <cs:fillRef idx="0"/>
    <cs:effectRef idx="0"/>
    <cs:fontRef idx="minor">
      <cs:styleClr val="0"/>
    </cs:fontRef>
    <cs:defRPr sz="900" b="1" kern="1200"/>
  </cs:dataLabel>
  <cs:dataLabelCallout>
    <cs:lnRef idx="0">
      <cs:styleClr val="0"/>
    </cs:lnRef>
    <cs:fillRef idx="0"/>
    <cs:effectRef idx="0"/>
    <cs:fontRef idx="minor">
      <cs:styleClr val="0"/>
    </cs:fontRef>
    <cs:spPr>
      <a:solidFill>
        <a:schemeClr val="lt1"/>
      </a:solidFill>
      <a:ln>
        <a:solidFill>
          <a:schemeClr val="phClr"/>
        </a:solidFill>
      </a:ln>
    </cs:spPr>
    <cs:defRPr sz="9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0"/>
    </cs:lnRef>
    <cs:fillRef idx="0"/>
    <cs:effectRef idx="0"/>
    <cs:fontRef idx="minor">
      <a:schemeClr val="dk1"/>
    </cs:fontRef>
    <cs:spPr>
      <a:solidFill>
        <a:schemeClr val="lt1"/>
      </a:solidFill>
      <a:ln w="19050">
        <a:solidFill>
          <a:schemeClr val="phClr"/>
        </a:solidFill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>
      <cs:styleClr val="auto"/>
    </cs:effectRef>
    <cs:fontRef idx="minor">
      <a:schemeClr val="dk1"/>
    </cs:fontRef>
    <cs:spPr>
      <a:ln w="34925" cap="rnd">
        <a:solidFill>
          <a:schemeClr val="lt1"/>
        </a:solidFill>
        <a:round/>
      </a:ln>
      <a:effectLst>
        <a:outerShdw dist="25400" dir="2700000" algn="tl" rotWithShape="0">
          <a:schemeClr val="phClr"/>
        </a:outerShdw>
      </a:effectLst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22225">
        <a:solidFill>
          <a:schemeClr val="lt1"/>
        </a:solidFill>
        <a:round/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>
      <cs:styleClr val="0"/>
    </cs:lnRef>
    <cs:fillRef idx="0"/>
    <cs:effectRef idx="0"/>
    <cs:fontRef idx="minor">
      <a:schemeClr val="lt1"/>
    </cs:fontRef>
    <cs:spPr>
      <a:ln w="9525">
        <a:solidFill>
          <a:schemeClr val="phClr">
            <a:lumMod val="60000"/>
            <a:lumOff val="40000"/>
          </a:schemeClr>
        </a:solidFill>
      </a:ln>
    </cs:spPr>
    <cs:defRPr sz="900" kern="1200"/>
  </cs:dataTable>
  <cs:downBar>
    <cs:lnRef idx="0">
      <cs:styleClr val="0"/>
    </cs:lnRef>
    <cs:fillRef idx="0"/>
    <cs:effectRef idx="0"/>
    <cs:fontRef idx="minor">
      <a:schemeClr val="dk1"/>
    </cs:fontRef>
    <cs:spPr>
      <a:solidFill>
        <a:schemeClr val="dk1">
          <a:lumMod val="35000"/>
          <a:lumOff val="65000"/>
        </a:schemeClr>
      </a:solidFill>
      <a:ln w="9525">
        <a:solidFill>
          <a:schemeClr val="phClr">
            <a:lumMod val="60000"/>
            <a:lumOff val="40000"/>
          </a:schemeClr>
        </a:solidFill>
      </a:ln>
    </cs:spPr>
  </cs:downBar>
  <cs:dropLine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</a:schemeClr>
        </a:solidFill>
        <a:prstDash val="dash"/>
      </a:ln>
    </cs:spPr>
  </cs:dropLine>
  <cs:errorBar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</a:schemeClr>
        </a:solidFill>
        <a:round/>
      </a:ln>
      <a:effectLst>
        <a:glow rad="25400">
          <a:schemeClr val="lt1"/>
        </a:glow>
      </a:effectLst>
    </cs:spPr>
  </cs:errorBar>
  <cs:floor>
    <cs:lnRef idx="0"/>
    <cs:fillRef idx="0"/>
    <cs:effectRef idx="0"/>
    <cs:fontRef idx="minor">
      <a:schemeClr val="dk1"/>
    </cs:fontRef>
  </cs:floor>
  <cs:gridlineMajor>
    <cs:lnRef idx="0">
      <cs:styleClr val="0"/>
    </cs:lnRef>
    <cs:fillRef idx="0"/>
    <cs:effectRef idx="0"/>
    <cs:fontRef idx="minor">
      <a:schemeClr val="dk1"/>
    </cs:fontRef>
    <cs:spPr>
      <a:ln w="9525" cap="flat" cmpd="sng" algn="ctr">
        <a:solidFill>
          <a:schemeClr val="lt1">
            <a:alpha val="25000"/>
          </a:schemeClr>
        </a:solidFill>
        <a:round/>
      </a:ln>
    </cs:spPr>
  </cs:gridlineMajor>
  <cs:gridlineMinor>
    <cs:lnRef idx="0">
      <cs:styleClr val="0"/>
    </cs:lnRef>
    <cs:fillRef idx="0"/>
    <cs:effectRef idx="0"/>
    <cs:fontRef idx="minor">
      <a:schemeClr val="dk1"/>
    </cs:fontRef>
    <cs:spPr>
      <a:ln>
        <a:solidFill>
          <a:schemeClr val="lt1">
            <a:alpha val="10000"/>
          </a:schemeClr>
        </a:solidFill>
      </a:ln>
    </cs:spPr>
  </cs:gridlineMinor>
  <cs:hiLoLine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</a:schemeClr>
        </a:solidFill>
        <a:prstDash val="dash"/>
      </a:ln>
    </cs:spPr>
  </cs:hiLoLine>
  <cs:leaderLine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</a:schemeClr>
        </a:solidFill>
      </a:ln>
    </cs:spPr>
  </cs:leaderLine>
  <cs:legend>
    <cs:lnRef idx="0"/>
    <cs:fillRef idx="0"/>
    <cs:effectRef idx="0"/>
    <cs:fontRef idx="minor">
      <a:schemeClr val="lt1"/>
    </cs:fontRef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>
      <cs:styleClr val="0"/>
    </cs:lnRef>
    <cs:fillRef idx="0"/>
    <cs:effectRef idx="0"/>
    <cs:fontRef idx="minor">
      <a:schemeClr val="lt1"/>
    </cs:fontRef>
    <cs:spPr>
      <a:ln w="3175" cap="flat" cmpd="sng" algn="ctr">
        <a:solidFill>
          <a:schemeClr val="phClr">
            <a:lumMod val="60000"/>
            <a:lumOff val="40000"/>
          </a:schemeClr>
        </a:solidFill>
        <a:round/>
      </a:ln>
    </cs:spPr>
    <cs:defRPr sz="900" kern="1200"/>
  </cs:seriesAxis>
  <cs:seriesLine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  <a:tint val="5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lt1"/>
    </cs:fontRef>
    <cs:defRPr sz="1500" b="1" kern="1200" cap="all" spc="100" normalizeH="0" baseline="0"/>
  </cs:title>
  <cs:trendline>
    <cs:lnRef idx="0"/>
    <cs:fillRef idx="0"/>
    <cs:effectRef idx="0"/>
    <cs:fontRef idx="minor">
      <a:schemeClr val="dk1"/>
    </cs:fontRef>
    <cs:spPr>
      <a:ln w="28575" cap="rnd">
        <a:solidFill>
          <a:schemeClr val="lt1">
            <a:alpha val="50000"/>
          </a:schemeClr>
        </a:solidFill>
        <a:round/>
      </a:ln>
    </cs:spPr>
  </cs:trendline>
  <cs:trendlineLabel>
    <cs:lnRef idx="0"/>
    <cs:fillRef idx="0"/>
    <cs:effectRef idx="0"/>
    <cs:fontRef idx="minor">
      <a:schemeClr val="lt1"/>
    </cs:fontRef>
    <cs:defRPr sz="900" kern="1200"/>
  </cs:trendlineLabel>
  <cs:upBar>
    <cs:lnRef idx="0">
      <cs:styleClr val="0"/>
    </cs:lnRef>
    <cs:fillRef idx="0"/>
    <cs:effectRef idx="0"/>
    <cs:fontRef idx="minor">
      <a:schemeClr val="dk1"/>
    </cs:fontRef>
    <cs:spPr>
      <a:solidFill>
        <a:schemeClr val="lt1">
          <a:lumMod val="95000"/>
        </a:schemeClr>
      </a:solidFill>
      <a:ln w="9525">
        <a:solidFill>
          <a:schemeClr val="phClr">
            <a:lumMod val="60000"/>
            <a:lumOff val="40000"/>
          </a:schemeClr>
        </a:solidFill>
      </a:ln>
    </cs:spPr>
  </cs:upBar>
  <cs:valueAxis>
    <cs:lnRef idx="0"/>
    <cs:fillRef idx="0"/>
    <cs:effectRef idx="0"/>
    <cs:fontRef idx="minor">
      <a:schemeClr val="lt1"/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6.xml><?xml version="1.0" encoding="utf-8"?>
<cs:chartStyle xmlns:cs="http://schemas.microsoft.com/office/drawing/2012/chartStyle" xmlns:a="http://schemas.openxmlformats.org/drawingml/2006/main" id="260">
  <cs:axisTitle>
    <cs:lnRef idx="0"/>
    <cs:fillRef idx="0"/>
    <cs:effectRef idx="0"/>
    <cs:fontRef idx="minor">
      <a:schemeClr val="lt1"/>
    </cs:fontRef>
    <cs:defRPr sz="900" b="1" kern="1200"/>
  </cs:axisTitle>
  <cs:categoryAxis>
    <cs:lnRef idx="0">
      <cs:styleClr val="0"/>
    </cs:lnRef>
    <cs:fillRef idx="0"/>
    <cs:effectRef idx="0"/>
    <cs:fontRef idx="minor">
      <a:schemeClr val="lt1"/>
    </cs:fontRef>
    <cs:spPr>
      <a:ln w="3175" cap="flat" cmpd="sng" algn="ctr">
        <a:solidFill>
          <a:schemeClr val="phClr">
            <a:lumMod val="60000"/>
            <a:lumOff val="40000"/>
          </a:schemeClr>
        </a:solidFill>
        <a:round/>
      </a:ln>
    </cs:spPr>
    <cs:defRPr sz="800" kern="1200" cap="all" spc="150" normalizeH="0" baseline="0"/>
  </cs:categoryAxis>
  <cs:chartArea>
    <cs:lnRef idx="0">
      <cs:styleClr val="0"/>
    </cs:lnRef>
    <cs:fillRef idx="0">
      <cs:styleClr val="0"/>
    </cs:fillRef>
    <cs:effectRef idx="0"/>
    <cs:fontRef idx="minor">
      <a:schemeClr val="dk1"/>
    </cs:fontRef>
    <cs:spPr>
      <a:solidFill>
        <a:schemeClr val="phClr"/>
      </a:solidFill>
      <a:ln w="9525" cap="flat" cmpd="sng" algn="ctr">
        <a:solidFill>
          <a:schemeClr val="phClr"/>
        </a:solidFill>
        <a:round/>
      </a:ln>
    </cs:spPr>
    <cs:defRPr sz="1000" kern="1200"/>
  </cs:chartArea>
  <cs:dataLabel>
    <cs:lnRef idx="0">
      <cs:styleClr val="0"/>
    </cs:lnRef>
    <cs:fillRef idx="0"/>
    <cs:effectRef idx="0"/>
    <cs:fontRef idx="minor">
      <cs:styleClr val="0"/>
    </cs:fontRef>
    <cs:defRPr sz="900" b="1" kern="1200"/>
  </cs:dataLabel>
  <cs:dataLabelCallout>
    <cs:lnRef idx="0">
      <cs:styleClr val="0"/>
    </cs:lnRef>
    <cs:fillRef idx="0"/>
    <cs:effectRef idx="0"/>
    <cs:fontRef idx="minor">
      <cs:styleClr val="0"/>
    </cs:fontRef>
    <cs:spPr>
      <a:solidFill>
        <a:schemeClr val="lt1"/>
      </a:solidFill>
      <a:ln>
        <a:solidFill>
          <a:schemeClr val="phClr"/>
        </a:solidFill>
      </a:ln>
    </cs:spPr>
    <cs:defRPr sz="9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0"/>
    </cs:lnRef>
    <cs:fillRef idx="0"/>
    <cs:effectRef idx="0"/>
    <cs:fontRef idx="minor">
      <a:schemeClr val="dk1"/>
    </cs:fontRef>
    <cs:spPr>
      <a:solidFill>
        <a:schemeClr val="lt1"/>
      </a:solidFill>
      <a:ln w="19050">
        <a:solidFill>
          <a:schemeClr val="phClr"/>
        </a:solidFill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>
      <cs:styleClr val="auto"/>
    </cs:effectRef>
    <cs:fontRef idx="minor">
      <a:schemeClr val="dk1"/>
    </cs:fontRef>
    <cs:spPr>
      <a:ln w="34925" cap="rnd">
        <a:solidFill>
          <a:schemeClr val="lt1"/>
        </a:solidFill>
        <a:round/>
      </a:ln>
      <a:effectLst>
        <a:outerShdw dist="25400" dir="2700000" algn="tl" rotWithShape="0">
          <a:schemeClr val="phClr"/>
        </a:outerShdw>
      </a:effectLst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22225">
        <a:solidFill>
          <a:schemeClr val="lt1"/>
        </a:solidFill>
        <a:round/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>
      <cs:styleClr val="0"/>
    </cs:lnRef>
    <cs:fillRef idx="0"/>
    <cs:effectRef idx="0"/>
    <cs:fontRef idx="minor">
      <a:schemeClr val="lt1"/>
    </cs:fontRef>
    <cs:spPr>
      <a:ln w="9525">
        <a:solidFill>
          <a:schemeClr val="phClr">
            <a:lumMod val="60000"/>
            <a:lumOff val="40000"/>
          </a:schemeClr>
        </a:solidFill>
      </a:ln>
    </cs:spPr>
    <cs:defRPr sz="900" kern="1200"/>
  </cs:dataTable>
  <cs:downBar>
    <cs:lnRef idx="0">
      <cs:styleClr val="0"/>
    </cs:lnRef>
    <cs:fillRef idx="0"/>
    <cs:effectRef idx="0"/>
    <cs:fontRef idx="minor">
      <a:schemeClr val="dk1"/>
    </cs:fontRef>
    <cs:spPr>
      <a:solidFill>
        <a:schemeClr val="dk1">
          <a:lumMod val="35000"/>
          <a:lumOff val="65000"/>
        </a:schemeClr>
      </a:solidFill>
      <a:ln w="9525">
        <a:solidFill>
          <a:schemeClr val="phClr">
            <a:lumMod val="60000"/>
            <a:lumOff val="40000"/>
          </a:schemeClr>
        </a:solidFill>
      </a:ln>
    </cs:spPr>
  </cs:downBar>
  <cs:dropLine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</a:schemeClr>
        </a:solidFill>
        <a:prstDash val="dash"/>
      </a:ln>
    </cs:spPr>
  </cs:dropLine>
  <cs:errorBar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</a:schemeClr>
        </a:solidFill>
        <a:round/>
      </a:ln>
      <a:effectLst>
        <a:glow rad="25400">
          <a:schemeClr val="lt1"/>
        </a:glow>
      </a:effectLst>
    </cs:spPr>
  </cs:errorBar>
  <cs:floor>
    <cs:lnRef idx="0"/>
    <cs:fillRef idx="0"/>
    <cs:effectRef idx="0"/>
    <cs:fontRef idx="minor">
      <a:schemeClr val="dk1"/>
    </cs:fontRef>
  </cs:floor>
  <cs:gridlineMajor>
    <cs:lnRef idx="0">
      <cs:styleClr val="0"/>
    </cs:lnRef>
    <cs:fillRef idx="0"/>
    <cs:effectRef idx="0"/>
    <cs:fontRef idx="minor">
      <a:schemeClr val="dk1"/>
    </cs:fontRef>
    <cs:spPr>
      <a:ln w="9525" cap="flat" cmpd="sng" algn="ctr">
        <a:solidFill>
          <a:schemeClr val="lt1">
            <a:alpha val="25000"/>
          </a:schemeClr>
        </a:solidFill>
        <a:round/>
      </a:ln>
    </cs:spPr>
  </cs:gridlineMajor>
  <cs:gridlineMinor>
    <cs:lnRef idx="0">
      <cs:styleClr val="0"/>
    </cs:lnRef>
    <cs:fillRef idx="0"/>
    <cs:effectRef idx="0"/>
    <cs:fontRef idx="minor">
      <a:schemeClr val="dk1"/>
    </cs:fontRef>
    <cs:spPr>
      <a:ln>
        <a:solidFill>
          <a:schemeClr val="lt1">
            <a:alpha val="10000"/>
          </a:schemeClr>
        </a:solidFill>
      </a:ln>
    </cs:spPr>
  </cs:gridlineMinor>
  <cs:hiLoLine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</a:schemeClr>
        </a:solidFill>
        <a:prstDash val="dash"/>
      </a:ln>
    </cs:spPr>
  </cs:hiLoLine>
  <cs:leaderLine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</a:schemeClr>
        </a:solidFill>
      </a:ln>
    </cs:spPr>
  </cs:leaderLine>
  <cs:legend>
    <cs:lnRef idx="0"/>
    <cs:fillRef idx="0"/>
    <cs:effectRef idx="0"/>
    <cs:fontRef idx="minor">
      <a:schemeClr val="lt1"/>
    </cs:fontRef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>
      <cs:styleClr val="0"/>
    </cs:lnRef>
    <cs:fillRef idx="0"/>
    <cs:effectRef idx="0"/>
    <cs:fontRef idx="minor">
      <a:schemeClr val="lt1"/>
    </cs:fontRef>
    <cs:spPr>
      <a:ln w="3175" cap="flat" cmpd="sng" algn="ctr">
        <a:solidFill>
          <a:schemeClr val="phClr">
            <a:lumMod val="60000"/>
            <a:lumOff val="40000"/>
          </a:schemeClr>
        </a:solidFill>
        <a:round/>
      </a:ln>
    </cs:spPr>
    <cs:defRPr sz="900" kern="1200"/>
  </cs:seriesAxis>
  <cs:seriesLine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  <a:tint val="5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lt1"/>
    </cs:fontRef>
    <cs:defRPr sz="1500" b="1" kern="1200" cap="all" spc="100" normalizeH="0" baseline="0"/>
  </cs:title>
  <cs:trendline>
    <cs:lnRef idx="0"/>
    <cs:fillRef idx="0"/>
    <cs:effectRef idx="0"/>
    <cs:fontRef idx="minor">
      <a:schemeClr val="dk1"/>
    </cs:fontRef>
    <cs:spPr>
      <a:ln w="28575" cap="rnd">
        <a:solidFill>
          <a:schemeClr val="lt1">
            <a:alpha val="50000"/>
          </a:schemeClr>
        </a:solidFill>
        <a:round/>
      </a:ln>
    </cs:spPr>
  </cs:trendline>
  <cs:trendlineLabel>
    <cs:lnRef idx="0"/>
    <cs:fillRef idx="0"/>
    <cs:effectRef idx="0"/>
    <cs:fontRef idx="minor">
      <a:schemeClr val="lt1"/>
    </cs:fontRef>
    <cs:defRPr sz="900" kern="1200"/>
  </cs:trendlineLabel>
  <cs:upBar>
    <cs:lnRef idx="0">
      <cs:styleClr val="0"/>
    </cs:lnRef>
    <cs:fillRef idx="0"/>
    <cs:effectRef idx="0"/>
    <cs:fontRef idx="minor">
      <a:schemeClr val="dk1"/>
    </cs:fontRef>
    <cs:spPr>
      <a:solidFill>
        <a:schemeClr val="lt1">
          <a:lumMod val="95000"/>
        </a:schemeClr>
      </a:solidFill>
      <a:ln w="9525">
        <a:solidFill>
          <a:schemeClr val="phClr">
            <a:lumMod val="60000"/>
            <a:lumOff val="40000"/>
          </a:schemeClr>
        </a:solidFill>
      </a:ln>
    </cs:spPr>
  </cs:upBar>
  <cs:valueAxis>
    <cs:lnRef idx="0"/>
    <cs:fillRef idx="0"/>
    <cs:effectRef idx="0"/>
    <cs:fontRef idx="minor">
      <a:schemeClr val="lt1"/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7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1017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 w="19050" cap="rnd">
        <a:noFill/>
        <a:round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dk1"/>
    </cs:fontRef>
    <cs:spPr>
      <a:ln w="9525">
        <a:solidFill>
          <a:schemeClr val="phClr"/>
        </a:solidFill>
      </a:ln>
      <a:effectLst/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92CE63-FDF0-44F8-84B7-D8B39606D4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2911D3-FFCA-4219-B5C3-3CAE8F5B4A8E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77FB3-58EF-41D7-8778-3907462E71F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9FC95-DC0F-45DA-8A6E-1A5C144608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77FB3-58EF-41D7-8778-3907462E71F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9FC95-DC0F-45DA-8A6E-1A5C144608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77FB3-58EF-41D7-8778-3907462E71F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9FC95-DC0F-45DA-8A6E-1A5C144608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77FB3-58EF-41D7-8778-3907462E71F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9FC95-DC0F-45DA-8A6E-1A5C144608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77FB3-58EF-41D7-8778-3907462E71F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9FC95-DC0F-45DA-8A6E-1A5C144608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77FB3-58EF-41D7-8778-3907462E71F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9FC95-DC0F-45DA-8A6E-1A5C144608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77FB3-58EF-41D7-8778-3907462E71F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9FC95-DC0F-45DA-8A6E-1A5C144608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77FB3-58EF-41D7-8778-3907462E71F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9FC95-DC0F-45DA-8A6E-1A5C144608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77FB3-58EF-41D7-8778-3907462E71F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9FC95-DC0F-45DA-8A6E-1A5C144608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77FB3-58EF-41D7-8778-3907462E71F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9FC95-DC0F-45DA-8A6E-1A5C144608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77FB3-58EF-41D7-8778-3907462E71F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9FC95-DC0F-45DA-8A6E-1A5C144608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77FB3-58EF-41D7-8778-3907462E71F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9FC95-DC0F-45DA-8A6E-1A5C144608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77FB3-58EF-41D7-8778-3907462E71F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9FC95-DC0F-45DA-8A6E-1A5C144608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77FB3-58EF-41D7-8778-3907462E71F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9FC95-DC0F-45DA-8A6E-1A5C144608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77FB3-58EF-41D7-8778-3907462E71F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9FC95-DC0F-45DA-8A6E-1A5C144608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77FB3-58EF-41D7-8778-3907462E71F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9FC95-DC0F-45DA-8A6E-1A5C144608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77FB3-58EF-41D7-8778-3907462E71F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9FC95-DC0F-45DA-8A6E-1A5C144608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77FB3-58EF-41D7-8778-3907462E71F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9FC95-DC0F-45DA-8A6E-1A5C144608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77FB3-58EF-41D7-8778-3907462E71F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9FC95-DC0F-45DA-8A6E-1A5C144608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77FB3-58EF-41D7-8778-3907462E71F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9FC95-DC0F-45DA-8A6E-1A5C144608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77FB3-58EF-41D7-8778-3907462E71F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9FC95-DC0F-45DA-8A6E-1A5C144608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77FB3-58EF-41D7-8778-3907462E71F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9FC95-DC0F-45DA-8A6E-1A5C144608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077FB3-58EF-41D7-8778-3907462E71F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D9FC95-DC0F-45DA-8A6E-1A5C1446089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7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077FB3-58EF-41D7-8778-3907462E71F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D9FC95-DC0F-45DA-8A6E-1A5C1446089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7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8.xml"/><Relationship Id="rId8" Type="http://schemas.openxmlformats.org/officeDocument/2006/relationships/image" Target="../media/image5.png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image" Target="../media/image4.png"/><Relationship Id="rId4" Type="http://schemas.openxmlformats.org/officeDocument/2006/relationships/tags" Target="../tags/tag3.xml"/><Relationship Id="rId3" Type="http://schemas.openxmlformats.org/officeDocument/2006/relationships/image" Target="../media/image3.png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tags" Target="../tags/tag11.xml"/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image" Target="../media/image6.png"/><Relationship Id="rId2" Type="http://schemas.openxmlformats.org/officeDocument/2006/relationships/tags" Target="../tags/tag7.xml"/><Relationship Id="rId1" Type="http://schemas.openxmlformats.org/officeDocument/2006/relationships/tags" Target="../tags/tag6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7.png"/><Relationship Id="rId7" Type="http://schemas.openxmlformats.org/officeDocument/2006/relationships/tags" Target="../tags/tag15.xml"/><Relationship Id="rId6" Type="http://schemas.openxmlformats.org/officeDocument/2006/relationships/tags" Target="../tags/tag14.xml"/><Relationship Id="rId5" Type="http://schemas.openxmlformats.org/officeDocument/2006/relationships/tags" Target="../tags/tag13.xml"/><Relationship Id="rId4" Type="http://schemas.openxmlformats.org/officeDocument/2006/relationships/tags" Target="../tags/tag12.xml"/><Relationship Id="rId3" Type="http://schemas.openxmlformats.org/officeDocument/2006/relationships/chart" Target="../charts/chart3.xml"/><Relationship Id="rId2" Type="http://schemas.openxmlformats.org/officeDocument/2006/relationships/chart" Target="../charts/chart2.xml"/><Relationship Id="rId1" Type="http://schemas.openxmlformats.org/officeDocument/2006/relationships/chart" Target="../charts/chart1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20.xml"/><Relationship Id="rId8" Type="http://schemas.openxmlformats.org/officeDocument/2006/relationships/tags" Target="../tags/tag19.xml"/><Relationship Id="rId7" Type="http://schemas.openxmlformats.org/officeDocument/2006/relationships/tags" Target="../tags/tag18.xml"/><Relationship Id="rId6" Type="http://schemas.openxmlformats.org/officeDocument/2006/relationships/image" Target="../media/image8.png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chart" Target="../charts/chart6.xml"/><Relationship Id="rId2" Type="http://schemas.openxmlformats.org/officeDocument/2006/relationships/chart" Target="../charts/chart5.xml"/><Relationship Id="rId10" Type="http://schemas.openxmlformats.org/officeDocument/2006/relationships/slideLayout" Target="../slideLayouts/slideLayout7.xml"/><Relationship Id="rId1" Type="http://schemas.openxmlformats.org/officeDocument/2006/relationships/chart" Target="../charts/chart4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25.xml"/><Relationship Id="rId8" Type="http://schemas.openxmlformats.org/officeDocument/2006/relationships/image" Target="../media/image12.png"/><Relationship Id="rId7" Type="http://schemas.openxmlformats.org/officeDocument/2006/relationships/tags" Target="../tags/tag24.xml"/><Relationship Id="rId6" Type="http://schemas.openxmlformats.org/officeDocument/2006/relationships/image" Target="../media/image11.png"/><Relationship Id="rId5" Type="http://schemas.openxmlformats.org/officeDocument/2006/relationships/tags" Target="../tags/tag23.xml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tags" Target="../tags/tag22.xml"/><Relationship Id="rId17" Type="http://schemas.openxmlformats.org/officeDocument/2006/relationships/slideLayout" Target="../slideLayouts/slideLayout7.xml"/><Relationship Id="rId16" Type="http://schemas.openxmlformats.org/officeDocument/2006/relationships/image" Target="../media/image16.png"/><Relationship Id="rId15" Type="http://schemas.openxmlformats.org/officeDocument/2006/relationships/tags" Target="../tags/tag28.xml"/><Relationship Id="rId14" Type="http://schemas.openxmlformats.org/officeDocument/2006/relationships/image" Target="../media/image15.png"/><Relationship Id="rId13" Type="http://schemas.openxmlformats.org/officeDocument/2006/relationships/tags" Target="../tags/tag27.xml"/><Relationship Id="rId12" Type="http://schemas.openxmlformats.org/officeDocument/2006/relationships/image" Target="../media/image14.png"/><Relationship Id="rId11" Type="http://schemas.openxmlformats.org/officeDocument/2006/relationships/tags" Target="../tags/tag26.xml"/><Relationship Id="rId10" Type="http://schemas.openxmlformats.org/officeDocument/2006/relationships/image" Target="../media/image13.png"/><Relationship Id="rId1" Type="http://schemas.openxmlformats.org/officeDocument/2006/relationships/tags" Target="../tags/tag21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20.png"/><Relationship Id="rId8" Type="http://schemas.openxmlformats.org/officeDocument/2006/relationships/image" Target="../media/image19.png"/><Relationship Id="rId7" Type="http://schemas.openxmlformats.org/officeDocument/2006/relationships/tags" Target="../tags/tag33.xml"/><Relationship Id="rId6" Type="http://schemas.openxmlformats.org/officeDocument/2006/relationships/tags" Target="../tags/tag32.xml"/><Relationship Id="rId5" Type="http://schemas.openxmlformats.org/officeDocument/2006/relationships/image" Target="../media/image18.png"/><Relationship Id="rId4" Type="http://schemas.openxmlformats.org/officeDocument/2006/relationships/tags" Target="../tags/tag31.xml"/><Relationship Id="rId3" Type="http://schemas.openxmlformats.org/officeDocument/2006/relationships/image" Target="../media/image17.png"/><Relationship Id="rId20" Type="http://schemas.openxmlformats.org/officeDocument/2006/relationships/slideLayout" Target="../slideLayouts/slideLayout7.xml"/><Relationship Id="rId2" Type="http://schemas.openxmlformats.org/officeDocument/2006/relationships/tags" Target="../tags/tag30.xml"/><Relationship Id="rId19" Type="http://schemas.openxmlformats.org/officeDocument/2006/relationships/image" Target="../media/image24.png"/><Relationship Id="rId18" Type="http://schemas.openxmlformats.org/officeDocument/2006/relationships/tags" Target="../tags/tag39.xml"/><Relationship Id="rId17" Type="http://schemas.openxmlformats.org/officeDocument/2006/relationships/tags" Target="../tags/tag38.xml"/><Relationship Id="rId16" Type="http://schemas.openxmlformats.org/officeDocument/2006/relationships/tags" Target="../tags/tag37.xml"/><Relationship Id="rId15" Type="http://schemas.openxmlformats.org/officeDocument/2006/relationships/tags" Target="../tags/tag36.xml"/><Relationship Id="rId14" Type="http://schemas.openxmlformats.org/officeDocument/2006/relationships/tags" Target="../tags/tag35.xml"/><Relationship Id="rId13" Type="http://schemas.openxmlformats.org/officeDocument/2006/relationships/tags" Target="../tags/tag34.xml"/><Relationship Id="rId12" Type="http://schemas.openxmlformats.org/officeDocument/2006/relationships/image" Target="../media/image23.png"/><Relationship Id="rId11" Type="http://schemas.openxmlformats.org/officeDocument/2006/relationships/image" Target="../media/image22.png"/><Relationship Id="rId10" Type="http://schemas.openxmlformats.org/officeDocument/2006/relationships/image" Target="../media/image21.png"/><Relationship Id="rId1" Type="http://schemas.openxmlformats.org/officeDocument/2006/relationships/tags" Target="../tags/tag29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26.png"/><Relationship Id="rId8" Type="http://schemas.openxmlformats.org/officeDocument/2006/relationships/image" Target="../media/image22.png"/><Relationship Id="rId7" Type="http://schemas.openxmlformats.org/officeDocument/2006/relationships/tags" Target="../tags/tag45.xml"/><Relationship Id="rId6" Type="http://schemas.openxmlformats.org/officeDocument/2006/relationships/tags" Target="../tags/tag44.xml"/><Relationship Id="rId5" Type="http://schemas.openxmlformats.org/officeDocument/2006/relationships/image" Target="../media/image25.png"/><Relationship Id="rId4" Type="http://schemas.openxmlformats.org/officeDocument/2006/relationships/tags" Target="../tags/tag43.xml"/><Relationship Id="rId3" Type="http://schemas.openxmlformats.org/officeDocument/2006/relationships/tags" Target="../tags/tag42.xml"/><Relationship Id="rId26" Type="http://schemas.openxmlformats.org/officeDocument/2006/relationships/slideLayout" Target="../slideLayouts/slideLayout7.xml"/><Relationship Id="rId25" Type="http://schemas.openxmlformats.org/officeDocument/2006/relationships/tags" Target="../tags/tag57.xml"/><Relationship Id="rId24" Type="http://schemas.openxmlformats.org/officeDocument/2006/relationships/tags" Target="../tags/tag56.xml"/><Relationship Id="rId23" Type="http://schemas.openxmlformats.org/officeDocument/2006/relationships/tags" Target="../tags/tag55.xml"/><Relationship Id="rId22" Type="http://schemas.openxmlformats.org/officeDocument/2006/relationships/tags" Target="../tags/tag54.xml"/><Relationship Id="rId21" Type="http://schemas.openxmlformats.org/officeDocument/2006/relationships/tags" Target="../tags/tag53.xml"/><Relationship Id="rId20" Type="http://schemas.openxmlformats.org/officeDocument/2006/relationships/image" Target="../media/image30.png"/><Relationship Id="rId2" Type="http://schemas.openxmlformats.org/officeDocument/2006/relationships/tags" Target="../tags/tag41.xml"/><Relationship Id="rId19" Type="http://schemas.openxmlformats.org/officeDocument/2006/relationships/tags" Target="../tags/tag52.xml"/><Relationship Id="rId18" Type="http://schemas.openxmlformats.org/officeDocument/2006/relationships/image" Target="../media/image29.png"/><Relationship Id="rId17" Type="http://schemas.openxmlformats.org/officeDocument/2006/relationships/tags" Target="../tags/tag51.xml"/><Relationship Id="rId16" Type="http://schemas.openxmlformats.org/officeDocument/2006/relationships/tags" Target="../tags/tag50.xml"/><Relationship Id="rId15" Type="http://schemas.openxmlformats.org/officeDocument/2006/relationships/tags" Target="../tags/tag49.xml"/><Relationship Id="rId14" Type="http://schemas.openxmlformats.org/officeDocument/2006/relationships/tags" Target="../tags/tag48.xml"/><Relationship Id="rId13" Type="http://schemas.openxmlformats.org/officeDocument/2006/relationships/image" Target="../media/image28.png"/><Relationship Id="rId12" Type="http://schemas.openxmlformats.org/officeDocument/2006/relationships/tags" Target="../tags/tag47.xml"/><Relationship Id="rId11" Type="http://schemas.openxmlformats.org/officeDocument/2006/relationships/image" Target="../media/image27.png"/><Relationship Id="rId10" Type="http://schemas.openxmlformats.org/officeDocument/2006/relationships/tags" Target="../tags/tag46.xml"/><Relationship Id="rId1" Type="http://schemas.openxmlformats.org/officeDocument/2006/relationships/tags" Target="../tags/tag40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33.png"/><Relationship Id="rId8" Type="http://schemas.openxmlformats.org/officeDocument/2006/relationships/tags" Target="../tags/tag63.xml"/><Relationship Id="rId7" Type="http://schemas.openxmlformats.org/officeDocument/2006/relationships/image" Target="../media/image32.png"/><Relationship Id="rId6" Type="http://schemas.openxmlformats.org/officeDocument/2006/relationships/tags" Target="../tags/tag62.xml"/><Relationship Id="rId5" Type="http://schemas.openxmlformats.org/officeDocument/2006/relationships/image" Target="../media/image31.png"/><Relationship Id="rId4" Type="http://schemas.openxmlformats.org/officeDocument/2006/relationships/tags" Target="../tags/tag61.xml"/><Relationship Id="rId3" Type="http://schemas.openxmlformats.org/officeDocument/2006/relationships/tags" Target="../tags/tag60.xml"/><Relationship Id="rId2" Type="http://schemas.openxmlformats.org/officeDocument/2006/relationships/tags" Target="../tags/tag59.xml"/><Relationship Id="rId19" Type="http://schemas.openxmlformats.org/officeDocument/2006/relationships/slideLayout" Target="../slideLayouts/slideLayout7.xml"/><Relationship Id="rId18" Type="http://schemas.openxmlformats.org/officeDocument/2006/relationships/tags" Target="../tags/tag71.xml"/><Relationship Id="rId17" Type="http://schemas.openxmlformats.org/officeDocument/2006/relationships/tags" Target="../tags/tag70.xml"/><Relationship Id="rId16" Type="http://schemas.openxmlformats.org/officeDocument/2006/relationships/tags" Target="../tags/tag69.xml"/><Relationship Id="rId15" Type="http://schemas.openxmlformats.org/officeDocument/2006/relationships/tags" Target="../tags/tag68.xml"/><Relationship Id="rId14" Type="http://schemas.openxmlformats.org/officeDocument/2006/relationships/tags" Target="../tags/tag67.xml"/><Relationship Id="rId13" Type="http://schemas.openxmlformats.org/officeDocument/2006/relationships/tags" Target="../tags/tag66.xml"/><Relationship Id="rId12" Type="http://schemas.openxmlformats.org/officeDocument/2006/relationships/tags" Target="../tags/tag65.xml"/><Relationship Id="rId11" Type="http://schemas.openxmlformats.org/officeDocument/2006/relationships/image" Target="../media/image34.png"/><Relationship Id="rId10" Type="http://schemas.openxmlformats.org/officeDocument/2006/relationships/tags" Target="../tags/tag64.xml"/><Relationship Id="rId1" Type="http://schemas.openxmlformats.org/officeDocument/2006/relationships/tags" Target="../tags/tag58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37.png"/><Relationship Id="rId8" Type="http://schemas.openxmlformats.org/officeDocument/2006/relationships/tags" Target="../tags/tag77.xml"/><Relationship Id="rId7" Type="http://schemas.openxmlformats.org/officeDocument/2006/relationships/image" Target="../media/image36.png"/><Relationship Id="rId6" Type="http://schemas.openxmlformats.org/officeDocument/2006/relationships/tags" Target="../tags/tag76.xml"/><Relationship Id="rId5" Type="http://schemas.openxmlformats.org/officeDocument/2006/relationships/image" Target="../media/image35.png"/><Relationship Id="rId4" Type="http://schemas.openxmlformats.org/officeDocument/2006/relationships/tags" Target="../tags/tag75.xml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7" Type="http://schemas.openxmlformats.org/officeDocument/2006/relationships/slideLayout" Target="../slideLayouts/slideLayout7.xml"/><Relationship Id="rId16" Type="http://schemas.openxmlformats.org/officeDocument/2006/relationships/tags" Target="../tags/tag83.xml"/><Relationship Id="rId15" Type="http://schemas.openxmlformats.org/officeDocument/2006/relationships/tags" Target="../tags/tag82.xml"/><Relationship Id="rId14" Type="http://schemas.openxmlformats.org/officeDocument/2006/relationships/image" Target="../media/image38.png"/><Relationship Id="rId13" Type="http://schemas.openxmlformats.org/officeDocument/2006/relationships/tags" Target="../tags/tag81.xml"/><Relationship Id="rId12" Type="http://schemas.openxmlformats.org/officeDocument/2006/relationships/tags" Target="../tags/tag80.xml"/><Relationship Id="rId11" Type="http://schemas.openxmlformats.org/officeDocument/2006/relationships/tags" Target="../tags/tag79.xml"/><Relationship Id="rId10" Type="http://schemas.openxmlformats.org/officeDocument/2006/relationships/tags" Target="../tags/tag78.xml"/><Relationship Id="rId1" Type="http://schemas.openxmlformats.org/officeDocument/2006/relationships/tags" Target="../tags/tag72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90.xml"/><Relationship Id="rId8" Type="http://schemas.openxmlformats.org/officeDocument/2006/relationships/tags" Target="../tags/tag89.xml"/><Relationship Id="rId7" Type="http://schemas.openxmlformats.org/officeDocument/2006/relationships/image" Target="../media/image40.png"/><Relationship Id="rId6" Type="http://schemas.openxmlformats.org/officeDocument/2006/relationships/tags" Target="../tags/tag88.xml"/><Relationship Id="rId5" Type="http://schemas.openxmlformats.org/officeDocument/2006/relationships/image" Target="../media/image39.png"/><Relationship Id="rId4" Type="http://schemas.openxmlformats.org/officeDocument/2006/relationships/tags" Target="../tags/tag87.xml"/><Relationship Id="rId3" Type="http://schemas.openxmlformats.org/officeDocument/2006/relationships/tags" Target="../tags/tag86.xml"/><Relationship Id="rId2" Type="http://schemas.openxmlformats.org/officeDocument/2006/relationships/tags" Target="../tags/tag85.xml"/><Relationship Id="rId19" Type="http://schemas.openxmlformats.org/officeDocument/2006/relationships/slideLayout" Target="../slideLayouts/slideLayout7.xml"/><Relationship Id="rId18" Type="http://schemas.openxmlformats.org/officeDocument/2006/relationships/image" Target="../media/image22.png"/><Relationship Id="rId17" Type="http://schemas.openxmlformats.org/officeDocument/2006/relationships/tags" Target="../tags/tag95.xml"/><Relationship Id="rId16" Type="http://schemas.openxmlformats.org/officeDocument/2006/relationships/image" Target="../media/image43.jpeg"/><Relationship Id="rId15" Type="http://schemas.openxmlformats.org/officeDocument/2006/relationships/tags" Target="../tags/tag94.xml"/><Relationship Id="rId14" Type="http://schemas.openxmlformats.org/officeDocument/2006/relationships/image" Target="../media/image42.png"/><Relationship Id="rId13" Type="http://schemas.openxmlformats.org/officeDocument/2006/relationships/tags" Target="../tags/tag93.xml"/><Relationship Id="rId12" Type="http://schemas.openxmlformats.org/officeDocument/2006/relationships/image" Target="../media/image41.png"/><Relationship Id="rId11" Type="http://schemas.openxmlformats.org/officeDocument/2006/relationships/tags" Target="../tags/tag92.xml"/><Relationship Id="rId10" Type="http://schemas.openxmlformats.org/officeDocument/2006/relationships/tags" Target="../tags/tag91.xml"/><Relationship Id="rId1" Type="http://schemas.openxmlformats.org/officeDocument/2006/relationships/tags" Target="../tags/tag84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46.png"/><Relationship Id="rId8" Type="http://schemas.openxmlformats.org/officeDocument/2006/relationships/tags" Target="../tags/tag101.xml"/><Relationship Id="rId7" Type="http://schemas.openxmlformats.org/officeDocument/2006/relationships/image" Target="../media/image45.png"/><Relationship Id="rId6" Type="http://schemas.openxmlformats.org/officeDocument/2006/relationships/tags" Target="../tags/tag100.xml"/><Relationship Id="rId5" Type="http://schemas.openxmlformats.org/officeDocument/2006/relationships/image" Target="../media/image44.png"/><Relationship Id="rId4" Type="http://schemas.openxmlformats.org/officeDocument/2006/relationships/tags" Target="../tags/tag99.xml"/><Relationship Id="rId3" Type="http://schemas.openxmlformats.org/officeDocument/2006/relationships/tags" Target="../tags/tag98.xml"/><Relationship Id="rId2" Type="http://schemas.openxmlformats.org/officeDocument/2006/relationships/tags" Target="../tags/tag97.xml"/><Relationship Id="rId18" Type="http://schemas.openxmlformats.org/officeDocument/2006/relationships/slideLayout" Target="../slideLayouts/slideLayout7.xml"/><Relationship Id="rId17" Type="http://schemas.openxmlformats.org/officeDocument/2006/relationships/tags" Target="../tags/tag107.xml"/><Relationship Id="rId16" Type="http://schemas.openxmlformats.org/officeDocument/2006/relationships/tags" Target="../tags/tag106.xml"/><Relationship Id="rId15" Type="http://schemas.openxmlformats.org/officeDocument/2006/relationships/tags" Target="../tags/tag105.xml"/><Relationship Id="rId14" Type="http://schemas.openxmlformats.org/officeDocument/2006/relationships/tags" Target="../tags/tag104.xml"/><Relationship Id="rId13" Type="http://schemas.openxmlformats.org/officeDocument/2006/relationships/image" Target="../media/image26.png"/><Relationship Id="rId12" Type="http://schemas.openxmlformats.org/officeDocument/2006/relationships/tags" Target="../tags/tag103.xml"/><Relationship Id="rId11" Type="http://schemas.openxmlformats.org/officeDocument/2006/relationships/image" Target="../media/image47.png"/><Relationship Id="rId10" Type="http://schemas.openxmlformats.org/officeDocument/2006/relationships/tags" Target="../tags/tag102.xml"/><Relationship Id="rId1" Type="http://schemas.openxmlformats.org/officeDocument/2006/relationships/tags" Target="../tags/tag96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tags" Target="../tags/tag113.xml"/><Relationship Id="rId6" Type="http://schemas.openxmlformats.org/officeDocument/2006/relationships/tags" Target="../tags/tag112.xml"/><Relationship Id="rId5" Type="http://schemas.openxmlformats.org/officeDocument/2006/relationships/tags" Target="../tags/tag111.xml"/><Relationship Id="rId4" Type="http://schemas.openxmlformats.org/officeDocument/2006/relationships/tags" Target="../tags/tag110.xml"/><Relationship Id="rId3" Type="http://schemas.openxmlformats.org/officeDocument/2006/relationships/tags" Target="../tags/tag109.xml"/><Relationship Id="rId2" Type="http://schemas.openxmlformats.org/officeDocument/2006/relationships/tags" Target="../tags/tag108.xml"/><Relationship Id="rId1" Type="http://schemas.openxmlformats.org/officeDocument/2006/relationships/chart" Target="../charts/chart7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120.xml"/><Relationship Id="rId8" Type="http://schemas.openxmlformats.org/officeDocument/2006/relationships/tags" Target="../tags/tag119.xml"/><Relationship Id="rId7" Type="http://schemas.openxmlformats.org/officeDocument/2006/relationships/image" Target="../media/image48.png"/><Relationship Id="rId6" Type="http://schemas.openxmlformats.org/officeDocument/2006/relationships/tags" Target="../tags/tag118.xml"/><Relationship Id="rId5" Type="http://schemas.openxmlformats.org/officeDocument/2006/relationships/tags" Target="../tags/tag117.xml"/><Relationship Id="rId4" Type="http://schemas.openxmlformats.org/officeDocument/2006/relationships/tags" Target="../tags/tag116.xml"/><Relationship Id="rId3" Type="http://schemas.openxmlformats.org/officeDocument/2006/relationships/tags" Target="../tags/tag115.xml"/><Relationship Id="rId2" Type="http://schemas.openxmlformats.org/officeDocument/2006/relationships/tags" Target="../tags/tag114.xml"/><Relationship Id="rId14" Type="http://schemas.openxmlformats.org/officeDocument/2006/relationships/slideLayout" Target="../slideLayouts/slideLayout7.xml"/><Relationship Id="rId13" Type="http://schemas.openxmlformats.org/officeDocument/2006/relationships/image" Target="../media/image10.png"/><Relationship Id="rId12" Type="http://schemas.openxmlformats.org/officeDocument/2006/relationships/tags" Target="../tags/tag121.xml"/><Relationship Id="rId11" Type="http://schemas.openxmlformats.org/officeDocument/2006/relationships/image" Target="../media/image50.png"/><Relationship Id="rId10" Type="http://schemas.openxmlformats.org/officeDocument/2006/relationships/image" Target="../media/image49.jpeg"/><Relationship Id="rId1" Type="http://schemas.openxmlformats.org/officeDocument/2006/relationships/chart" Target="../charts/chart8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tags" Target="../tags/tag128.xml"/><Relationship Id="rId6" Type="http://schemas.openxmlformats.org/officeDocument/2006/relationships/tags" Target="../tags/tag127.xml"/><Relationship Id="rId5" Type="http://schemas.openxmlformats.org/officeDocument/2006/relationships/tags" Target="../tags/tag126.xml"/><Relationship Id="rId4" Type="http://schemas.openxmlformats.org/officeDocument/2006/relationships/tags" Target="../tags/tag125.xml"/><Relationship Id="rId3" Type="http://schemas.openxmlformats.org/officeDocument/2006/relationships/tags" Target="../tags/tag124.xml"/><Relationship Id="rId2" Type="http://schemas.openxmlformats.org/officeDocument/2006/relationships/tags" Target="../tags/tag123.xml"/><Relationship Id="rId1" Type="http://schemas.openxmlformats.org/officeDocument/2006/relationships/tags" Target="../tags/tag12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130.xml"/><Relationship Id="rId1" Type="http://schemas.openxmlformats.org/officeDocument/2006/relationships/tags" Target="../tags/tag1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EE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: 圆角 13"/>
          <p:cNvSpPr/>
          <p:nvPr/>
        </p:nvSpPr>
        <p:spPr>
          <a:xfrm>
            <a:off x="358391" y="273818"/>
            <a:ext cx="11475218" cy="6310364"/>
          </a:xfrm>
          <a:prstGeom prst="roundRect">
            <a:avLst>
              <a:gd name="adj" fmla="val 6794"/>
            </a:avLst>
          </a:prstGeom>
          <a:solidFill>
            <a:srgbClr val="F6EEE0"/>
          </a:solidFill>
          <a:ln w="5715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6000">
                  <a:srgbClr val="F9FBFD">
                    <a:alpha val="0"/>
                  </a:srgbClr>
                </a:gs>
                <a:gs pos="44918">
                  <a:srgbClr val="FBFCFE">
                    <a:alpha val="0"/>
                  </a:srgbClr>
                </a:gs>
                <a:gs pos="74000">
                  <a:schemeClr val="bg1">
                    <a:alpha val="0"/>
                  </a:schemeClr>
                </a:gs>
                <a:gs pos="83000">
                  <a:schemeClr val="bg1">
                    <a:alpha val="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5400000" scaled="1"/>
            </a:gradFill>
          </a:ln>
          <a:effectLst>
            <a:outerShdw blurRad="1219200" dist="368300" dir="2700000" algn="tl" rotWithShape="0">
              <a:srgbClr val="FE9866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: 圆角 30"/>
          <p:cNvSpPr/>
          <p:nvPr/>
        </p:nvSpPr>
        <p:spPr>
          <a:xfrm>
            <a:off x="520436" y="854481"/>
            <a:ext cx="11475218" cy="6310364"/>
          </a:xfrm>
          <a:prstGeom prst="roundRect">
            <a:avLst>
              <a:gd name="adj" fmla="val 6794"/>
            </a:avLst>
          </a:prstGeom>
          <a:noFill/>
          <a:ln w="5715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任意多边形: 形状 47"/>
          <p:cNvSpPr/>
          <p:nvPr/>
        </p:nvSpPr>
        <p:spPr>
          <a:xfrm>
            <a:off x="3736172" y="5859709"/>
            <a:ext cx="1162400" cy="724472"/>
          </a:xfrm>
          <a:custGeom>
            <a:avLst/>
            <a:gdLst>
              <a:gd name="connsiteX0" fmla="*/ 1244279 w 2488558"/>
              <a:gd name="connsiteY0" fmla="*/ 0 h 1551007"/>
              <a:gd name="connsiteX1" fmla="*/ 2488558 w 2488558"/>
              <a:gd name="connsiteY1" fmla="*/ 1244279 h 1551007"/>
              <a:gd name="connsiteX2" fmla="*/ 2463279 w 2488558"/>
              <a:gd name="connsiteY2" fmla="*/ 1495045 h 1551007"/>
              <a:gd name="connsiteX3" fmla="*/ 2448889 w 2488558"/>
              <a:gd name="connsiteY3" fmla="*/ 1551007 h 1551007"/>
              <a:gd name="connsiteX4" fmla="*/ 39669 w 2488558"/>
              <a:gd name="connsiteY4" fmla="*/ 1551007 h 1551007"/>
              <a:gd name="connsiteX5" fmla="*/ 25280 w 2488558"/>
              <a:gd name="connsiteY5" fmla="*/ 1495045 h 1551007"/>
              <a:gd name="connsiteX6" fmla="*/ 0 w 2488558"/>
              <a:gd name="connsiteY6" fmla="*/ 1244279 h 1551007"/>
              <a:gd name="connsiteX7" fmla="*/ 1244279 w 2488558"/>
              <a:gd name="connsiteY7" fmla="*/ 0 h 1551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488558" h="1551007">
                <a:moveTo>
                  <a:pt x="1244279" y="0"/>
                </a:moveTo>
                <a:cubicBezTo>
                  <a:pt x="1931475" y="0"/>
                  <a:pt x="2488558" y="557083"/>
                  <a:pt x="2488558" y="1244279"/>
                </a:cubicBezTo>
                <a:cubicBezTo>
                  <a:pt x="2488558" y="1330179"/>
                  <a:pt x="2479854" y="1414045"/>
                  <a:pt x="2463279" y="1495045"/>
                </a:cubicBezTo>
                <a:lnTo>
                  <a:pt x="2448889" y="1551007"/>
                </a:lnTo>
                <a:lnTo>
                  <a:pt x="39669" y="1551007"/>
                </a:lnTo>
                <a:lnTo>
                  <a:pt x="25280" y="1495045"/>
                </a:lnTo>
                <a:cubicBezTo>
                  <a:pt x="8705" y="1414045"/>
                  <a:pt x="0" y="1330179"/>
                  <a:pt x="0" y="1244279"/>
                </a:cubicBezTo>
                <a:cubicBezTo>
                  <a:pt x="0" y="557083"/>
                  <a:pt x="557083" y="0"/>
                  <a:pt x="1244279" y="0"/>
                </a:cubicBezTo>
                <a:close/>
              </a:path>
            </a:pathLst>
          </a:custGeom>
          <a:solidFill>
            <a:srgbClr val="FCD5AC"/>
          </a:solidFill>
          <a:ln>
            <a:noFill/>
          </a:ln>
          <a:effectLst>
            <a:glow rad="12700">
              <a:srgbClr val="FCD5AC">
                <a:alpha val="40000"/>
              </a:srgbClr>
            </a:glow>
            <a:outerShdw blurRad="177800" dist="114300" dir="2400000" algn="tl" rotWithShape="0">
              <a:srgbClr val="FE9866">
                <a:alpha val="40000"/>
              </a:srgbClr>
            </a:outerShdw>
            <a:softEdge rad="762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7" name="任意多边形: 形状 46"/>
          <p:cNvSpPr/>
          <p:nvPr/>
        </p:nvSpPr>
        <p:spPr>
          <a:xfrm>
            <a:off x="3652890" y="5996489"/>
            <a:ext cx="1100296" cy="724472"/>
          </a:xfrm>
          <a:custGeom>
            <a:avLst/>
            <a:gdLst>
              <a:gd name="connsiteX0" fmla="*/ 1047510 w 2095020"/>
              <a:gd name="connsiteY0" fmla="*/ 0 h 1379433"/>
              <a:gd name="connsiteX1" fmla="*/ 2095020 w 2095020"/>
              <a:gd name="connsiteY1" fmla="*/ 1047510 h 1379433"/>
              <a:gd name="connsiteX2" fmla="*/ 2073739 w 2095020"/>
              <a:gd name="connsiteY2" fmla="*/ 1258620 h 1379433"/>
              <a:gd name="connsiteX3" fmla="*/ 2036236 w 2095020"/>
              <a:gd name="connsiteY3" fmla="*/ 1379433 h 1379433"/>
              <a:gd name="connsiteX4" fmla="*/ 58784 w 2095020"/>
              <a:gd name="connsiteY4" fmla="*/ 1379433 h 1379433"/>
              <a:gd name="connsiteX5" fmla="*/ 21282 w 2095020"/>
              <a:gd name="connsiteY5" fmla="*/ 1258620 h 1379433"/>
              <a:gd name="connsiteX6" fmla="*/ 0 w 2095020"/>
              <a:gd name="connsiteY6" fmla="*/ 1047510 h 1379433"/>
              <a:gd name="connsiteX7" fmla="*/ 1047510 w 2095020"/>
              <a:gd name="connsiteY7" fmla="*/ 0 h 13794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95020" h="1379433">
                <a:moveTo>
                  <a:pt x="1047510" y="0"/>
                </a:moveTo>
                <a:cubicBezTo>
                  <a:pt x="1626034" y="0"/>
                  <a:pt x="2095020" y="468986"/>
                  <a:pt x="2095020" y="1047510"/>
                </a:cubicBezTo>
                <a:cubicBezTo>
                  <a:pt x="2095020" y="1119826"/>
                  <a:pt x="2087692" y="1190430"/>
                  <a:pt x="2073739" y="1258620"/>
                </a:cubicBezTo>
                <a:lnTo>
                  <a:pt x="2036236" y="1379433"/>
                </a:lnTo>
                <a:lnTo>
                  <a:pt x="58784" y="1379433"/>
                </a:lnTo>
                <a:lnTo>
                  <a:pt x="21282" y="1258620"/>
                </a:lnTo>
                <a:cubicBezTo>
                  <a:pt x="7328" y="1190430"/>
                  <a:pt x="0" y="1119826"/>
                  <a:pt x="0" y="1047510"/>
                </a:cubicBezTo>
                <a:cubicBezTo>
                  <a:pt x="0" y="468986"/>
                  <a:pt x="468986" y="0"/>
                  <a:pt x="104751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softEdge rad="2413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68" name="组合 67"/>
          <p:cNvGrpSpPr/>
          <p:nvPr/>
        </p:nvGrpSpPr>
        <p:grpSpPr>
          <a:xfrm>
            <a:off x="269989" y="3623077"/>
            <a:ext cx="496511" cy="927152"/>
            <a:chOff x="269989" y="2834948"/>
            <a:chExt cx="1332681" cy="2488558"/>
          </a:xfrm>
        </p:grpSpPr>
        <p:sp>
          <p:nvSpPr>
            <p:cNvPr id="67" name="任意多边形: 形状 66"/>
            <p:cNvSpPr/>
            <p:nvPr/>
          </p:nvSpPr>
          <p:spPr>
            <a:xfrm>
              <a:off x="358391" y="2834948"/>
              <a:ext cx="1244279" cy="2488558"/>
            </a:xfrm>
            <a:custGeom>
              <a:avLst/>
              <a:gdLst>
                <a:gd name="connsiteX0" fmla="*/ 0 w 1244279"/>
                <a:gd name="connsiteY0" fmla="*/ 0 h 2488558"/>
                <a:gd name="connsiteX1" fmla="*/ 1244279 w 1244279"/>
                <a:gd name="connsiteY1" fmla="*/ 1244279 h 2488558"/>
                <a:gd name="connsiteX2" fmla="*/ 0 w 1244279"/>
                <a:gd name="connsiteY2" fmla="*/ 2488558 h 24885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44279" h="2488558">
                  <a:moveTo>
                    <a:pt x="0" y="0"/>
                  </a:moveTo>
                  <a:cubicBezTo>
                    <a:pt x="687196" y="0"/>
                    <a:pt x="1244279" y="557083"/>
                    <a:pt x="1244279" y="1244279"/>
                  </a:cubicBezTo>
                  <a:cubicBezTo>
                    <a:pt x="1244279" y="1931475"/>
                    <a:pt x="687196" y="2488558"/>
                    <a:pt x="0" y="2488558"/>
                  </a:cubicBezTo>
                  <a:close/>
                </a:path>
              </a:pathLst>
            </a:custGeom>
            <a:solidFill>
              <a:srgbClr val="FCD5AC"/>
            </a:solidFill>
            <a:ln>
              <a:noFill/>
            </a:ln>
            <a:effectLst>
              <a:glow rad="12700">
                <a:srgbClr val="FCD5AC">
                  <a:alpha val="40000"/>
                </a:srgbClr>
              </a:glow>
              <a:outerShdw blurRad="177800" dist="114300" dir="2400000" algn="tl" rotWithShape="0">
                <a:srgbClr val="FE9866">
                  <a:alpha val="40000"/>
                </a:srgbClr>
              </a:outerShdw>
              <a:softEdge rad="762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65" name="任意多边形: 形状 64"/>
            <p:cNvSpPr/>
            <p:nvPr/>
          </p:nvSpPr>
          <p:spPr>
            <a:xfrm>
              <a:off x="269989" y="3047592"/>
              <a:ext cx="890026" cy="2063269"/>
            </a:xfrm>
            <a:custGeom>
              <a:avLst/>
              <a:gdLst>
                <a:gd name="connsiteX0" fmla="*/ 0 w 890026"/>
                <a:gd name="connsiteY0" fmla="*/ 0 h 2063269"/>
                <a:gd name="connsiteX1" fmla="*/ 53626 w 890026"/>
                <a:gd name="connsiteY1" fmla="*/ 5406 h 2063269"/>
                <a:gd name="connsiteX2" fmla="*/ 890026 w 890026"/>
                <a:gd name="connsiteY2" fmla="*/ 1031634 h 2063269"/>
                <a:gd name="connsiteX3" fmla="*/ 53626 w 890026"/>
                <a:gd name="connsiteY3" fmla="*/ 2057863 h 2063269"/>
                <a:gd name="connsiteX4" fmla="*/ 0 w 890026"/>
                <a:gd name="connsiteY4" fmla="*/ 2063269 h 2063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90026" h="2063269">
                  <a:moveTo>
                    <a:pt x="0" y="0"/>
                  </a:moveTo>
                  <a:lnTo>
                    <a:pt x="53626" y="5406"/>
                  </a:lnTo>
                  <a:cubicBezTo>
                    <a:pt x="530959" y="103082"/>
                    <a:pt x="890026" y="525426"/>
                    <a:pt x="890026" y="1031634"/>
                  </a:cubicBezTo>
                  <a:cubicBezTo>
                    <a:pt x="890026" y="1537843"/>
                    <a:pt x="530959" y="1960186"/>
                    <a:pt x="53626" y="2057863"/>
                  </a:cubicBezTo>
                  <a:lnTo>
                    <a:pt x="0" y="206326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softEdge rad="1397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57" name="组合 56"/>
          <p:cNvGrpSpPr/>
          <p:nvPr/>
        </p:nvGrpSpPr>
        <p:grpSpPr>
          <a:xfrm>
            <a:off x="8985936" y="4927971"/>
            <a:ext cx="1297695" cy="1297695"/>
            <a:chOff x="805522" y="3191373"/>
            <a:chExt cx="2488557" cy="2488557"/>
          </a:xfrm>
        </p:grpSpPr>
        <p:sp>
          <p:nvSpPr>
            <p:cNvPr id="58" name="椭圆 57"/>
            <p:cNvSpPr/>
            <p:nvPr/>
          </p:nvSpPr>
          <p:spPr>
            <a:xfrm>
              <a:off x="805522" y="3191373"/>
              <a:ext cx="2488557" cy="2488557"/>
            </a:xfrm>
            <a:prstGeom prst="ellipse">
              <a:avLst/>
            </a:prstGeom>
            <a:solidFill>
              <a:srgbClr val="FCD5AC"/>
            </a:solidFill>
            <a:ln>
              <a:noFill/>
            </a:ln>
            <a:effectLst>
              <a:glow rad="12700">
                <a:srgbClr val="FCD5AC">
                  <a:alpha val="40000"/>
                </a:srgbClr>
              </a:glow>
              <a:outerShdw blurRad="177800" dist="114300" dir="2400000" algn="tl" rotWithShape="0">
                <a:srgbClr val="FE9866">
                  <a:alpha val="40000"/>
                </a:srgbClr>
              </a:outerShdw>
              <a:softEdge rad="762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椭圆 58"/>
            <p:cNvSpPr/>
            <p:nvPr/>
          </p:nvSpPr>
          <p:spPr>
            <a:xfrm>
              <a:off x="844807" y="3362947"/>
              <a:ext cx="2095019" cy="209501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softEdge rad="2413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69" name="组合 68"/>
          <p:cNvGrpSpPr/>
          <p:nvPr/>
        </p:nvGrpSpPr>
        <p:grpSpPr>
          <a:xfrm rot="5400000">
            <a:off x="2372428" y="-98919"/>
            <a:ext cx="641824" cy="1198499"/>
            <a:chOff x="269989" y="2834948"/>
            <a:chExt cx="1332681" cy="2488558"/>
          </a:xfrm>
        </p:grpSpPr>
        <p:sp>
          <p:nvSpPr>
            <p:cNvPr id="70" name="任意多边形: 形状 69"/>
            <p:cNvSpPr/>
            <p:nvPr/>
          </p:nvSpPr>
          <p:spPr>
            <a:xfrm>
              <a:off x="358391" y="2834948"/>
              <a:ext cx="1244279" cy="2488558"/>
            </a:xfrm>
            <a:custGeom>
              <a:avLst/>
              <a:gdLst>
                <a:gd name="connsiteX0" fmla="*/ 0 w 1244279"/>
                <a:gd name="connsiteY0" fmla="*/ 0 h 2488558"/>
                <a:gd name="connsiteX1" fmla="*/ 1244279 w 1244279"/>
                <a:gd name="connsiteY1" fmla="*/ 1244279 h 2488558"/>
                <a:gd name="connsiteX2" fmla="*/ 0 w 1244279"/>
                <a:gd name="connsiteY2" fmla="*/ 2488558 h 24885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44279" h="2488558">
                  <a:moveTo>
                    <a:pt x="0" y="0"/>
                  </a:moveTo>
                  <a:cubicBezTo>
                    <a:pt x="687196" y="0"/>
                    <a:pt x="1244279" y="557083"/>
                    <a:pt x="1244279" y="1244279"/>
                  </a:cubicBezTo>
                  <a:cubicBezTo>
                    <a:pt x="1244279" y="1931475"/>
                    <a:pt x="687196" y="2488558"/>
                    <a:pt x="0" y="2488558"/>
                  </a:cubicBezTo>
                  <a:close/>
                </a:path>
              </a:pathLst>
            </a:custGeom>
            <a:solidFill>
              <a:srgbClr val="FCD5AC"/>
            </a:solidFill>
            <a:ln>
              <a:noFill/>
            </a:ln>
            <a:effectLst>
              <a:glow rad="12700">
                <a:srgbClr val="FCD5AC">
                  <a:alpha val="40000"/>
                </a:srgbClr>
              </a:glow>
              <a:outerShdw blurRad="177800" dist="114300" dir="2400000" algn="tl" rotWithShape="0">
                <a:srgbClr val="FE9866">
                  <a:alpha val="40000"/>
                </a:srgbClr>
              </a:outerShdw>
              <a:softEdge rad="762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71" name="任意多边形: 形状 70"/>
            <p:cNvSpPr/>
            <p:nvPr/>
          </p:nvSpPr>
          <p:spPr>
            <a:xfrm>
              <a:off x="269989" y="3047592"/>
              <a:ext cx="890026" cy="2063269"/>
            </a:xfrm>
            <a:custGeom>
              <a:avLst/>
              <a:gdLst>
                <a:gd name="connsiteX0" fmla="*/ 0 w 890026"/>
                <a:gd name="connsiteY0" fmla="*/ 0 h 2063269"/>
                <a:gd name="connsiteX1" fmla="*/ 53626 w 890026"/>
                <a:gd name="connsiteY1" fmla="*/ 5406 h 2063269"/>
                <a:gd name="connsiteX2" fmla="*/ 890026 w 890026"/>
                <a:gd name="connsiteY2" fmla="*/ 1031634 h 2063269"/>
                <a:gd name="connsiteX3" fmla="*/ 53626 w 890026"/>
                <a:gd name="connsiteY3" fmla="*/ 2057863 h 2063269"/>
                <a:gd name="connsiteX4" fmla="*/ 0 w 890026"/>
                <a:gd name="connsiteY4" fmla="*/ 2063269 h 2063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90026" h="2063269">
                  <a:moveTo>
                    <a:pt x="0" y="0"/>
                  </a:moveTo>
                  <a:lnTo>
                    <a:pt x="53626" y="5406"/>
                  </a:lnTo>
                  <a:cubicBezTo>
                    <a:pt x="530959" y="103082"/>
                    <a:pt x="890026" y="525426"/>
                    <a:pt x="890026" y="1031634"/>
                  </a:cubicBezTo>
                  <a:cubicBezTo>
                    <a:pt x="890026" y="1537843"/>
                    <a:pt x="530959" y="1960186"/>
                    <a:pt x="53626" y="2057863"/>
                  </a:cubicBezTo>
                  <a:lnTo>
                    <a:pt x="0" y="206326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softEdge rad="1143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60" name="组合 59"/>
          <p:cNvGrpSpPr/>
          <p:nvPr/>
        </p:nvGrpSpPr>
        <p:grpSpPr>
          <a:xfrm>
            <a:off x="10399973" y="942444"/>
            <a:ext cx="962088" cy="962088"/>
            <a:chOff x="805522" y="3191373"/>
            <a:chExt cx="2488557" cy="2488557"/>
          </a:xfrm>
        </p:grpSpPr>
        <p:sp>
          <p:nvSpPr>
            <p:cNvPr id="61" name="椭圆 60"/>
            <p:cNvSpPr/>
            <p:nvPr/>
          </p:nvSpPr>
          <p:spPr>
            <a:xfrm>
              <a:off x="805522" y="3191373"/>
              <a:ext cx="2488557" cy="2488557"/>
            </a:xfrm>
            <a:prstGeom prst="ellipse">
              <a:avLst/>
            </a:prstGeom>
            <a:solidFill>
              <a:srgbClr val="FCD5AC"/>
            </a:solidFill>
            <a:ln>
              <a:noFill/>
            </a:ln>
            <a:effectLst>
              <a:glow rad="12700">
                <a:srgbClr val="FCD5AC">
                  <a:alpha val="40000"/>
                </a:srgbClr>
              </a:glow>
              <a:outerShdw blurRad="177800" dist="114300" dir="2400000" algn="tl" rotWithShape="0">
                <a:srgbClr val="FE9866">
                  <a:alpha val="40000"/>
                </a:srgbClr>
              </a:outerShdw>
              <a:softEdge rad="762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2" name="椭圆 61"/>
            <p:cNvSpPr/>
            <p:nvPr/>
          </p:nvSpPr>
          <p:spPr>
            <a:xfrm>
              <a:off x="844807" y="3362947"/>
              <a:ext cx="2095019" cy="209501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softEdge rad="1778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73" name="文本框 72"/>
          <p:cNvSpPr txBox="1"/>
          <p:nvPr/>
        </p:nvSpPr>
        <p:spPr>
          <a:xfrm>
            <a:off x="866775" y="3161030"/>
            <a:ext cx="597471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sz="1500" b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 Bold" panose="02020603050405020304" charset="0"/>
                <a:ea typeface="汉仪字酷堂义山楷W" panose="00020600040101010101" pitchFamily="18" charset="-122"/>
                <a:cs typeface="Times New Roman Bold" panose="02020603050405020304" charset="0"/>
              </a:rPr>
              <a:t>Project</a:t>
            </a:r>
            <a:r>
              <a:rPr lang="en-US" sz="1500" b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 Bold" panose="02020603050405020304" charset="0"/>
                <a:ea typeface="汉仪字酷堂义山楷W" panose="00020600040101010101" pitchFamily="18" charset="-122"/>
                <a:cs typeface="Times New Roman Bold" panose="02020603050405020304" charset="0"/>
              </a:rPr>
              <a:t> </a:t>
            </a:r>
            <a:r>
              <a:rPr sz="1500" b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 Bold" panose="02020603050405020304" charset="0"/>
                <a:ea typeface="汉仪字酷堂义山楷W" panose="00020600040101010101" pitchFamily="18" charset="-122"/>
                <a:cs typeface="Times New Roman Bold" panose="02020603050405020304" charset="0"/>
              </a:rPr>
              <a:t>Members</a:t>
            </a:r>
            <a:r>
              <a:rPr sz="150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charset="0"/>
                <a:ea typeface="汉仪字酷堂义山楷W" panose="00020600040101010101" pitchFamily="18" charset="-122"/>
                <a:cs typeface="Times New Roman" panose="02020603050405020304" charset="0"/>
              </a:rPr>
              <a:t>: Kejie Ren (2254448),</a:t>
            </a:r>
            <a:r>
              <a:rPr lang="en-US" sz="150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charset="0"/>
                <a:ea typeface="汉仪字酷堂义山楷W" panose="00020600040101010101" pitchFamily="18" charset="-122"/>
                <a:cs typeface="Times New Roman" panose="02020603050405020304" charset="0"/>
              </a:rPr>
              <a:t> </a:t>
            </a:r>
            <a:r>
              <a:rPr sz="150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charset="0"/>
                <a:ea typeface="汉仪字酷堂义山楷W" panose="00020600040101010101" pitchFamily="18" charset="-122"/>
                <a:cs typeface="Times New Roman" panose="02020603050405020304" charset="0"/>
              </a:rPr>
              <a:t>Mengxuan Shen (2252176), </a:t>
            </a:r>
            <a:endParaRPr sz="150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charset="0"/>
              <a:ea typeface="汉仪字酷堂义山楷W" panose="00020600040101010101" pitchFamily="18" charset="-122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sz="150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charset="0"/>
                <a:ea typeface="汉仪字酷堂义山楷W" panose="00020600040101010101" pitchFamily="18" charset="-122"/>
                <a:cs typeface="Times New Roman" panose="02020603050405020304" charset="0"/>
              </a:rPr>
              <a:t>Haiqi Shen (2254119),Changbo Wang (2251958),</a:t>
            </a:r>
            <a:r>
              <a:rPr lang="en-US" sz="150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charset="0"/>
                <a:ea typeface="汉仪字酷堂义山楷W" panose="00020600040101010101" pitchFamily="18" charset="-122"/>
                <a:cs typeface="Times New Roman" panose="02020603050405020304" charset="0"/>
              </a:rPr>
              <a:t> </a:t>
            </a:r>
            <a:r>
              <a:rPr sz="150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charset="0"/>
                <a:ea typeface="汉仪字酷堂义山楷W" panose="00020600040101010101" pitchFamily="18" charset="-122"/>
                <a:cs typeface="Times New Roman" panose="02020603050405020304" charset="0"/>
              </a:rPr>
              <a:t>Jinghao Zhang (2257366)</a:t>
            </a:r>
            <a:endParaRPr sz="150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charset="0"/>
              <a:ea typeface="汉仪字酷堂义山楷W" panose="00020600040101010101" pitchFamily="18" charset="-122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sz="1500" b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 Bold" panose="02020603050405020304" charset="0"/>
                <a:ea typeface="汉仪字酷堂义山楷W" panose="00020600040101010101" pitchFamily="18" charset="-122"/>
                <a:cs typeface="Times New Roman Bold" panose="02020603050405020304" charset="0"/>
              </a:rPr>
              <a:t>Group Number</a:t>
            </a:r>
            <a:r>
              <a:rPr sz="150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charset="0"/>
                <a:ea typeface="汉仪字酷堂义山楷W" panose="00020600040101010101" pitchFamily="18" charset="-122"/>
                <a:cs typeface="Times New Roman" panose="02020603050405020304" charset="0"/>
              </a:rPr>
              <a:t>: 62   Module Name: CPT208 Human-Centric Computing</a:t>
            </a:r>
            <a:endParaRPr sz="150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charset="0"/>
              <a:ea typeface="汉仪字酷堂义山楷W" panose="00020600040101010101" pitchFamily="18" charset="-122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sz="1500" b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 Bold" panose="02020603050405020304" charset="0"/>
                <a:ea typeface="汉仪字酷堂义山楷W" panose="00020600040101010101" pitchFamily="18" charset="-122"/>
                <a:cs typeface="Times New Roman Bold" panose="02020603050405020304" charset="0"/>
              </a:rPr>
              <a:t>Submission Date</a:t>
            </a:r>
            <a:r>
              <a:rPr lang="en-US" sz="150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charset="0"/>
                <a:ea typeface="汉仪字酷堂义山楷W" panose="00020600040101010101" pitchFamily="18" charset="-122"/>
                <a:cs typeface="Times New Roman" panose="02020603050405020304" charset="0"/>
              </a:rPr>
              <a:t>: 2025/5/9</a:t>
            </a:r>
            <a:endParaRPr lang="en-US" sz="150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charset="0"/>
              <a:ea typeface="汉仪字酷堂义山楷W" panose="00020600040101010101" pitchFamily="18" charset="-122"/>
              <a:cs typeface="Times New Roman" panose="02020603050405020304" charset="0"/>
            </a:endParaRPr>
          </a:p>
        </p:txBody>
      </p:sp>
      <p:sp>
        <p:nvSpPr>
          <p:cNvPr id="83" name="矩形: 圆角 82"/>
          <p:cNvSpPr/>
          <p:nvPr/>
        </p:nvSpPr>
        <p:spPr>
          <a:xfrm>
            <a:off x="1026160" y="4804410"/>
            <a:ext cx="4909185" cy="461645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FCBC86">
                  <a:alpha val="60000"/>
                </a:srgbClr>
              </a:gs>
              <a:gs pos="100000">
                <a:srgbClr val="FF9A66"/>
              </a:gs>
            </a:gsLst>
            <a:lin ang="0" scaled="1"/>
            <a:tileRect/>
          </a:gradFill>
          <a:ln>
            <a:noFill/>
          </a:ln>
          <a:effectLst>
            <a:outerShdw blurRad="50800" dist="63500" dir="3000000" algn="tl" rotWithShape="0">
              <a:srgbClr val="FF9A66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2" name="文本框 81"/>
          <p:cNvSpPr txBox="1"/>
          <p:nvPr/>
        </p:nvSpPr>
        <p:spPr>
          <a:xfrm>
            <a:off x="1158240" y="4824095"/>
            <a:ext cx="477774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>
                <a:solidFill>
                  <a:schemeClr val="bg1"/>
                </a:solidFill>
                <a:latin typeface="汉仪字酷堂义山楷W" panose="00020600040101010101" pitchFamily="18" charset="-122"/>
                <a:ea typeface="汉仪字酷堂义山楷W" panose="00020600040101010101" pitchFamily="18" charset="-122"/>
              </a:rPr>
              <a:t>Reporter：</a:t>
            </a:r>
            <a:r>
              <a:rPr lang="en-US" altLang="zh-CN" sz="2400">
                <a:solidFill>
                  <a:schemeClr val="bg1"/>
                </a:solidFill>
                <a:latin typeface="汉仪字酷堂义山楷W" panose="00020600040101010101" pitchFamily="18" charset="-122"/>
                <a:ea typeface="汉仪字酷堂义山楷W" panose="00020600040101010101" pitchFamily="18" charset="-122"/>
              </a:rPr>
              <a:t>Mengxuan S</a:t>
            </a:r>
            <a:r>
              <a:rPr lang="en-US" altLang="zh-CN" sz="2400">
                <a:solidFill>
                  <a:schemeClr val="bg1"/>
                </a:solidFill>
                <a:latin typeface="汉仪字酷堂义山楷W" panose="00020600040101010101" pitchFamily="18" charset="-122"/>
                <a:ea typeface="汉仪字酷堂义山楷W" panose="00020600040101010101" pitchFamily="18" charset="-122"/>
              </a:rPr>
              <a:t>hen 2252176</a:t>
            </a:r>
            <a:endParaRPr lang="en-US" altLang="zh-CN" sz="2400">
              <a:solidFill>
                <a:schemeClr val="bg1"/>
              </a:solidFill>
              <a:latin typeface="汉仪字酷堂义山楷W" panose="00020600040101010101" pitchFamily="18" charset="-122"/>
              <a:ea typeface="汉仪字酷堂义山楷W" panose="00020600040101010101" pitchFamily="18" charset="-122"/>
            </a:endParaRPr>
          </a:p>
        </p:txBody>
      </p:sp>
      <p:sp>
        <p:nvSpPr>
          <p:cNvPr id="72" name="文本框 71"/>
          <p:cNvSpPr txBox="1"/>
          <p:nvPr/>
        </p:nvSpPr>
        <p:spPr>
          <a:xfrm>
            <a:off x="892012" y="2365570"/>
            <a:ext cx="8907891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>
                <a:solidFill>
                  <a:schemeClr val="accent2"/>
                </a:solidFill>
                <a:latin typeface="Times New Roman Bold" panose="02020603050405020304" charset="0"/>
                <a:ea typeface="汉仪大宋简" panose="02010600000101010101" pitchFamily="2" charset="-122"/>
                <a:cs typeface="Times New Roman Bold" panose="02020603050405020304" charset="0"/>
              </a:rPr>
              <a:t>Generatiive Al</a:t>
            </a:r>
            <a:r>
              <a:rPr lang="en-US" altLang="zh-CN" sz="3200" b="1">
                <a:solidFill>
                  <a:schemeClr val="accent2"/>
                </a:solidFill>
                <a:latin typeface="Times New Roman Bold" panose="02020603050405020304" charset="0"/>
                <a:ea typeface="汉仪大宋简" panose="02010600000101010101" pitchFamily="2" charset="-122"/>
                <a:cs typeface="Times New Roman Bold" panose="02020603050405020304" charset="0"/>
              </a:rPr>
              <a:t> </a:t>
            </a:r>
            <a:r>
              <a:rPr lang="zh-CN" altLang="en-US" sz="3200" b="1">
                <a:solidFill>
                  <a:schemeClr val="accent2"/>
                </a:solidFill>
                <a:latin typeface="Times New Roman Bold" panose="02020603050405020304" charset="0"/>
                <a:ea typeface="汉仪大宋简" panose="02010600000101010101" pitchFamily="2" charset="-122"/>
                <a:cs typeface="Times New Roman Bold" panose="02020603050405020304" charset="0"/>
              </a:rPr>
              <a:t>in life steward –– AIVA</a:t>
            </a:r>
            <a:endParaRPr lang="zh-CN" altLang="en-US" sz="3200" b="1">
              <a:solidFill>
                <a:schemeClr val="accent2"/>
              </a:solidFill>
              <a:latin typeface="Times New Roman Bold" panose="02020603050405020304" charset="0"/>
              <a:ea typeface="汉仪大宋简" panose="02010600000101010101" pitchFamily="2" charset="-122"/>
              <a:cs typeface="Times New Roman Bold" panose="02020603050405020304" charset="0"/>
            </a:endParaRPr>
          </a:p>
        </p:txBody>
      </p:sp>
      <p:pic>
        <p:nvPicPr>
          <p:cNvPr id="8" name="图片 7" descr="未命名的设计 (4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08750" y="405765"/>
            <a:ext cx="5487035" cy="6178550"/>
          </a:xfrm>
          <a:prstGeom prst="rect">
            <a:avLst/>
          </a:prstGeom>
        </p:spPr>
      </p:pic>
      <p:pic>
        <p:nvPicPr>
          <p:cNvPr id="10" name="图片 9" descr="未命名的设计 (5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175" y="436880"/>
            <a:ext cx="6732270" cy="168529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EE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/>
          <p:cNvSpPr/>
          <p:nvPr>
            <p:custDataLst>
              <p:tags r:id="rId1"/>
            </p:custDataLst>
          </p:nvPr>
        </p:nvSpPr>
        <p:spPr>
          <a:xfrm>
            <a:off x="358391" y="273818"/>
            <a:ext cx="11475218" cy="6310364"/>
          </a:xfrm>
          <a:prstGeom prst="roundRect">
            <a:avLst>
              <a:gd name="adj" fmla="val 6794"/>
            </a:avLst>
          </a:prstGeom>
          <a:solidFill>
            <a:srgbClr val="F6EEE0"/>
          </a:solidFill>
          <a:ln w="5715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6000">
                  <a:srgbClr val="F9FBFD">
                    <a:alpha val="0"/>
                  </a:srgbClr>
                </a:gs>
                <a:gs pos="44918">
                  <a:srgbClr val="FBFCFE">
                    <a:alpha val="0"/>
                  </a:srgbClr>
                </a:gs>
                <a:gs pos="74000">
                  <a:schemeClr val="bg1">
                    <a:alpha val="0"/>
                  </a:schemeClr>
                </a:gs>
                <a:gs pos="83000">
                  <a:schemeClr val="bg1">
                    <a:alpha val="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5400000" scaled="1"/>
            </a:gradFill>
          </a:ln>
          <a:effectLst>
            <a:outerShdw blurRad="1219200" dist="368300" dir="2700000" algn="tl" rotWithShape="0">
              <a:srgbClr val="FE9866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478155" y="370840"/>
            <a:ext cx="740791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>
                <a:solidFill>
                  <a:schemeClr val="accent2"/>
                </a:solidFill>
                <a:latin typeface="Times New Roman Bold" panose="02020603050405020304" charset="0"/>
                <a:ea typeface="汉仪大宋简" panose="02010600000101010101" pitchFamily="2" charset="-122"/>
                <a:cs typeface="Times New Roman Bold" panose="02020603050405020304" charset="0"/>
              </a:rPr>
              <a:t>Background and Introduction</a:t>
            </a:r>
            <a:endParaRPr lang="en-US" altLang="zh-CN" sz="3600" b="1">
              <a:solidFill>
                <a:schemeClr val="accent2"/>
              </a:solidFill>
              <a:latin typeface="Times New Roman Bold" panose="02020603050405020304" charset="0"/>
              <a:ea typeface="汉仪大宋简" panose="02010600000101010101" pitchFamily="2" charset="-122"/>
              <a:cs typeface="Times New Roman Bold" panose="0202060305040502030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01015" y="1702435"/>
            <a:ext cx="6219825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zh-CN" sz="1400">
                <a:latin typeface="Times New Roman Regular" panose="02020603050405020304" charset="0"/>
                <a:cs typeface="Times New Roman Regular" panose="02020603050405020304" charset="0"/>
              </a:rPr>
              <a:t>    </a:t>
            </a:r>
            <a:r>
              <a:rPr lang="zh-CN" altLang="en-US" sz="1400">
                <a:latin typeface="Times New Roman Regular" panose="02020603050405020304" charset="0"/>
                <a:cs typeface="Times New Roman Regular" panose="02020603050405020304" charset="0"/>
              </a:rPr>
              <a:t>Modern life management faces key challenges: traditional tools (such as ordinary calendar apps and static diet plans) cannot adapt to </a:t>
            </a:r>
            <a:r>
              <a:rPr lang="zh-CN" altLang="en-US" sz="1400" b="1">
                <a:solidFill>
                  <a:schemeClr val="accent2">
                    <a:lumMod val="75000"/>
                  </a:schemeClr>
                </a:solidFill>
                <a:latin typeface="Times New Roman Bold" panose="02020603050405020304" charset="0"/>
                <a:cs typeface="Times New Roman Bold" panose="02020603050405020304" charset="0"/>
              </a:rPr>
              <a:t>dynamic personal needs</a:t>
            </a:r>
            <a:r>
              <a:rPr lang="zh-CN" altLang="en-US" sz="1400">
                <a:latin typeface="Times New Roman Regular" panose="02020603050405020304" charset="0"/>
                <a:cs typeface="Times New Roman Regular" panose="02020603050405020304" charset="0"/>
              </a:rPr>
              <a:t>, </a:t>
            </a:r>
            <a:r>
              <a:rPr lang="zh-CN" altLang="en-US" sz="1400" b="1">
                <a:solidFill>
                  <a:schemeClr val="accent2">
                    <a:lumMod val="75000"/>
                  </a:schemeClr>
                </a:solidFill>
                <a:latin typeface="Times New Roman Bold" panose="02020603050405020304" charset="0"/>
                <a:cs typeface="Times New Roman Bold" panose="02020603050405020304" charset="0"/>
              </a:rPr>
              <a:t>real-time scenarios</a:t>
            </a:r>
            <a:r>
              <a:rPr lang="zh-CN" altLang="en-US" sz="1400">
                <a:solidFill>
                  <a:schemeClr val="accent2">
                    <a:lumMod val="75000"/>
                  </a:schemeClr>
                </a:solidFill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  <a:r>
              <a:rPr lang="zh-CN" altLang="en-US" sz="1400">
                <a:latin typeface="Times New Roman Regular" panose="02020603050405020304" charset="0"/>
                <a:cs typeface="Times New Roman Regular" panose="02020603050405020304" charset="0"/>
              </a:rPr>
              <a:t>and overall health goals.</a:t>
            </a:r>
            <a:endParaRPr lang="zh-CN" altLang="en-US" sz="1400">
              <a:latin typeface="Times New Roman Regular" panose="02020603050405020304" charset="0"/>
              <a:cs typeface="Times New Roman Regular" panose="02020603050405020304" charset="0"/>
            </a:endParaRPr>
          </a:p>
        </p:txBody>
      </p:sp>
      <p:pic>
        <p:nvPicPr>
          <p:cNvPr id="13" name="图片 1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9366885" y="805180"/>
            <a:ext cx="2306320" cy="4991735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6964680" y="803275"/>
            <a:ext cx="2306955" cy="4993640"/>
          </a:xfrm>
          <a:prstGeom prst="rect">
            <a:avLst/>
          </a:prstGeom>
        </p:spPr>
      </p:pic>
      <p:sp>
        <p:nvSpPr>
          <p:cNvPr id="10" name="矩形: 圆角 9"/>
          <p:cNvSpPr/>
          <p:nvPr>
            <p:custDataLst>
              <p:tags r:id="rId6"/>
            </p:custDataLst>
          </p:nvPr>
        </p:nvSpPr>
        <p:spPr>
          <a:xfrm>
            <a:off x="478155" y="1118235"/>
            <a:ext cx="4493895" cy="520065"/>
          </a:xfrm>
          <a:prstGeom prst="roundRect">
            <a:avLst>
              <a:gd name="adj" fmla="val 50000"/>
            </a:avLst>
          </a:prstGeom>
          <a:solidFill>
            <a:srgbClr val="FBA97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01015" y="1174115"/>
            <a:ext cx="4493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b="1">
                <a:solidFill>
                  <a:schemeClr val="bg1"/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Integrated solutions to avoid fragmentation</a:t>
            </a:r>
            <a:endParaRPr lang="zh-CN" altLang="en-US" b="1">
              <a:solidFill>
                <a:schemeClr val="bg1"/>
              </a:solidFill>
              <a:latin typeface="Times New Roman Bold" panose="02020603050405020304" charset="0"/>
              <a:cs typeface="Times New Roman Bold" panose="02020603050405020304" charset="0"/>
              <a:sym typeface="+mn-ea"/>
            </a:endParaRPr>
          </a:p>
        </p:txBody>
      </p:sp>
      <p:sp>
        <p:nvSpPr>
          <p:cNvPr id="8" name="矩形: 圆角 9"/>
          <p:cNvSpPr/>
          <p:nvPr>
            <p:custDataLst>
              <p:tags r:id="rId7"/>
            </p:custDataLst>
          </p:nvPr>
        </p:nvSpPr>
        <p:spPr>
          <a:xfrm>
            <a:off x="500380" y="4437380"/>
            <a:ext cx="6219825" cy="520065"/>
          </a:xfrm>
          <a:prstGeom prst="roundRect">
            <a:avLst>
              <a:gd name="adj" fmla="val 50000"/>
            </a:avLst>
          </a:prstGeom>
          <a:solidFill>
            <a:srgbClr val="FBA97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01015" y="4476115"/>
            <a:ext cx="63684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b="1">
                <a:solidFill>
                  <a:schemeClr val="bg1"/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Human-centered computing: Integration and Personalization</a:t>
            </a:r>
            <a:endParaRPr lang="zh-CN" altLang="en-US" b="1">
              <a:solidFill>
                <a:schemeClr val="bg1"/>
              </a:solidFill>
              <a:latin typeface="Times New Roman Bold" panose="02020603050405020304" charset="0"/>
              <a:cs typeface="Times New Roman Bold" panose="02020603050405020304" charset="0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01015" y="4991735"/>
            <a:ext cx="6463665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zh-CN" sz="1400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    </a:t>
            </a:r>
            <a:r>
              <a:rPr lang="zh-CN" altLang="en-US" sz="1400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People increasingly want personalized help for health, efficiency, and decision - making. Yet current solutions are </a:t>
            </a:r>
            <a:r>
              <a:rPr lang="zh-CN" altLang="en-US" sz="1400" b="1">
                <a:solidFill>
                  <a:schemeClr val="accent2">
                    <a:lumMod val="75000"/>
                  </a:schemeClr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fragmented </a:t>
            </a:r>
            <a:r>
              <a:rPr lang="zh-CN" altLang="en-US" sz="1400">
                <a:solidFill>
                  <a:schemeClr val="accent2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and</a:t>
            </a:r>
            <a:r>
              <a:rPr lang="zh-CN" altLang="en-US" sz="1400" b="1">
                <a:solidFill>
                  <a:schemeClr val="accent2">
                    <a:lumMod val="75000"/>
                  </a:schemeClr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 context - unaware</a:t>
            </a:r>
            <a:r>
              <a:rPr lang="zh-CN" altLang="en-US" sz="1400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. A</a:t>
            </a:r>
            <a:r>
              <a:rPr lang="en-US" altLang="zh-CN" sz="1400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IVA</a:t>
            </a:r>
            <a:r>
              <a:rPr lang="zh-CN" altLang="en-US" sz="1400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, an AI life assistant, simplifies daily tasks via adaptive </a:t>
            </a:r>
            <a:r>
              <a:rPr lang="en-US" altLang="zh-CN" sz="1400" b="1">
                <a:solidFill>
                  <a:schemeClr val="accent2">
                    <a:lumMod val="75000"/>
                  </a:schemeClr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n</a:t>
            </a:r>
            <a:r>
              <a:rPr lang="zh-CN" altLang="en-US" sz="1400" b="1">
                <a:solidFill>
                  <a:schemeClr val="accent2">
                    <a:lumMod val="75000"/>
                  </a:schemeClr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utrition tracking, smart scheduling, proactive decision - making</a:t>
            </a:r>
            <a:r>
              <a:rPr lang="en-US" altLang="zh-CN" sz="1400" b="1">
                <a:solidFill>
                  <a:schemeClr val="accent2">
                    <a:lumMod val="75000"/>
                  </a:schemeClr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 and so on</a:t>
            </a:r>
            <a:r>
              <a:rPr lang="zh-CN" altLang="en-US" sz="1400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. It merges </a:t>
            </a:r>
            <a:r>
              <a:rPr lang="zh-CN" altLang="en-US" sz="1400" b="1">
                <a:solidFill>
                  <a:schemeClr val="accent2">
                    <a:lumMod val="75000"/>
                  </a:schemeClr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real - time</a:t>
            </a:r>
            <a:r>
              <a:rPr lang="zh-CN" altLang="en-US" sz="1400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 data analysis with human - centric design, swapping rigid tools for personalized support to foster habits, optimize tasks, and encourage healthier, more intentional choices. </a:t>
            </a:r>
            <a:endParaRPr lang="zh-CN" altLang="en-US" sz="1400">
              <a:latin typeface="Times New Roman Regular" panose="02020603050405020304" charset="0"/>
              <a:cs typeface="Times New Roman Regular" panose="02020603050405020304" charset="0"/>
              <a:sym typeface="+mn-ea"/>
            </a:endParaRPr>
          </a:p>
        </p:txBody>
      </p:sp>
      <p:pic>
        <p:nvPicPr>
          <p:cNvPr id="7" name="图片 6" descr="工作簿1_Sheet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15110" y="2512695"/>
            <a:ext cx="3866515" cy="183451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8879840" y="5975985"/>
            <a:ext cx="11436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tx1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>Example</a:t>
            </a:r>
            <a:endParaRPr lang="en-US" altLang="zh-CN">
              <a:solidFill>
                <a:schemeClr val="tx1"/>
              </a:solidFill>
              <a:latin typeface="Times New Roman Regular" panose="02020603050405020304" charset="0"/>
              <a:cs typeface="Times New Roman Regular" panose="0202060305040502030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EE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/>
          <p:cNvSpPr/>
          <p:nvPr>
            <p:custDataLst>
              <p:tags r:id="rId1"/>
            </p:custDataLst>
          </p:nvPr>
        </p:nvSpPr>
        <p:spPr>
          <a:xfrm>
            <a:off x="358391" y="273818"/>
            <a:ext cx="11475218" cy="6310364"/>
          </a:xfrm>
          <a:prstGeom prst="roundRect">
            <a:avLst>
              <a:gd name="adj" fmla="val 6794"/>
            </a:avLst>
          </a:prstGeom>
          <a:solidFill>
            <a:srgbClr val="F6EEE0"/>
          </a:solidFill>
          <a:ln w="5715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6000">
                  <a:srgbClr val="F9FBFD">
                    <a:alpha val="0"/>
                  </a:srgbClr>
                </a:gs>
                <a:gs pos="44918">
                  <a:srgbClr val="FBFCFE">
                    <a:alpha val="0"/>
                  </a:srgbClr>
                </a:gs>
                <a:gs pos="74000">
                  <a:schemeClr val="bg1">
                    <a:alpha val="0"/>
                  </a:schemeClr>
                </a:gs>
                <a:gs pos="83000">
                  <a:schemeClr val="bg1">
                    <a:alpha val="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5400000" scaled="1"/>
            </a:gradFill>
          </a:ln>
          <a:effectLst>
            <a:outerShdw blurRad="1219200" dist="368300" dir="2700000" algn="tl" rotWithShape="0">
              <a:srgbClr val="FE9866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478155" y="434340"/>
            <a:ext cx="517461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>
                <a:solidFill>
                  <a:schemeClr val="accent2"/>
                </a:solidFill>
                <a:latin typeface="Times New Roman Bold" panose="02020603050405020304" charset="0"/>
                <a:ea typeface="汉仪大宋简" panose="02010600000101010101" pitchFamily="2" charset="-122"/>
                <a:cs typeface="Times New Roman Bold" panose="02020603050405020304" charset="0"/>
              </a:rPr>
              <a:t>Design and Methodology</a:t>
            </a:r>
            <a:endParaRPr lang="en-US" altLang="zh-CN" sz="3600" b="1">
              <a:solidFill>
                <a:schemeClr val="accent2"/>
              </a:solidFill>
              <a:latin typeface="Times New Roman Bold" panose="02020603050405020304" charset="0"/>
              <a:ea typeface="汉仪大宋简" panose="02010600000101010101" pitchFamily="2" charset="-122"/>
              <a:cs typeface="Times New Roman Bold" panose="02020603050405020304" charset="0"/>
            </a:endParaRPr>
          </a:p>
        </p:txBody>
      </p:sp>
      <p:pic>
        <p:nvPicPr>
          <p:cNvPr id="8" name="图片 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t="13452"/>
          <a:stretch>
            <a:fillRect/>
          </a:stretch>
        </p:blipFill>
        <p:spPr>
          <a:xfrm>
            <a:off x="478155" y="1198245"/>
            <a:ext cx="11324590" cy="385254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389255" y="4906645"/>
            <a:ext cx="11444605" cy="1245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500" b="1">
                <a:latin typeface="Times New Roman Bold" panose="02020603050405020304" charset="0"/>
                <a:cs typeface="Times New Roman Bold" panose="02020603050405020304" charset="0"/>
              </a:rPr>
              <a:t>    </a:t>
            </a:r>
            <a:r>
              <a:rPr lang="zh-CN" altLang="en-US" sz="1500" b="1">
                <a:solidFill>
                  <a:schemeClr val="accent2">
                    <a:lumMod val="75000"/>
                  </a:schemeClr>
                </a:solidFill>
                <a:latin typeface="Times New Roman Bold" panose="02020603050405020304" charset="0"/>
                <a:cs typeface="Times New Roman Bold" panose="02020603050405020304" charset="0"/>
              </a:rPr>
              <a:t>Requirement analysis</a:t>
            </a:r>
            <a:r>
              <a:rPr lang="zh-CN" altLang="en-US" sz="1500">
                <a:latin typeface="Times New Roman Regular" panose="02020603050405020304" charset="0"/>
                <a:cs typeface="Times New Roman Regular" panose="02020603050405020304" charset="0"/>
              </a:rPr>
              <a:t> serves as the starting point. By conducting research, it clarifies user needs and pain points, thus anchoring the direction for product development.</a:t>
            </a:r>
            <a:r>
              <a:rPr lang="en-US" altLang="zh-CN" sz="1500"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  <a:r>
              <a:rPr lang="zh-CN" altLang="en-US" sz="1500" b="1">
                <a:solidFill>
                  <a:schemeClr val="accent2">
                    <a:lumMod val="75000"/>
                  </a:schemeClr>
                </a:solidFill>
                <a:latin typeface="Times New Roman Bold" panose="02020603050405020304" charset="0"/>
                <a:cs typeface="Times New Roman Bold" panose="02020603050405020304" charset="0"/>
              </a:rPr>
              <a:t>Designing alternatives</a:t>
            </a:r>
            <a:r>
              <a:rPr lang="zh-CN" altLang="en-US" sz="1500">
                <a:solidFill>
                  <a:schemeClr val="accent2">
                    <a:lumMod val="75000"/>
                  </a:schemeClr>
                </a:solidFill>
                <a:latin typeface="Times New Roman Regular" panose="02020603050405020304" charset="0"/>
                <a:cs typeface="Times New Roman Regular" panose="02020603050405020304" charset="0"/>
              </a:rPr>
              <a:t>, </a:t>
            </a:r>
            <a:r>
              <a:rPr lang="zh-CN" altLang="en-US" sz="1500" b="1">
                <a:solidFill>
                  <a:schemeClr val="accent2">
                    <a:lumMod val="75000"/>
                  </a:schemeClr>
                </a:solidFill>
                <a:latin typeface="Times New Roman Bold" panose="02020603050405020304" charset="0"/>
                <a:cs typeface="Times New Roman Bold" panose="02020603050405020304" charset="0"/>
              </a:rPr>
              <a:t>prototype development</a:t>
            </a:r>
            <a:r>
              <a:rPr lang="zh-CN" altLang="en-US" sz="1500">
                <a:latin typeface="Times New Roman Regular" panose="02020603050405020304" charset="0"/>
                <a:cs typeface="Times New Roman Regular" panose="02020603050405020304" charset="0"/>
              </a:rPr>
              <a:t>, and </a:t>
            </a:r>
            <a:r>
              <a:rPr lang="zh-CN" altLang="en-US" sz="1500" b="1">
                <a:solidFill>
                  <a:schemeClr val="accent2">
                    <a:lumMod val="75000"/>
                  </a:schemeClr>
                </a:solidFill>
                <a:latin typeface="Times New Roman Bold" panose="02020603050405020304" charset="0"/>
                <a:cs typeface="Times New Roman Bold" panose="02020603050405020304" charset="0"/>
              </a:rPr>
              <a:t>evaluation form</a:t>
            </a:r>
            <a:r>
              <a:rPr lang="zh-CN" altLang="en-US" sz="1500">
                <a:latin typeface="Times New Roman Regular" panose="02020603050405020304" charset="0"/>
                <a:cs typeface="Times New Roman Regular" panose="02020603050405020304" charset="0"/>
              </a:rPr>
              <a:t> a coherent chain. Exploring multiple solutions, building prototypes, and conducting comprehensive evaluations help identify and solve problems continuously.</a:t>
            </a:r>
            <a:r>
              <a:rPr lang="en-US" altLang="zh-CN" sz="1500"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  <a:r>
              <a:rPr lang="zh-CN" altLang="en-US" sz="1500">
                <a:latin typeface="Times New Roman Regular" panose="02020603050405020304" charset="0"/>
                <a:cs typeface="Times New Roman Regular" panose="02020603050405020304" charset="0"/>
              </a:rPr>
              <a:t>The results of </a:t>
            </a:r>
            <a:r>
              <a:rPr lang="zh-CN" altLang="en-US" sz="1500" b="1">
                <a:solidFill>
                  <a:schemeClr val="accent2">
                    <a:lumMod val="75000"/>
                  </a:schemeClr>
                </a:solidFill>
                <a:latin typeface="Times New Roman Bold" panose="02020603050405020304" charset="0"/>
                <a:cs typeface="Times New Roman Bold" panose="02020603050405020304" charset="0"/>
              </a:rPr>
              <a:t>evaluation are fed back to the previous stages</a:t>
            </a:r>
            <a:r>
              <a:rPr lang="zh-CN" altLang="en-US" sz="1500">
                <a:solidFill>
                  <a:schemeClr val="accent2">
                    <a:lumMod val="75000"/>
                  </a:schemeClr>
                </a:solidFill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  <a:r>
              <a:rPr lang="zh-CN" altLang="en-US" sz="1500">
                <a:solidFill>
                  <a:schemeClr val="tx1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>for</a:t>
            </a:r>
            <a:r>
              <a:rPr lang="zh-CN" altLang="en-US" sz="1500">
                <a:solidFill>
                  <a:schemeClr val="accent2">
                    <a:lumMod val="75000"/>
                  </a:schemeClr>
                </a:solidFill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  <a:r>
              <a:rPr lang="zh-CN" altLang="en-US" sz="1500" b="1">
                <a:solidFill>
                  <a:schemeClr val="accent2">
                    <a:lumMod val="75000"/>
                  </a:schemeClr>
                </a:solidFill>
                <a:latin typeface="Times New Roman Bold" panose="02020603050405020304" charset="0"/>
                <a:cs typeface="Times New Roman Bold" panose="02020603050405020304" charset="0"/>
              </a:rPr>
              <a:t>cyclic</a:t>
            </a:r>
            <a:r>
              <a:rPr lang="zh-CN" altLang="en-US" sz="1500">
                <a:solidFill>
                  <a:schemeClr val="accent2">
                    <a:lumMod val="75000"/>
                  </a:schemeClr>
                </a:solidFill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  <a:r>
              <a:rPr lang="zh-CN" altLang="en-US" sz="1500" b="1">
                <a:solidFill>
                  <a:schemeClr val="accent2">
                    <a:lumMod val="75000"/>
                  </a:schemeClr>
                </a:solidFill>
                <a:latin typeface="Times New Roman Bold" panose="02020603050405020304" charset="0"/>
                <a:cs typeface="Times New Roman Bold" panose="02020603050405020304" charset="0"/>
              </a:rPr>
              <a:t>optimization</a:t>
            </a:r>
            <a:r>
              <a:rPr lang="zh-CN" altLang="en-US" sz="1500">
                <a:latin typeface="Times New Roman Regular" panose="02020603050405020304" charset="0"/>
                <a:cs typeface="Times New Roman Regular" panose="02020603050405020304" charset="0"/>
              </a:rPr>
              <a:t>. This enables the product to be refined step by step, resulting in a </a:t>
            </a:r>
            <a:r>
              <a:rPr lang="zh-CN" altLang="en-US" sz="1500" b="1">
                <a:solidFill>
                  <a:schemeClr val="accent2">
                    <a:lumMod val="75000"/>
                  </a:schemeClr>
                </a:solidFill>
                <a:latin typeface="Times New Roman Bold" panose="02020603050405020304" charset="0"/>
                <a:cs typeface="Times New Roman Bold" panose="02020603050405020304" charset="0"/>
              </a:rPr>
              <a:t>final product</a:t>
            </a:r>
            <a:r>
              <a:rPr lang="zh-CN" altLang="en-US" sz="1500">
                <a:latin typeface="Times New Roman Regular" panose="02020603050405020304" charset="0"/>
                <a:cs typeface="Times New Roman Regular" panose="02020603050405020304" charset="0"/>
              </a:rPr>
              <a:t> that meets the needs of the market and users.</a:t>
            </a:r>
            <a:endParaRPr lang="zh-CN" altLang="en-US" sz="1500">
              <a:latin typeface="Times New Roman Regular" panose="02020603050405020304" charset="0"/>
              <a:cs typeface="Times New Roman Regular" panose="02020603050405020304" charset="0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478155" y="1198245"/>
            <a:ext cx="1577975" cy="520065"/>
            <a:chOff x="-2649" y="1887"/>
            <a:chExt cx="2485" cy="819"/>
          </a:xfrm>
        </p:grpSpPr>
        <p:sp>
          <p:nvSpPr>
            <p:cNvPr id="43" name="矩形: 圆角 9"/>
            <p:cNvSpPr/>
            <p:nvPr>
              <p:custDataLst>
                <p:tags r:id="rId4"/>
              </p:custDataLst>
            </p:nvPr>
          </p:nvSpPr>
          <p:spPr>
            <a:xfrm>
              <a:off x="-2649" y="1887"/>
              <a:ext cx="2485" cy="819"/>
            </a:xfrm>
            <a:prstGeom prst="roundRect">
              <a:avLst>
                <a:gd name="adj" fmla="val 50000"/>
              </a:avLst>
            </a:prstGeom>
            <a:solidFill>
              <a:srgbClr val="FBA97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dirty="0">
                <a:latin typeface="思源黑体 CN Heavy" panose="020B0A00000000000000" pitchFamily="34" charset="-122"/>
                <a:ea typeface="思源黑体 CN Heavy" panose="020B0A00000000000000" pitchFamily="34" charset="-122"/>
              </a:endParaRPr>
            </a:p>
          </p:txBody>
        </p:sp>
        <p:sp>
          <p:nvSpPr>
            <p:cNvPr id="48" name="文本框 47"/>
            <p:cNvSpPr txBox="1"/>
            <p:nvPr>
              <p:custDataLst>
                <p:tags r:id="rId5"/>
              </p:custDataLst>
            </p:nvPr>
          </p:nvSpPr>
          <p:spPr>
            <a:xfrm>
              <a:off x="-2389" y="1976"/>
              <a:ext cx="2155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2000" b="1">
                  <a:solidFill>
                    <a:schemeClr val="bg1"/>
                  </a:solidFill>
                  <a:latin typeface="Times New Roman Bold" panose="02020603050405020304" charset="0"/>
                  <a:ea typeface="汉仪大宋简" panose="02010600000101010101" pitchFamily="2" charset="-122"/>
                  <a:cs typeface="Times New Roman Bold" panose="02020603050405020304" charset="0"/>
                </a:rPr>
                <a:t>Workflow</a:t>
              </a:r>
              <a:endParaRPr lang="en-US" altLang="zh-CN" sz="2000" b="1">
                <a:solidFill>
                  <a:schemeClr val="bg1"/>
                </a:solidFill>
                <a:latin typeface="Times New Roman Bold" panose="02020603050405020304" charset="0"/>
                <a:ea typeface="汉仪大宋简" panose="02010600000101010101" pitchFamily="2" charset="-122"/>
                <a:cs typeface="Times New Roman Bold" panose="02020603050405020304" charset="0"/>
              </a:endParaRPr>
            </a:p>
          </p:txBody>
        </p:sp>
      </p:grpSp>
      <p:sp>
        <p:nvSpPr>
          <p:cNvPr id="47" name="矩形: 圆角 9"/>
          <p:cNvSpPr/>
          <p:nvPr>
            <p:custDataLst>
              <p:tags r:id="rId6"/>
            </p:custDataLst>
          </p:nvPr>
        </p:nvSpPr>
        <p:spPr>
          <a:xfrm>
            <a:off x="5988685" y="778510"/>
            <a:ext cx="2016125" cy="520065"/>
          </a:xfrm>
          <a:prstGeom prst="roundRect">
            <a:avLst>
              <a:gd name="adj" fmla="val 50000"/>
            </a:avLst>
          </a:prstGeom>
          <a:solidFill>
            <a:srgbClr val="FBA97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Id7"/>
            </p:custDataLst>
          </p:nvPr>
        </p:nvSpPr>
        <p:spPr>
          <a:xfrm>
            <a:off x="6197600" y="835025"/>
            <a:ext cx="180721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>
                <a:solidFill>
                  <a:schemeClr val="bg1"/>
                </a:solidFill>
                <a:latin typeface="Times New Roman Bold" panose="02020603050405020304" charset="0"/>
                <a:ea typeface="汉仪大宋简" panose="02010600000101010101" pitchFamily="2" charset="-122"/>
                <a:cs typeface="Times New Roman Bold" panose="02020603050405020304" charset="0"/>
              </a:rPr>
              <a:t>Target U</a:t>
            </a:r>
            <a:r>
              <a:rPr lang="en-US" altLang="zh-CN" sz="2000" b="1">
                <a:solidFill>
                  <a:schemeClr val="bg1"/>
                </a:solidFill>
                <a:latin typeface="Times New Roman Bold" panose="02020603050405020304" charset="0"/>
                <a:ea typeface="汉仪大宋简" panose="02010600000101010101" pitchFamily="2" charset="-122"/>
                <a:cs typeface="Times New Roman Bold" panose="02020603050405020304" charset="0"/>
              </a:rPr>
              <a:t>sers</a:t>
            </a:r>
            <a:endParaRPr lang="en-US" altLang="zh-CN" sz="2000" b="1">
              <a:solidFill>
                <a:schemeClr val="bg1"/>
              </a:solidFill>
              <a:latin typeface="Times New Roman Bold" panose="02020603050405020304" charset="0"/>
              <a:ea typeface="汉仪大宋简" panose="02010600000101010101" pitchFamily="2" charset="-122"/>
              <a:cs typeface="Times New Roman Bold" panose="0202060305040502030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077835" y="778510"/>
            <a:ext cx="4064000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500" b="1">
                <a:solidFill>
                  <a:schemeClr val="accent2">
                    <a:lumMod val="75000"/>
                  </a:schemeClr>
                </a:solidFill>
                <a:latin typeface="Times New Roman Bold" panose="02020603050405020304" charset="0"/>
                <a:cs typeface="Times New Roman Bold" panose="02020603050405020304" charset="0"/>
              </a:rPr>
              <a:t>College students and middle-aged groups lacking self-discipline</a:t>
            </a:r>
            <a:endParaRPr lang="zh-CN" altLang="en-US" sz="1500" b="1">
              <a:solidFill>
                <a:schemeClr val="accent2">
                  <a:lumMod val="75000"/>
                </a:schemeClr>
              </a:solidFill>
              <a:latin typeface="Times New Roman Bold" panose="02020603050405020304" charset="0"/>
              <a:cs typeface="Times New Roman Bold" panose="0202060305040502030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EE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/>
          <p:cNvSpPr/>
          <p:nvPr>
            <p:custDataLst>
              <p:tags r:id="rId4"/>
            </p:custDataLst>
          </p:nvPr>
        </p:nvSpPr>
        <p:spPr>
          <a:xfrm>
            <a:off x="358391" y="273818"/>
            <a:ext cx="11475218" cy="6310364"/>
          </a:xfrm>
          <a:prstGeom prst="roundRect">
            <a:avLst>
              <a:gd name="adj" fmla="val 6794"/>
            </a:avLst>
          </a:prstGeom>
          <a:solidFill>
            <a:srgbClr val="F6EEE0"/>
          </a:solidFill>
          <a:ln w="5715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6000">
                  <a:srgbClr val="F9FBFD">
                    <a:alpha val="0"/>
                  </a:srgbClr>
                </a:gs>
                <a:gs pos="44918">
                  <a:srgbClr val="FBFCFE">
                    <a:alpha val="0"/>
                  </a:srgbClr>
                </a:gs>
                <a:gs pos="74000">
                  <a:schemeClr val="bg1">
                    <a:alpha val="0"/>
                  </a:schemeClr>
                </a:gs>
                <a:gs pos="83000">
                  <a:schemeClr val="bg1">
                    <a:alpha val="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5400000" scaled="1"/>
            </a:gradFill>
          </a:ln>
          <a:effectLst>
            <a:outerShdw blurRad="1219200" dist="368300" dir="2700000" algn="tl" rotWithShape="0">
              <a:srgbClr val="FE9866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478155" y="370840"/>
            <a:ext cx="740791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>
                <a:solidFill>
                  <a:schemeClr val="accent2"/>
                </a:solidFill>
                <a:latin typeface="Times New Roman Bold" panose="02020603050405020304" charset="0"/>
                <a:ea typeface="汉仪大宋简" panose="02010600000101010101" pitchFamily="2" charset="-122"/>
                <a:cs typeface="Times New Roman Bold" panose="02020603050405020304" charset="0"/>
              </a:rPr>
              <a:t>Require A</a:t>
            </a:r>
            <a:r>
              <a:rPr lang="en-US" altLang="zh-CN" sz="3600" b="1">
                <a:solidFill>
                  <a:schemeClr val="accent2"/>
                </a:solidFill>
                <a:latin typeface="Times New Roman Bold" panose="02020603050405020304" charset="0"/>
                <a:ea typeface="汉仪大宋简" panose="02010600000101010101" pitchFamily="2" charset="-122"/>
                <a:cs typeface="Times New Roman Bold" panose="02020603050405020304" charset="0"/>
              </a:rPr>
              <a:t>nalysis</a:t>
            </a:r>
            <a:endParaRPr lang="en-US" altLang="zh-CN" sz="3600" b="1">
              <a:solidFill>
                <a:schemeClr val="accent2"/>
              </a:solidFill>
              <a:latin typeface="Times New Roman Bold" panose="02020603050405020304" charset="0"/>
              <a:ea typeface="汉仪大宋简" panose="02010600000101010101" pitchFamily="2" charset="-122"/>
              <a:cs typeface="Times New Roman Bold" panose="0202060305040502030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034790" y="559435"/>
            <a:ext cx="7698740" cy="321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1500" b="1">
                <a:latin typeface="Times New Roman Bold" panose="02020603050405020304" charset="0"/>
                <a:cs typeface="Times New Roman Bold" panose="02020603050405020304" charset="0"/>
              </a:rPr>
              <a:t>An online survey with both open-end and closed-end questions and received 70 valid results.</a:t>
            </a:r>
            <a:endParaRPr lang="zh-CN" altLang="en-US" sz="1500" b="1">
              <a:latin typeface="Times New Roman Bold" panose="02020603050405020304" charset="0"/>
              <a:cs typeface="Times New Roman Bold" panose="02020603050405020304" charset="0"/>
            </a:endParaRPr>
          </a:p>
        </p:txBody>
      </p:sp>
      <p:graphicFrame>
        <p:nvGraphicFramePr>
          <p:cNvPr id="17" name="图表 16"/>
          <p:cNvGraphicFramePr/>
          <p:nvPr>
            <p:custDataLst>
              <p:tags r:id="rId5"/>
            </p:custDataLst>
          </p:nvPr>
        </p:nvGraphicFramePr>
        <p:xfrm>
          <a:off x="597535" y="1132840"/>
          <a:ext cx="5639435" cy="15373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18" name="图表 17"/>
          <p:cNvGraphicFramePr/>
          <p:nvPr>
            <p:custDataLst>
              <p:tags r:id="rId6"/>
            </p:custDataLst>
          </p:nvPr>
        </p:nvGraphicFramePr>
        <p:xfrm>
          <a:off x="597535" y="2658745"/>
          <a:ext cx="6614160" cy="17157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9" name="图表 18"/>
          <p:cNvGraphicFramePr/>
          <p:nvPr>
            <p:custDataLst>
              <p:tags r:id="rId7"/>
            </p:custDataLst>
          </p:nvPr>
        </p:nvGraphicFramePr>
        <p:xfrm>
          <a:off x="597535" y="4342765"/>
          <a:ext cx="6892925" cy="2092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28" name="图片 27" descr="图片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67500" y="1016000"/>
            <a:ext cx="5504180" cy="266636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526655" y="3583940"/>
            <a:ext cx="4206875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500">
                <a:latin typeface="Times New Roman Regular" panose="02020603050405020304" charset="0"/>
                <a:cs typeface="Times New Roman Regular" panose="02020603050405020304" charset="0"/>
              </a:rPr>
              <a:t>    </a:t>
            </a:r>
            <a:r>
              <a:rPr lang="zh-CN" altLang="en-US" sz="1500">
                <a:latin typeface="Times New Roman Regular" panose="02020603050405020304" charset="0"/>
                <a:cs typeface="Times New Roman Regular" panose="02020603050405020304" charset="0"/>
              </a:rPr>
              <a:t>In trip planning, the bar chart shows high demand for </a:t>
            </a:r>
            <a:r>
              <a:rPr lang="zh-CN" altLang="en-US" sz="1500" b="1">
                <a:solidFill>
                  <a:schemeClr val="accent2">
                    <a:lumMod val="75000"/>
                  </a:schemeClr>
                </a:solidFill>
                <a:latin typeface="Times New Roman Bold" panose="02020603050405020304" charset="0"/>
                <a:cs typeface="Times New Roman Bold" panose="02020603050405020304" charset="0"/>
              </a:rPr>
              <a:t>daily schedule</a:t>
            </a:r>
            <a:r>
              <a:rPr lang="zh-CN" altLang="en-US" sz="1500">
                <a:latin typeface="Times New Roman Regular" panose="02020603050405020304" charset="0"/>
                <a:cs typeface="Times New Roman Regular" panose="02020603050405020304" charset="0"/>
              </a:rPr>
              <a:t> and </a:t>
            </a:r>
            <a:r>
              <a:rPr lang="zh-CN" altLang="en-US" sz="1500" b="1">
                <a:solidFill>
                  <a:schemeClr val="accent2">
                    <a:lumMod val="75000"/>
                  </a:schemeClr>
                </a:solidFill>
                <a:latin typeface="Times New Roman Bold" panose="02020603050405020304" charset="0"/>
                <a:cs typeface="Times New Roman Bold" panose="02020603050405020304" charset="0"/>
              </a:rPr>
              <a:t>travel route planning</a:t>
            </a:r>
            <a:r>
              <a:rPr lang="zh-CN" altLang="en-US" sz="1500">
                <a:latin typeface="Times New Roman Regular" panose="02020603050405020304" charset="0"/>
                <a:cs typeface="Times New Roman Regular" panose="02020603050405020304" charset="0"/>
              </a:rPr>
              <a:t>, indicating users want smart Butlers to help organize travel efficiently.</a:t>
            </a:r>
            <a:endParaRPr lang="zh-CN" altLang="en-US" sz="1500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r>
              <a:rPr lang="zh-CN" altLang="en-US" sz="1500"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  <a:r>
              <a:rPr lang="en-US" altLang="zh-CN" sz="1500">
                <a:latin typeface="Times New Roman Regular" panose="02020603050405020304" charset="0"/>
                <a:cs typeface="Times New Roman Regular" panose="02020603050405020304" charset="0"/>
              </a:rPr>
              <a:t>   </a:t>
            </a:r>
            <a:r>
              <a:rPr lang="zh-CN" altLang="en-US" sz="1500">
                <a:latin typeface="Times New Roman Regular" panose="02020603050405020304" charset="0"/>
                <a:cs typeface="Times New Roman Regular" panose="02020603050405020304" charset="0"/>
              </a:rPr>
              <a:t>The bar chart on decision support reveals a strong need for </a:t>
            </a:r>
            <a:r>
              <a:rPr lang="zh-CN" altLang="en-US" sz="1500" b="1">
                <a:solidFill>
                  <a:schemeClr val="accent2">
                    <a:lumMod val="75000"/>
                  </a:schemeClr>
                </a:solidFill>
                <a:latin typeface="Times New Roman Bold" panose="02020603050405020304" charset="0"/>
                <a:cs typeface="Times New Roman Bold" panose="02020603050405020304" charset="0"/>
              </a:rPr>
              <a:t>health management</a:t>
            </a:r>
            <a:r>
              <a:rPr lang="zh-CN" altLang="en-US" sz="1500">
                <a:latin typeface="Times New Roman Regular" panose="02020603050405020304" charset="0"/>
                <a:cs typeface="Times New Roman Regular" panose="02020603050405020304" charset="0"/>
              </a:rPr>
              <a:t>, highlighting users' eagerness for professional health - related advice. </a:t>
            </a:r>
            <a:endParaRPr lang="zh-CN" altLang="en-US" sz="1500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r>
              <a:rPr lang="en-US" altLang="zh-CN" sz="1500">
                <a:latin typeface="Times New Roman Regular" panose="02020603050405020304" charset="0"/>
                <a:cs typeface="Times New Roman Regular" panose="02020603050405020304" charset="0"/>
              </a:rPr>
              <a:t>    </a:t>
            </a:r>
            <a:r>
              <a:rPr lang="zh-CN" altLang="en-US" sz="1500">
                <a:latin typeface="Times New Roman Regular" panose="02020603050405020304" charset="0"/>
                <a:cs typeface="Times New Roman Regular" panose="02020603050405020304" charset="0"/>
              </a:rPr>
              <a:t>The word cloud emphasizes terms like "DAILY SCHEDULE", "FUNCTIONAL DIVERSITY", and "ACCURACY OF ALGORITHM", suggesting users expect </a:t>
            </a:r>
            <a:r>
              <a:rPr lang="zh-CN" altLang="en-US" sz="1500" b="1">
                <a:solidFill>
                  <a:schemeClr val="accent2">
                    <a:lumMod val="75000"/>
                  </a:schemeClr>
                </a:solidFill>
                <a:latin typeface="Times New Roman Bold" panose="02020603050405020304" charset="0"/>
                <a:cs typeface="Times New Roman Bold" panose="02020603050405020304" charset="0"/>
              </a:rPr>
              <a:t>smart Butlers with diverse, accurate-performing features</a:t>
            </a:r>
            <a:r>
              <a:rPr lang="zh-CN" altLang="en-US" sz="1500">
                <a:latin typeface="Times New Roman Regular" panose="02020603050405020304" charset="0"/>
                <a:cs typeface="Times New Roman Regular" panose="02020603050405020304" charset="0"/>
              </a:rPr>
              <a:t> for good service. </a:t>
            </a:r>
            <a:endParaRPr lang="zh-CN" altLang="en-US" sz="1500">
              <a:latin typeface="Times New Roman Regular" panose="02020603050405020304" charset="0"/>
              <a:cs typeface="Times New Roman Regular" panose="0202060305040502030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EE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/>
          <p:cNvSpPr/>
          <p:nvPr>
            <p:custDataLst>
              <p:tags r:id="rId4"/>
            </p:custDataLst>
          </p:nvPr>
        </p:nvSpPr>
        <p:spPr>
          <a:xfrm>
            <a:off x="358391" y="273818"/>
            <a:ext cx="11475218" cy="6310364"/>
          </a:xfrm>
          <a:prstGeom prst="roundRect">
            <a:avLst>
              <a:gd name="adj" fmla="val 6794"/>
            </a:avLst>
          </a:prstGeom>
          <a:solidFill>
            <a:srgbClr val="F6EEE0"/>
          </a:solidFill>
          <a:ln w="5715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6000">
                  <a:srgbClr val="F9FBFD">
                    <a:alpha val="0"/>
                  </a:srgbClr>
                </a:gs>
                <a:gs pos="44918">
                  <a:srgbClr val="FBFCFE">
                    <a:alpha val="0"/>
                  </a:srgbClr>
                </a:gs>
                <a:gs pos="74000">
                  <a:schemeClr val="bg1">
                    <a:alpha val="0"/>
                  </a:schemeClr>
                </a:gs>
                <a:gs pos="83000">
                  <a:schemeClr val="bg1">
                    <a:alpha val="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5400000" scaled="1"/>
            </a:gradFill>
          </a:ln>
          <a:effectLst>
            <a:outerShdw blurRad="1219200" dist="368300" dir="2700000" algn="tl" rotWithShape="0">
              <a:srgbClr val="FE9866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478155" y="370840"/>
            <a:ext cx="740791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>
                <a:solidFill>
                  <a:schemeClr val="accent2"/>
                </a:solidFill>
                <a:latin typeface="Times New Roman Bold" panose="02020603050405020304" charset="0"/>
                <a:ea typeface="汉仪大宋简" panose="02010600000101010101" pitchFamily="2" charset="-122"/>
                <a:cs typeface="Times New Roman Bold" panose="02020603050405020304" charset="0"/>
              </a:rPr>
              <a:t>Require A</a:t>
            </a:r>
            <a:r>
              <a:rPr lang="en-US" altLang="zh-CN" sz="3600" b="1">
                <a:solidFill>
                  <a:schemeClr val="accent2"/>
                </a:solidFill>
                <a:latin typeface="Times New Roman Bold" panose="02020603050405020304" charset="0"/>
                <a:ea typeface="汉仪大宋简" panose="02010600000101010101" pitchFamily="2" charset="-122"/>
                <a:cs typeface="Times New Roman Bold" panose="02020603050405020304" charset="0"/>
              </a:rPr>
              <a:t>nalysis</a:t>
            </a:r>
            <a:endParaRPr lang="en-US" altLang="zh-CN" sz="3600" b="1">
              <a:solidFill>
                <a:schemeClr val="accent2"/>
              </a:solidFill>
              <a:latin typeface="Times New Roman Bold" panose="02020603050405020304" charset="0"/>
              <a:ea typeface="汉仪大宋简" panose="02010600000101010101" pitchFamily="2" charset="-122"/>
              <a:cs typeface="Times New Roman Bold" panose="0202060305040502030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183380" y="559435"/>
            <a:ext cx="7651115" cy="321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1500" b="1">
                <a:latin typeface="Times New Roman Bold" panose="02020603050405020304" charset="0"/>
                <a:cs typeface="Times New Roman Bold" panose="02020603050405020304" charset="0"/>
              </a:rPr>
              <a:t>An online survey with both open-end and closed-end questions and received 70 valid results.</a:t>
            </a:r>
            <a:endParaRPr lang="zh-CN" altLang="en-US" sz="1500" b="1">
              <a:latin typeface="Times New Roman Bold" panose="02020603050405020304" charset="0"/>
              <a:cs typeface="Times New Roman Bold" panose="02020603050405020304" charset="0"/>
            </a:endParaRPr>
          </a:p>
        </p:txBody>
      </p:sp>
      <p:pic>
        <p:nvPicPr>
          <p:cNvPr id="25" name="图片 24" descr="演示文稿1_00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657860" y="1016635"/>
            <a:ext cx="5656580" cy="3181985"/>
          </a:xfrm>
          <a:prstGeom prst="rect">
            <a:avLst/>
          </a:prstGeom>
        </p:spPr>
      </p:pic>
      <p:graphicFrame>
        <p:nvGraphicFramePr>
          <p:cNvPr id="7" name="图表 6"/>
          <p:cNvGraphicFramePr/>
          <p:nvPr>
            <p:custDataLst>
              <p:tags r:id="rId7"/>
            </p:custDataLst>
          </p:nvPr>
        </p:nvGraphicFramePr>
        <p:xfrm>
          <a:off x="6393815" y="4058920"/>
          <a:ext cx="2604135" cy="24644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8" name="图表 7"/>
          <p:cNvGraphicFramePr/>
          <p:nvPr>
            <p:custDataLst>
              <p:tags r:id="rId8"/>
            </p:custDataLst>
          </p:nvPr>
        </p:nvGraphicFramePr>
        <p:xfrm>
          <a:off x="3593465" y="4058920"/>
          <a:ext cx="2700655" cy="24650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图表 2"/>
          <p:cNvGraphicFramePr/>
          <p:nvPr>
            <p:custDataLst>
              <p:tags r:id="rId9"/>
            </p:custDataLst>
          </p:nvPr>
        </p:nvGraphicFramePr>
        <p:xfrm>
          <a:off x="9043670" y="4058285"/>
          <a:ext cx="2603500" cy="24657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6568440" y="1393190"/>
            <a:ext cx="5078095" cy="21685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500">
                <a:latin typeface="Times New Roman Regular" panose="02020603050405020304" charset="0"/>
                <a:cs typeface="Times New Roman Regular" panose="02020603050405020304" charset="0"/>
              </a:rPr>
              <a:t>    </a:t>
            </a:r>
            <a:r>
              <a:rPr lang="zh-CN" altLang="en-US" sz="1500">
                <a:latin typeface="Times New Roman Regular" panose="02020603050405020304" charset="0"/>
                <a:cs typeface="Times New Roman Regular" panose="02020603050405020304" charset="0"/>
              </a:rPr>
              <a:t>As a digital nomad, Alex can't maintain </a:t>
            </a:r>
            <a:r>
              <a:rPr lang="zh-CN" altLang="en-US" sz="1500" b="1">
                <a:solidFill>
                  <a:schemeClr val="accent2">
                    <a:lumMod val="75000"/>
                  </a:schemeClr>
                </a:solidFill>
                <a:latin typeface="Times New Roman Bold" panose="02020603050405020304" charset="0"/>
                <a:cs typeface="Times New Roman Bold" panose="02020603050405020304" charset="0"/>
              </a:rPr>
              <a:t>healthy eating</a:t>
            </a:r>
            <a:r>
              <a:rPr lang="zh-CN" altLang="en-US" sz="1500">
                <a:latin typeface="Times New Roman Regular" panose="02020603050405020304" charset="0"/>
                <a:cs typeface="Times New Roman Regular" panose="02020603050405020304" charset="0"/>
              </a:rPr>
              <a:t> while traveling. His need for </a:t>
            </a:r>
            <a:r>
              <a:rPr lang="zh-CN" altLang="en-US" sz="1500" b="1">
                <a:solidFill>
                  <a:schemeClr val="accent2">
                    <a:lumMod val="75000"/>
                  </a:schemeClr>
                </a:solidFill>
                <a:latin typeface="Times New Roman Bold" panose="02020603050405020304" charset="0"/>
                <a:cs typeface="Times New Roman Bold" panose="02020603050405020304" charset="0"/>
              </a:rPr>
              <a:t>better nutrition</a:t>
            </a:r>
            <a:r>
              <a:rPr lang="zh-CN" altLang="en-US" sz="1500" b="1">
                <a:latin typeface="Times New Roman Bold" panose="02020603050405020304" charset="0"/>
                <a:cs typeface="Times New Roman Bold" panose="02020603050405020304" charset="0"/>
              </a:rPr>
              <a:t> </a:t>
            </a:r>
            <a:r>
              <a:rPr lang="zh-CN" altLang="en-US" sz="1500" b="1">
                <a:solidFill>
                  <a:schemeClr val="accent2">
                    <a:lumMod val="75000"/>
                  </a:schemeClr>
                </a:solidFill>
                <a:latin typeface="Times New Roman Bold" panose="02020603050405020304" charset="0"/>
                <a:cs typeface="Times New Roman Bold" panose="02020603050405020304" charset="0"/>
              </a:rPr>
              <a:t>without sacrificing flexibility</a:t>
            </a:r>
            <a:r>
              <a:rPr lang="zh-CN" altLang="en-US" sz="1500">
                <a:latin typeface="Times New Roman Regular" panose="02020603050405020304" charset="0"/>
                <a:cs typeface="Times New Roman Regular" panose="02020603050405020304" charset="0"/>
              </a:rPr>
              <a:t> shows the demand for Aiva app's </a:t>
            </a:r>
            <a:r>
              <a:rPr lang="zh-CN" altLang="en-US" sz="1500" b="1">
                <a:solidFill>
                  <a:schemeClr val="accent2">
                    <a:lumMod val="75000"/>
                  </a:schemeClr>
                </a:solidFill>
                <a:latin typeface="Times New Roman Bold" panose="02020603050405020304" charset="0"/>
                <a:cs typeface="Times New Roman Bold" panose="02020603050405020304" charset="0"/>
              </a:rPr>
              <a:t>personalized diets</a:t>
            </a:r>
            <a:r>
              <a:rPr lang="zh-CN" altLang="en-US" sz="1500">
                <a:latin typeface="Times New Roman Regular" panose="02020603050405020304" charset="0"/>
                <a:cs typeface="Times New Roman Regular" panose="02020603050405020304" charset="0"/>
              </a:rPr>
              <a:t>.</a:t>
            </a:r>
            <a:endParaRPr lang="zh-CN" altLang="en-US" sz="1500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r>
              <a:rPr lang="zh-CN" altLang="en-US" sz="1500">
                <a:latin typeface="Times New Roman Regular" panose="02020603050405020304" charset="0"/>
                <a:cs typeface="Times New Roman Regular" panose="02020603050405020304" charset="0"/>
              </a:rPr>
              <a:t>Alex wants balanced meals and local healthy food. Aiva app's </a:t>
            </a:r>
            <a:r>
              <a:rPr lang="zh-CN" altLang="en-US" sz="1500" b="1">
                <a:solidFill>
                  <a:schemeClr val="accent2">
                    <a:lumMod val="75000"/>
                  </a:schemeClr>
                </a:solidFill>
                <a:latin typeface="Times New Roman Bold" panose="02020603050405020304" charset="0"/>
                <a:cs typeface="Times New Roman Bold" panose="02020603050405020304" charset="0"/>
              </a:rPr>
              <a:t>dietary recs and schedule integration</a:t>
            </a:r>
            <a:r>
              <a:rPr lang="zh-CN" altLang="en-US" sz="1500">
                <a:latin typeface="Times New Roman Regular" panose="02020603050405020304" charset="0"/>
                <a:cs typeface="Times New Roman Regular" panose="02020603050405020304" charset="0"/>
              </a:rPr>
              <a:t> can meet his healthy - eating needs in various situations.</a:t>
            </a:r>
            <a:endParaRPr lang="zh-CN" altLang="en-US" sz="1500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r>
              <a:rPr lang="en-US" altLang="zh-CN" sz="1500">
                <a:latin typeface="Times New Roman Regular" panose="02020603050405020304" charset="0"/>
                <a:cs typeface="Times New Roman Regular" panose="02020603050405020304" charset="0"/>
              </a:rPr>
              <a:t>    </a:t>
            </a:r>
            <a:r>
              <a:rPr lang="zh-CN" altLang="en-US" sz="1500">
                <a:latin typeface="Times New Roman Regular" panose="02020603050405020304" charset="0"/>
                <a:cs typeface="Times New Roman Regular" panose="02020603050405020304" charset="0"/>
              </a:rPr>
              <a:t>Facing challenges, Alex can benefit from Aiva app's </a:t>
            </a:r>
            <a:r>
              <a:rPr lang="zh-CN" altLang="en-US" sz="1500" b="1">
                <a:solidFill>
                  <a:schemeClr val="accent2">
                    <a:lumMod val="75000"/>
                  </a:schemeClr>
                </a:solidFill>
                <a:latin typeface="Times New Roman Bold" panose="02020603050405020304" charset="0"/>
                <a:cs typeface="Times New Roman Bold" panose="02020603050405020304" charset="0"/>
              </a:rPr>
              <a:t>decision - support and progress - tracking</a:t>
            </a:r>
            <a:r>
              <a:rPr lang="zh-CN" altLang="en-US" sz="1500">
                <a:latin typeface="Times New Roman Regular" panose="02020603050405020304" charset="0"/>
                <a:cs typeface="Times New Roman Regular" panose="02020603050405020304" charset="0"/>
              </a:rPr>
              <a:t> to make healthy choices, proving the app's importance.</a:t>
            </a:r>
            <a:endParaRPr lang="zh-CN" altLang="en-US" sz="1500">
              <a:latin typeface="Times New Roman Regular" panose="02020603050405020304" charset="0"/>
              <a:cs typeface="Times New Roman Regular" panose="02020603050405020304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83235" y="4215130"/>
            <a:ext cx="3094355" cy="21685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500">
                <a:latin typeface="Times New Roman Regular" panose="02020603050405020304" charset="0"/>
                <a:cs typeface="Times New Roman Regular" panose="02020603050405020304" charset="0"/>
              </a:rPr>
              <a:t>    </a:t>
            </a:r>
            <a:r>
              <a:rPr lang="zh-CN" altLang="en-US" sz="1500">
                <a:latin typeface="Times New Roman Regular" panose="02020603050405020304" charset="0"/>
                <a:cs typeface="Times New Roman Regular" panose="02020603050405020304" charset="0"/>
              </a:rPr>
              <a:t>The pie charts show that over half care about healthy diets, most need occasional help with </a:t>
            </a:r>
            <a:r>
              <a:rPr lang="zh-CN" altLang="en-US" sz="1500" b="1">
                <a:solidFill>
                  <a:schemeClr val="accent2">
                    <a:lumMod val="75000"/>
                  </a:schemeClr>
                </a:solidFill>
                <a:latin typeface="Times New Roman Bold" panose="02020603050405020304" charset="0"/>
                <a:cs typeface="Times New Roman Bold" panose="02020603050405020304" charset="0"/>
              </a:rPr>
              <a:t>daily decisions</a:t>
            </a:r>
            <a:r>
              <a:rPr lang="zh-CN" altLang="en-US" sz="1500">
                <a:latin typeface="Times New Roman Regular" panose="02020603050405020304" charset="0"/>
                <a:cs typeface="Times New Roman Regular" panose="02020603050405020304" charset="0"/>
              </a:rPr>
              <a:t>, and the majority either often or occasionally plan their </a:t>
            </a:r>
            <a:r>
              <a:rPr lang="zh-CN" altLang="en-US" sz="1500" b="1">
                <a:solidFill>
                  <a:schemeClr val="accent2">
                    <a:lumMod val="75000"/>
                  </a:schemeClr>
                </a:solidFill>
                <a:latin typeface="Times New Roman Bold" panose="02020603050405020304" charset="0"/>
                <a:cs typeface="Times New Roman Bold" panose="02020603050405020304" charset="0"/>
              </a:rPr>
              <a:t>daily itineraries</a:t>
            </a:r>
            <a:r>
              <a:rPr lang="zh-CN" altLang="en-US" sz="1500">
                <a:latin typeface="Times New Roman Regular" panose="02020603050405020304" charset="0"/>
                <a:cs typeface="Times New Roman Regular" panose="02020603050405020304" charset="0"/>
              </a:rPr>
              <a:t>, indicating varied yet significant demands for </a:t>
            </a:r>
            <a:r>
              <a:rPr lang="zh-CN" altLang="en-US" sz="1500" b="1">
                <a:solidFill>
                  <a:schemeClr val="accent2">
                    <a:lumMod val="75000"/>
                  </a:schemeClr>
                </a:solidFill>
                <a:latin typeface="Times New Roman Bold" panose="02020603050405020304" charset="0"/>
                <a:cs typeface="Times New Roman Bold" panose="02020603050405020304" charset="0"/>
              </a:rPr>
              <a:t>health - related attention</a:t>
            </a:r>
            <a:r>
              <a:rPr lang="zh-CN" altLang="en-US" sz="1500">
                <a:latin typeface="Times New Roman Regular" panose="02020603050405020304" charset="0"/>
                <a:cs typeface="Times New Roman Regular" panose="02020603050405020304" charset="0"/>
              </a:rPr>
              <a:t> and </a:t>
            </a:r>
            <a:r>
              <a:rPr lang="zh-CN" altLang="en-US" sz="1500" b="1">
                <a:solidFill>
                  <a:schemeClr val="accent2">
                    <a:lumMod val="75000"/>
                  </a:schemeClr>
                </a:solidFill>
                <a:latin typeface="Times New Roman Bold" panose="02020603050405020304" charset="0"/>
                <a:cs typeface="Times New Roman Bold" panose="02020603050405020304" charset="0"/>
              </a:rPr>
              <a:t>organizational assistance</a:t>
            </a:r>
            <a:r>
              <a:rPr lang="zh-CN" altLang="en-US" sz="1500">
                <a:latin typeface="Times New Roman Regular" panose="02020603050405020304" charset="0"/>
                <a:cs typeface="Times New Roman Regular" panose="02020603050405020304" charset="0"/>
              </a:rPr>
              <a:t> in daily life. </a:t>
            </a:r>
            <a:endParaRPr lang="zh-CN" altLang="en-US" sz="1500">
              <a:latin typeface="Times New Roman Regular" panose="02020603050405020304" charset="0"/>
              <a:cs typeface="Times New Roman Regular" panose="0202060305040502030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EE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/>
          <p:cNvSpPr/>
          <p:nvPr>
            <p:custDataLst>
              <p:tags r:id="rId1"/>
            </p:custDataLst>
          </p:nvPr>
        </p:nvSpPr>
        <p:spPr>
          <a:xfrm>
            <a:off x="358391" y="273818"/>
            <a:ext cx="11475218" cy="6310364"/>
          </a:xfrm>
          <a:prstGeom prst="roundRect">
            <a:avLst>
              <a:gd name="adj" fmla="val 6794"/>
            </a:avLst>
          </a:prstGeom>
          <a:solidFill>
            <a:srgbClr val="F6EEE0"/>
          </a:solidFill>
          <a:ln w="5715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6000">
                  <a:srgbClr val="F9FBFD">
                    <a:alpha val="0"/>
                  </a:srgbClr>
                </a:gs>
                <a:gs pos="44918">
                  <a:srgbClr val="FBFCFE">
                    <a:alpha val="0"/>
                  </a:srgbClr>
                </a:gs>
                <a:gs pos="74000">
                  <a:schemeClr val="bg1">
                    <a:alpha val="0"/>
                  </a:schemeClr>
                </a:gs>
                <a:gs pos="83000">
                  <a:schemeClr val="bg1">
                    <a:alpha val="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5400000" scaled="1"/>
            </a:gradFill>
          </a:ln>
          <a:effectLst>
            <a:outerShdw blurRad="1219200" dist="368300" dir="2700000" algn="tl" rotWithShape="0">
              <a:srgbClr val="FE9866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478155" y="370840"/>
            <a:ext cx="740791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>
                <a:solidFill>
                  <a:schemeClr val="accent2"/>
                </a:solidFill>
                <a:latin typeface="Times New Roman Bold" panose="02020603050405020304" charset="0"/>
                <a:ea typeface="汉仪大宋简" panose="02010600000101010101" pitchFamily="2" charset="-122"/>
                <a:cs typeface="Times New Roman Bold" panose="02020603050405020304" charset="0"/>
              </a:rPr>
              <a:t>Prototype I</a:t>
            </a:r>
            <a:r>
              <a:rPr lang="en-US" altLang="zh-CN" sz="3600" b="1">
                <a:solidFill>
                  <a:schemeClr val="accent2"/>
                </a:solidFill>
                <a:latin typeface="Times New Roman Bold" panose="02020603050405020304" charset="0"/>
                <a:ea typeface="汉仪大宋简" panose="02010600000101010101" pitchFamily="2" charset="-122"/>
                <a:cs typeface="Times New Roman Bold" panose="02020603050405020304" charset="0"/>
              </a:rPr>
              <a:t>mplement</a:t>
            </a:r>
            <a:endParaRPr lang="en-US" altLang="zh-CN" sz="3600" b="1">
              <a:solidFill>
                <a:schemeClr val="accent2"/>
              </a:solidFill>
              <a:latin typeface="Times New Roman Bold" panose="02020603050405020304" charset="0"/>
              <a:ea typeface="汉仪大宋简" panose="02010600000101010101" pitchFamily="2" charset="-122"/>
              <a:cs typeface="Times New Roman Bold" panose="0202060305040502030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50240" y="1047115"/>
            <a:ext cx="3020695" cy="2014855"/>
          </a:xfrm>
          <a:prstGeom prst="rect">
            <a:avLst/>
          </a:prstGeom>
        </p:spPr>
      </p:pic>
      <p:pic>
        <p:nvPicPr>
          <p:cNvPr id="5" name="图片 4" descr="图片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5630" y="1732915"/>
            <a:ext cx="786130" cy="32893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98475" y="3094355"/>
            <a:ext cx="1680210" cy="363982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2292350" y="3093085"/>
            <a:ext cx="1680210" cy="364109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9929495" y="2129790"/>
            <a:ext cx="1760220" cy="460438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7886065" y="1345565"/>
            <a:ext cx="1757680" cy="538861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4104640" y="2332990"/>
            <a:ext cx="1690370" cy="4401185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/>
          <a:stretch>
            <a:fillRect/>
          </a:stretch>
        </p:blipFill>
        <p:spPr>
          <a:xfrm>
            <a:off x="5927090" y="1344930"/>
            <a:ext cx="1757680" cy="5389245"/>
          </a:xfrm>
          <a:prstGeom prst="rect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5192395" y="320040"/>
            <a:ext cx="649668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500">
                <a:latin typeface="Times New Roman Regular" panose="02020603050405020304" charset="0"/>
                <a:cs typeface="Times New Roman Regular" panose="02020603050405020304" charset="0"/>
              </a:rPr>
              <a:t>    </a:t>
            </a:r>
            <a:r>
              <a:rPr lang="zh-CN" altLang="en-US" sz="1500">
                <a:latin typeface="Times New Roman Regular" panose="02020603050405020304" charset="0"/>
                <a:cs typeface="Times New Roman Regular" panose="02020603050405020304" charset="0"/>
              </a:rPr>
              <a:t>From the </a:t>
            </a:r>
            <a:r>
              <a:rPr lang="zh-CN" altLang="en-US" sz="1500" b="1">
                <a:solidFill>
                  <a:schemeClr val="accent2">
                    <a:lumMod val="75000"/>
                  </a:schemeClr>
                </a:solidFill>
                <a:latin typeface="Times New Roman Bold" panose="02020603050405020304" charset="0"/>
                <a:cs typeface="Times New Roman Bold" panose="02020603050405020304" charset="0"/>
              </a:rPr>
              <a:t>setting of cartoon characters and wake words</a:t>
            </a:r>
            <a:r>
              <a:rPr lang="zh-CN" altLang="en-US" sz="1500">
                <a:latin typeface="Times New Roman Regular" panose="02020603050405020304" charset="0"/>
                <a:cs typeface="Times New Roman Regular" panose="02020603050405020304" charset="0"/>
              </a:rPr>
              <a:t>, to the </a:t>
            </a:r>
            <a:r>
              <a:rPr lang="zh-CN" altLang="en-US" sz="1500" b="1">
                <a:solidFill>
                  <a:schemeClr val="accent2">
                    <a:lumMod val="75000"/>
                  </a:schemeClr>
                </a:solidFill>
                <a:latin typeface="Times New Roman Bold" panose="02020603050405020304" charset="0"/>
                <a:cs typeface="Times New Roman Bold" panose="02020603050405020304" charset="0"/>
              </a:rPr>
              <a:t>intelligent decision-making function</a:t>
            </a:r>
            <a:r>
              <a:rPr lang="zh-CN" altLang="en-US" sz="1500">
                <a:latin typeface="Times New Roman Regular" panose="02020603050405020304" charset="0"/>
                <a:cs typeface="Times New Roman Regular" panose="02020603050405020304" charset="0"/>
              </a:rPr>
              <a:t> on the main page and the entry points of the other two major functions (</a:t>
            </a:r>
            <a:r>
              <a:rPr lang="zh-CN" altLang="en-US" sz="1500" b="1">
                <a:solidFill>
                  <a:schemeClr val="accent2">
                    <a:lumMod val="75000"/>
                  </a:schemeClr>
                </a:solidFill>
                <a:latin typeface="Times New Roman Bold" panose="02020603050405020304" charset="0"/>
                <a:cs typeface="Times New Roman Bold" panose="02020603050405020304" charset="0"/>
              </a:rPr>
              <a:t>personal </a:t>
            </a:r>
            <a:r>
              <a:rPr lang="en-US" altLang="zh-CN" sz="1500" b="1">
                <a:solidFill>
                  <a:schemeClr val="accent2">
                    <a:lumMod val="75000"/>
                  </a:schemeClr>
                </a:solidFill>
                <a:latin typeface="Times New Roman Bold" panose="02020603050405020304" charset="0"/>
                <a:cs typeface="Times New Roman Bold" panose="02020603050405020304" charset="0"/>
              </a:rPr>
              <a:t>schedule</a:t>
            </a:r>
            <a:r>
              <a:rPr lang="zh-CN" altLang="en-US" sz="1500" b="1">
                <a:solidFill>
                  <a:schemeClr val="accent2">
                    <a:lumMod val="75000"/>
                  </a:schemeClr>
                </a:solidFill>
                <a:latin typeface="Times New Roman Bold" panose="02020603050405020304" charset="0"/>
                <a:cs typeface="Times New Roman Bold" panose="02020603050405020304" charset="0"/>
              </a:rPr>
              <a:t> and diet </a:t>
            </a:r>
            <a:r>
              <a:rPr lang="en-US" altLang="zh-CN" sz="1500" b="1">
                <a:solidFill>
                  <a:schemeClr val="accent2">
                    <a:lumMod val="75000"/>
                  </a:schemeClr>
                </a:solidFill>
                <a:latin typeface="Times New Roman Bold" panose="02020603050405020304" charset="0"/>
                <a:cs typeface="Times New Roman Bold" panose="02020603050405020304" charset="0"/>
              </a:rPr>
              <a:t>advice</a:t>
            </a:r>
            <a:r>
              <a:rPr lang="zh-CN" altLang="en-US" sz="15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,</a:t>
            </a:r>
            <a:r>
              <a:rPr lang="zh-CN" altLang="en-US" sz="1500">
                <a:latin typeface="Times New Roman Regular" panose="02020603050405020304" charset="0"/>
                <a:cs typeface="Times New Roman Regular" panose="02020603050405020304" charset="0"/>
              </a:rPr>
              <a:t> and then to the separate application of AI to realize each function</a:t>
            </a:r>
            <a:r>
              <a:rPr lang="en-US" altLang="zh-CN" sz="1500">
                <a:latin typeface="Times New Roman Regular" panose="02020603050405020304" charset="0"/>
                <a:cs typeface="Times New Roman Regular" panose="02020603050405020304" charset="0"/>
              </a:rPr>
              <a:t>.</a:t>
            </a:r>
            <a:endParaRPr lang="en-US" altLang="zh-CN" sz="1500">
              <a:latin typeface="Times New Roman Regular" panose="02020603050405020304" charset="0"/>
              <a:cs typeface="Times New Roman Regular" panose="0202060305040502030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EE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/>
          <p:cNvSpPr/>
          <p:nvPr>
            <p:custDataLst>
              <p:tags r:id="rId1"/>
            </p:custDataLst>
          </p:nvPr>
        </p:nvSpPr>
        <p:spPr>
          <a:xfrm>
            <a:off x="358391" y="273818"/>
            <a:ext cx="11475218" cy="6310364"/>
          </a:xfrm>
          <a:prstGeom prst="roundRect">
            <a:avLst>
              <a:gd name="adj" fmla="val 6794"/>
            </a:avLst>
          </a:prstGeom>
          <a:solidFill>
            <a:srgbClr val="F6EEE0"/>
          </a:solidFill>
          <a:ln w="5715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6000">
                  <a:srgbClr val="F9FBFD">
                    <a:alpha val="0"/>
                  </a:srgbClr>
                </a:gs>
                <a:gs pos="44918">
                  <a:srgbClr val="FBFCFE">
                    <a:alpha val="0"/>
                  </a:srgbClr>
                </a:gs>
                <a:gs pos="74000">
                  <a:schemeClr val="bg1">
                    <a:alpha val="0"/>
                  </a:schemeClr>
                </a:gs>
                <a:gs pos="83000">
                  <a:schemeClr val="bg1">
                    <a:alpha val="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5400000" scaled="1"/>
            </a:gradFill>
          </a:ln>
          <a:effectLst>
            <a:outerShdw blurRad="1219200" dist="368300" dir="2700000" algn="tl" rotWithShape="0">
              <a:srgbClr val="FE9866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solidFill>
                  <a:schemeClr val="tx1"/>
                </a:solidFill>
                <a:latin typeface="Calibri" charset="0"/>
                <a:cs typeface="Calibri" charset="0"/>
              </a:rPr>
              <a:t>①</a:t>
            </a:r>
            <a:endParaRPr lang="zh-CN" altLang="en-US">
              <a:solidFill>
                <a:schemeClr val="tx1"/>
              </a:solidFill>
              <a:latin typeface="Calibri" charset="0"/>
              <a:cs typeface="Calibri" charset="0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478155" y="370840"/>
            <a:ext cx="283527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>
                <a:solidFill>
                  <a:schemeClr val="accent2"/>
                </a:solidFill>
                <a:latin typeface="Times New Roman Bold" panose="02020603050405020304" charset="0"/>
                <a:ea typeface="汉仪大宋简" panose="02010600000101010101" pitchFamily="2" charset="-122"/>
                <a:cs typeface="Times New Roman Bold" panose="02020603050405020304" charset="0"/>
              </a:rPr>
              <a:t>I</a:t>
            </a:r>
            <a:r>
              <a:rPr lang="en-US" altLang="zh-CN" sz="3600" b="1">
                <a:solidFill>
                  <a:schemeClr val="accent2"/>
                </a:solidFill>
                <a:latin typeface="Times New Roman Bold" panose="02020603050405020304" charset="0"/>
                <a:ea typeface="汉仪大宋简" panose="02010600000101010101" pitchFamily="2" charset="-122"/>
                <a:cs typeface="Times New Roman Bold" panose="02020603050405020304" charset="0"/>
              </a:rPr>
              <a:t>teration 1</a:t>
            </a:r>
            <a:endParaRPr lang="en-US" altLang="zh-CN" sz="3600" b="1">
              <a:solidFill>
                <a:schemeClr val="accent2"/>
              </a:solidFill>
              <a:latin typeface="Times New Roman Bold" panose="02020603050405020304" charset="0"/>
              <a:ea typeface="汉仪大宋简" panose="02010600000101010101" pitchFamily="2" charset="-122"/>
              <a:cs typeface="Times New Roman Bold" panose="02020603050405020304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7670800" y="830580"/>
            <a:ext cx="1924050" cy="417322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811530" y="1435735"/>
            <a:ext cx="4553585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500">
                <a:latin typeface="Times New Roman Regular" panose="02020603050405020304" charset="0"/>
                <a:cs typeface="Times New Roman Regular" panose="02020603050405020304" charset="0"/>
              </a:rPr>
              <a:t>The </a:t>
            </a:r>
            <a:r>
              <a:rPr lang="en-US" altLang="zh-CN" sz="1500" b="1">
                <a:solidFill>
                  <a:schemeClr val="accent2">
                    <a:lumMod val="75000"/>
                  </a:schemeClr>
                </a:solidFill>
                <a:latin typeface="Times New Roman Bold" panose="02020603050405020304" charset="0"/>
                <a:cs typeface="Times New Roman Bold" panose="02020603050405020304" charset="0"/>
              </a:rPr>
              <a:t>lack</a:t>
            </a:r>
            <a:r>
              <a:rPr lang="en-US" altLang="zh-CN" sz="1500">
                <a:latin typeface="Times New Roman Regular" panose="02020603050405020304" charset="0"/>
                <a:cs typeface="Times New Roman Regular" panose="02020603050405020304" charset="0"/>
              </a:rPr>
              <a:t> of </a:t>
            </a:r>
            <a:r>
              <a:rPr lang="en-US" altLang="zh-CN" sz="1500" b="1">
                <a:solidFill>
                  <a:schemeClr val="accent2">
                    <a:lumMod val="75000"/>
                  </a:schemeClr>
                </a:solidFill>
                <a:latin typeface="Times New Roman Bold" panose="02020603050405020304" charset="0"/>
                <a:cs typeface="Times New Roman Bold" panose="02020603050405020304" charset="0"/>
              </a:rPr>
              <a:t>login and pop-up pages</a:t>
            </a:r>
            <a:r>
              <a:rPr lang="en-US" altLang="zh-CN" sz="1500">
                <a:latin typeface="Times New Roman Regular" panose="02020603050405020304" charset="0"/>
                <a:cs typeface="Times New Roman Regular" panose="02020603050405020304" charset="0"/>
              </a:rPr>
              <a:t> makes the </a:t>
            </a:r>
            <a:r>
              <a:rPr lang="en-US" altLang="zh-CN" sz="1500" b="1">
                <a:solidFill>
                  <a:schemeClr val="accent2">
                    <a:lumMod val="75000"/>
                  </a:schemeClr>
                </a:solidFill>
                <a:latin typeface="Times New Roman Bold" panose="02020603050405020304" charset="0"/>
                <a:cs typeface="Times New Roman Bold" panose="02020603050405020304" charset="0"/>
              </a:rPr>
              <a:t>image of the butler</a:t>
            </a:r>
            <a:r>
              <a:rPr lang="en-US" altLang="zh-CN" sz="1500">
                <a:latin typeface="Times New Roman Regular" panose="02020603050405020304" charset="0"/>
                <a:cs typeface="Times New Roman Regular" panose="02020603050405020304" charset="0"/>
              </a:rPr>
              <a:t> not deeply rooted in people's minds</a:t>
            </a:r>
            <a:endParaRPr lang="en-US" altLang="zh-CN" sz="1500">
              <a:latin typeface="Times New Roman Regular" panose="02020603050405020304" charset="0"/>
              <a:cs typeface="Times New Roman Regular" panose="02020603050405020304" charset="0"/>
            </a:endParaRPr>
          </a:p>
        </p:txBody>
      </p:sp>
      <p:pic>
        <p:nvPicPr>
          <p:cNvPr id="12" name="图片 11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5607050" y="830580"/>
            <a:ext cx="1924685" cy="4140835"/>
          </a:xfrm>
          <a:prstGeom prst="rect">
            <a:avLst/>
          </a:prstGeom>
        </p:spPr>
      </p:pic>
      <p:sp>
        <p:nvSpPr>
          <p:cNvPr id="22" name="文本框 21"/>
          <p:cNvSpPr txBox="1"/>
          <p:nvPr/>
        </p:nvSpPr>
        <p:spPr>
          <a:xfrm>
            <a:off x="5607050" y="5107940"/>
            <a:ext cx="6052185" cy="1476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500">
                <a:latin typeface="Times New Roman Regular" panose="02020603050405020304" charset="0"/>
                <a:cs typeface="Times New Roman Regular" panose="02020603050405020304" charset="0"/>
              </a:rPr>
              <a:t>    </a:t>
            </a:r>
            <a:r>
              <a:rPr lang="zh-CN" altLang="en-US" sz="1500">
                <a:latin typeface="Times New Roman Regular" panose="02020603050405020304" charset="0"/>
                <a:cs typeface="Times New Roman Regular" panose="02020603050405020304" charset="0"/>
              </a:rPr>
              <a:t>When users </a:t>
            </a:r>
            <a:r>
              <a:rPr lang="zh-CN" altLang="en-US" sz="1500" b="1">
                <a:solidFill>
                  <a:schemeClr val="accent2">
                    <a:lumMod val="75000"/>
                  </a:schemeClr>
                </a:solidFill>
                <a:latin typeface="Times New Roman Bold" panose="02020603050405020304" charset="0"/>
                <a:cs typeface="Times New Roman Bold" panose="02020603050405020304" charset="0"/>
              </a:rPr>
              <a:t>browse</a:t>
            </a:r>
            <a:r>
              <a:rPr lang="zh-CN" altLang="en-US" sz="1500">
                <a:latin typeface="Times New Roman Regular" panose="02020603050405020304" charset="0"/>
                <a:cs typeface="Times New Roman Regular" panose="02020603050405020304" charset="0"/>
              </a:rPr>
              <a:t> the heart-fluttering routes on the </a:t>
            </a:r>
            <a:r>
              <a:rPr lang="zh-CN" altLang="en-US" sz="1500" b="1">
                <a:solidFill>
                  <a:schemeClr val="accent2">
                    <a:lumMod val="75000"/>
                  </a:schemeClr>
                </a:solidFill>
                <a:latin typeface="Times New Roman Bold" panose="02020603050405020304" charset="0"/>
                <a:cs typeface="Times New Roman Bold" panose="02020603050405020304" charset="0"/>
              </a:rPr>
              <a:t>Ctrip Travel app</a:t>
            </a:r>
            <a:r>
              <a:rPr lang="zh-CN" altLang="en-US" sz="1500">
                <a:solidFill>
                  <a:schemeClr val="accent2">
                    <a:lumMod val="75000"/>
                  </a:schemeClr>
                </a:solidFill>
                <a:latin typeface="Times New Roman Regular" panose="02020603050405020304" charset="0"/>
                <a:cs typeface="Times New Roman Regular" panose="02020603050405020304" charset="0"/>
              </a:rPr>
              <a:t>,</a:t>
            </a:r>
            <a:r>
              <a:rPr lang="zh-CN" altLang="en-US" sz="1500">
                <a:latin typeface="Times New Roman Regular" panose="02020603050405020304" charset="0"/>
                <a:cs typeface="Times New Roman Regular" panose="02020603050405020304" charset="0"/>
              </a:rPr>
              <a:t> AIVA will introduce </a:t>
            </a:r>
            <a:r>
              <a:rPr lang="zh-CN" altLang="en-US" sz="1500" b="1">
                <a:solidFill>
                  <a:schemeClr val="accent2">
                    <a:lumMod val="75000"/>
                  </a:schemeClr>
                </a:solidFill>
                <a:latin typeface="Times New Roman Bold" panose="02020603050405020304" charset="0"/>
                <a:cs typeface="Times New Roman Bold" panose="02020603050405020304" charset="0"/>
              </a:rPr>
              <a:t>relevant information</a:t>
            </a:r>
            <a:r>
              <a:rPr lang="zh-CN" altLang="en-US" sz="1500">
                <a:latin typeface="Times New Roman Regular" panose="02020603050405020304" charset="0"/>
                <a:cs typeface="Times New Roman Regular" panose="02020603050405020304" charset="0"/>
              </a:rPr>
              <a:t> such as the scenery along the way to users in the form of </a:t>
            </a:r>
            <a:r>
              <a:rPr lang="zh-CN" altLang="en-US" sz="1500" b="1">
                <a:solidFill>
                  <a:schemeClr val="accent2">
                    <a:lumMod val="75000"/>
                  </a:schemeClr>
                </a:solidFill>
                <a:latin typeface="Times New Roman Bold" panose="02020603050405020304" charset="0"/>
                <a:cs typeface="Times New Roman Bold" panose="02020603050405020304" charset="0"/>
              </a:rPr>
              <a:t>pop-up Windows</a:t>
            </a:r>
            <a:r>
              <a:rPr lang="zh-CN" altLang="en-US" sz="1500">
                <a:solidFill>
                  <a:schemeClr val="accent2">
                    <a:lumMod val="75000"/>
                  </a:schemeClr>
                </a:solidFill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  <a:r>
              <a:rPr lang="zh-CN" altLang="en-US" sz="1500">
                <a:latin typeface="Times New Roman Regular" panose="02020603050405020304" charset="0"/>
                <a:cs typeface="Times New Roman Regular" panose="02020603050405020304" charset="0"/>
              </a:rPr>
              <a:t>with the </a:t>
            </a:r>
            <a:r>
              <a:rPr lang="zh-CN" altLang="en-US" sz="1500" b="1">
                <a:solidFill>
                  <a:schemeClr val="accent2">
                    <a:lumMod val="75000"/>
                  </a:schemeClr>
                </a:solidFill>
                <a:latin typeface="Times New Roman Bold" panose="02020603050405020304" charset="0"/>
                <a:cs typeface="Times New Roman Bold" panose="02020603050405020304" charset="0"/>
              </a:rPr>
              <a:t>users' permission</a:t>
            </a:r>
            <a:r>
              <a:rPr lang="zh-CN" altLang="en-US" sz="1500">
                <a:latin typeface="Times New Roman Regular" panose="02020603050405020304" charset="0"/>
                <a:cs typeface="Times New Roman Regular" panose="02020603050405020304" charset="0"/>
              </a:rPr>
              <a:t>. On the jump page, </a:t>
            </a:r>
            <a:r>
              <a:rPr lang="zh-CN" altLang="en-US" sz="1500" b="1">
                <a:solidFill>
                  <a:schemeClr val="accent2">
                    <a:lumMod val="75000"/>
                  </a:schemeClr>
                </a:solidFill>
                <a:latin typeface="Times New Roman Bold" panose="02020603050405020304" charset="0"/>
                <a:cs typeface="Times New Roman Bold" panose="02020603050405020304" charset="0"/>
              </a:rPr>
              <a:t>an image of a butler</a:t>
            </a:r>
            <a:r>
              <a:rPr lang="zh-CN" altLang="en-US" sz="1500">
                <a:latin typeface="Times New Roman Regular" panose="02020603050405020304" charset="0"/>
                <a:cs typeface="Times New Roman Regular" panose="02020603050405020304" charset="0"/>
              </a:rPr>
              <a:t> is given, allowing users to better </a:t>
            </a:r>
            <a:r>
              <a:rPr lang="zh-CN" altLang="en-US" sz="1500" b="1">
                <a:solidFill>
                  <a:schemeClr val="accent2">
                    <a:lumMod val="75000"/>
                  </a:schemeClr>
                </a:solidFill>
                <a:latin typeface="Times New Roman Bold" panose="02020603050405020304" charset="0"/>
                <a:cs typeface="Times New Roman Bold" panose="02020603050405020304" charset="0"/>
              </a:rPr>
              <a:t>experience the feeling of a butler</a:t>
            </a:r>
            <a:r>
              <a:rPr lang="zh-CN" altLang="en-US" sz="1500">
                <a:latin typeface="Times New Roman Regular" panose="02020603050405020304" charset="0"/>
                <a:cs typeface="Times New Roman Regular" panose="02020603050405020304" charset="0"/>
              </a:rPr>
              <a:t>. The </a:t>
            </a:r>
            <a:r>
              <a:rPr lang="zh-CN" altLang="en-US" sz="1500" b="1">
                <a:solidFill>
                  <a:schemeClr val="accent2">
                    <a:lumMod val="75000"/>
                  </a:schemeClr>
                </a:solidFill>
                <a:latin typeface="Times New Roman Bold" panose="02020603050405020304" charset="0"/>
                <a:cs typeface="Times New Roman Bold" panose="02020603050405020304" charset="0"/>
              </a:rPr>
              <a:t>default one-click login</a:t>
            </a:r>
            <a:r>
              <a:rPr lang="zh-CN" altLang="en-US" sz="1500">
                <a:latin typeface="Times New Roman Regular" panose="02020603050405020304" charset="0"/>
                <a:cs typeface="Times New Roman Regular" panose="02020603050405020304" charset="0"/>
              </a:rPr>
              <a:t> on the mobile phone is convenient for users to operate</a:t>
            </a:r>
            <a:endParaRPr lang="zh-CN" altLang="en-US" sz="1500">
              <a:latin typeface="Times New Roman Regular" panose="02020603050405020304" charset="0"/>
              <a:cs typeface="Times New Roman Regular" panose="02020603050405020304" charset="0"/>
            </a:endParaRPr>
          </a:p>
        </p:txBody>
      </p:sp>
      <p:grpSp>
        <p:nvGrpSpPr>
          <p:cNvPr id="29" name="Group 18"/>
          <p:cNvGrpSpPr/>
          <p:nvPr/>
        </p:nvGrpSpPr>
        <p:grpSpPr>
          <a:xfrm rot="0">
            <a:off x="14936727" y="25050903"/>
            <a:ext cx="386393" cy="496683"/>
            <a:chOff x="0" y="0"/>
            <a:chExt cx="632315" cy="812800"/>
          </a:xfrm>
        </p:grpSpPr>
        <p:sp>
          <p:nvSpPr>
            <p:cNvPr id="30" name="Freeform 19"/>
            <p:cNvSpPr/>
            <p:nvPr>
              <p:custDataLst>
                <p:tags r:id="rId6"/>
              </p:custDataLst>
            </p:nvPr>
          </p:nvSpPr>
          <p:spPr>
            <a:xfrm>
              <a:off x="0" y="0"/>
              <a:ext cx="632315" cy="812800"/>
            </a:xfrm>
            <a:custGeom>
              <a:avLst/>
              <a:gdLst/>
              <a:ahLst/>
              <a:cxnLst/>
              <a:rect l="l" t="t" r="r" b="b"/>
              <a:pathLst>
                <a:path w="632315" h="812800">
                  <a:moveTo>
                    <a:pt x="632315" y="406400"/>
                  </a:moveTo>
                  <a:lnTo>
                    <a:pt x="225915" y="0"/>
                  </a:lnTo>
                  <a:lnTo>
                    <a:pt x="225915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225915" y="609600"/>
                  </a:lnTo>
                  <a:lnTo>
                    <a:pt x="225915" y="812800"/>
                  </a:lnTo>
                  <a:lnTo>
                    <a:pt x="632315" y="406400"/>
                  </a:lnTo>
                  <a:close/>
                </a:path>
              </a:pathLst>
            </a:custGeom>
            <a:solidFill>
              <a:srgbClr val="D76735"/>
            </a:solidFill>
          </p:spPr>
        </p:sp>
        <p:sp>
          <p:nvSpPr>
            <p:cNvPr id="31" name="TextBox 20"/>
            <p:cNvSpPr txBox="1"/>
            <p:nvPr>
              <p:custDataLst>
                <p:tags r:id="rId7"/>
              </p:custDataLst>
            </p:nvPr>
          </p:nvSpPr>
          <p:spPr>
            <a:xfrm>
              <a:off x="0" y="174625"/>
              <a:ext cx="530715" cy="434975"/>
            </a:xfrm>
            <a:prstGeom prst="rect">
              <a:avLst/>
            </a:prstGeom>
          </p:spPr>
          <p:txBody>
            <a:bodyPr lIns="27243" tIns="27243" rIns="27243" bIns="27243" rtlCol="0" anchor="ctr"/>
            <a:lstStyle/>
            <a:p>
              <a:pPr algn="ctr">
                <a:lnSpc>
                  <a:spcPts val="1120"/>
                </a:lnSpc>
                <a:spcBef>
                  <a:spcPct val="0"/>
                </a:spcBef>
              </a:pPr>
            </a:p>
          </p:txBody>
        </p:sp>
      </p:grpSp>
      <p:sp>
        <p:nvSpPr>
          <p:cNvPr id="35" name="文本框 34"/>
          <p:cNvSpPr txBox="1"/>
          <p:nvPr/>
        </p:nvSpPr>
        <p:spPr>
          <a:xfrm>
            <a:off x="488950" y="1495425"/>
            <a:ext cx="4279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tx1"/>
                </a:solidFill>
                <a:latin typeface="Calibri" charset="0"/>
                <a:ea typeface="Calibri" charset="0"/>
              </a:rPr>
              <a:t>①</a:t>
            </a:r>
            <a:endParaRPr lang="zh-CN" altLang="en-US">
              <a:solidFill>
                <a:schemeClr val="tx1"/>
              </a:solidFill>
              <a:latin typeface="Calibri" charset="0"/>
              <a:ea typeface="Calibri" charset="0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489585" y="2169160"/>
            <a:ext cx="4273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Calibri" charset="0"/>
                <a:ea typeface="Calibri" charset="0"/>
              </a:rPr>
              <a:t>②</a:t>
            </a:r>
            <a:endParaRPr lang="zh-CN" altLang="en-US">
              <a:latin typeface="Calibri" charset="0"/>
              <a:ea typeface="Calibri" charset="0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841375" y="2077085"/>
            <a:ext cx="4348480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500">
                <a:latin typeface="Times New Roman Regular" panose="02020603050405020304" charset="0"/>
                <a:cs typeface="Times New Roman Regular" panose="02020603050405020304" charset="0"/>
              </a:rPr>
              <a:t>Some buttons with </a:t>
            </a:r>
            <a:r>
              <a:rPr lang="zh-CN" altLang="en-US" sz="1500" b="1">
                <a:solidFill>
                  <a:schemeClr val="accent2">
                    <a:lumMod val="75000"/>
                  </a:schemeClr>
                </a:solidFill>
                <a:latin typeface="Times New Roman Bold" panose="02020603050405020304" charset="0"/>
                <a:cs typeface="Times New Roman Bold" panose="02020603050405020304" charset="0"/>
              </a:rPr>
              <a:t>extra</a:t>
            </a:r>
            <a:r>
              <a:rPr lang="zh-CN" altLang="en-US" sz="1500">
                <a:latin typeface="Times New Roman Regular" panose="02020603050405020304" charset="0"/>
                <a:cs typeface="Times New Roman Regular" panose="02020603050405020304" charset="0"/>
              </a:rPr>
              <a:t> functions are </a:t>
            </a:r>
            <a:r>
              <a:rPr lang="zh-CN" altLang="en-US" sz="1500" b="1">
                <a:solidFill>
                  <a:schemeClr val="accent2">
                    <a:lumMod val="75000"/>
                  </a:schemeClr>
                </a:solidFill>
                <a:latin typeface="Times New Roman Bold" panose="02020603050405020304" charset="0"/>
                <a:cs typeface="Times New Roman Bold" panose="02020603050405020304" charset="0"/>
              </a:rPr>
              <a:t>duplicated</a:t>
            </a:r>
            <a:r>
              <a:rPr lang="zh-CN" altLang="en-US" sz="1500">
                <a:latin typeface="Times New Roman Regular" panose="02020603050405020304" charset="0"/>
                <a:cs typeface="Times New Roman Regular" panose="02020603050405020304" charset="0"/>
              </a:rPr>
              <a:t> with the previous page functions</a:t>
            </a:r>
            <a:endParaRPr lang="zh-CN" altLang="en-US" sz="1500">
              <a:latin typeface="Times New Roman Regular" panose="02020603050405020304" charset="0"/>
              <a:cs typeface="Times New Roman Regular" panose="02020603050405020304" charset="0"/>
            </a:endParaRPr>
          </a:p>
        </p:txBody>
      </p:sp>
      <p:pic>
        <p:nvPicPr>
          <p:cNvPr id="40" name="图片 39" descr="截屏2025-05-12 08.51.28"/>
          <p:cNvPicPr>
            <a:picLocks noChangeAspect="1"/>
          </p:cNvPicPr>
          <p:nvPr/>
        </p:nvPicPr>
        <p:blipFill>
          <a:blip r:embed="rId8"/>
          <a:srcRect t="72584"/>
          <a:stretch>
            <a:fillRect/>
          </a:stretch>
        </p:blipFill>
        <p:spPr>
          <a:xfrm>
            <a:off x="2846070" y="3004820"/>
            <a:ext cx="2621915" cy="553085"/>
          </a:xfrm>
          <a:prstGeom prst="rect">
            <a:avLst/>
          </a:prstGeom>
        </p:spPr>
      </p:pic>
      <p:pic>
        <p:nvPicPr>
          <p:cNvPr id="41" name="图片 40" descr="截屏2025-05-12 08.52.25"/>
          <p:cNvPicPr>
            <a:picLocks noChangeAspect="1"/>
          </p:cNvPicPr>
          <p:nvPr/>
        </p:nvPicPr>
        <p:blipFill>
          <a:blip r:embed="rId9"/>
          <a:srcRect l="1560"/>
          <a:stretch>
            <a:fillRect/>
          </a:stretch>
        </p:blipFill>
        <p:spPr>
          <a:xfrm>
            <a:off x="588645" y="2759075"/>
            <a:ext cx="2150110" cy="1724025"/>
          </a:xfrm>
          <a:prstGeom prst="rect">
            <a:avLst/>
          </a:prstGeom>
        </p:spPr>
      </p:pic>
      <p:pic>
        <p:nvPicPr>
          <p:cNvPr id="42" name="图片 41" descr="截屏2025-05-12 08.53.20"/>
          <p:cNvPicPr>
            <a:picLocks noChangeAspect="1"/>
          </p:cNvPicPr>
          <p:nvPr/>
        </p:nvPicPr>
        <p:blipFill>
          <a:blip r:embed="rId10"/>
          <a:srcRect r="2369"/>
          <a:stretch>
            <a:fillRect/>
          </a:stretch>
        </p:blipFill>
        <p:spPr>
          <a:xfrm>
            <a:off x="588645" y="4566285"/>
            <a:ext cx="2148205" cy="2002790"/>
          </a:xfrm>
          <a:prstGeom prst="rect">
            <a:avLst/>
          </a:prstGeom>
        </p:spPr>
      </p:pic>
      <p:pic>
        <p:nvPicPr>
          <p:cNvPr id="44" name="图片 43" descr="图片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736850" y="3557905"/>
            <a:ext cx="866140" cy="772160"/>
          </a:xfrm>
          <a:prstGeom prst="rect">
            <a:avLst/>
          </a:prstGeom>
        </p:spPr>
      </p:pic>
      <p:pic>
        <p:nvPicPr>
          <p:cNvPr id="45" name="图片 44" descr="截屏2025-05-12 08.58.18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846070" y="5113655"/>
            <a:ext cx="2621280" cy="581025"/>
          </a:xfrm>
          <a:prstGeom prst="rect">
            <a:avLst/>
          </a:prstGeom>
        </p:spPr>
      </p:pic>
      <p:pic>
        <p:nvPicPr>
          <p:cNvPr id="46" name="图片 45" descr="图片6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2863850" y="5728970"/>
            <a:ext cx="866140" cy="772160"/>
          </a:xfrm>
          <a:prstGeom prst="rect">
            <a:avLst/>
          </a:prstGeom>
        </p:spPr>
      </p:pic>
      <p:grpSp>
        <p:nvGrpSpPr>
          <p:cNvPr id="49" name="组合 48"/>
          <p:cNvGrpSpPr/>
          <p:nvPr/>
        </p:nvGrpSpPr>
        <p:grpSpPr>
          <a:xfrm>
            <a:off x="1588135" y="959485"/>
            <a:ext cx="2449830" cy="519430"/>
            <a:chOff x="2501" y="1511"/>
            <a:chExt cx="3858" cy="818"/>
          </a:xfrm>
        </p:grpSpPr>
        <p:sp>
          <p:nvSpPr>
            <p:cNvPr id="47" name="矩形: 圆角 9"/>
            <p:cNvSpPr/>
            <p:nvPr>
              <p:custDataLst>
                <p:tags r:id="rId14"/>
              </p:custDataLst>
            </p:nvPr>
          </p:nvSpPr>
          <p:spPr>
            <a:xfrm>
              <a:off x="2501" y="1511"/>
              <a:ext cx="3859" cy="819"/>
            </a:xfrm>
            <a:prstGeom prst="roundRect">
              <a:avLst>
                <a:gd name="adj" fmla="val 50000"/>
              </a:avLst>
            </a:prstGeom>
            <a:solidFill>
              <a:srgbClr val="FBA97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dirty="0">
                <a:latin typeface="思源黑体 CN Heavy" panose="020B0A00000000000000" pitchFamily="34" charset="-122"/>
                <a:ea typeface="思源黑体 CN Heavy" panose="020B0A00000000000000" pitchFamily="34" charset="-122"/>
              </a:endParaRPr>
            </a:p>
          </p:txBody>
        </p:sp>
        <p:sp>
          <p:nvSpPr>
            <p:cNvPr id="9" name="文本框 8"/>
            <p:cNvSpPr txBox="1"/>
            <p:nvPr>
              <p:custDataLst>
                <p:tags r:id="rId15"/>
              </p:custDataLst>
            </p:nvPr>
          </p:nvSpPr>
          <p:spPr>
            <a:xfrm>
              <a:off x="2830" y="1600"/>
              <a:ext cx="3248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2000" b="1">
                  <a:solidFill>
                    <a:schemeClr val="bg1"/>
                  </a:solidFill>
                  <a:latin typeface="Times New Roman Bold" panose="02020603050405020304" charset="0"/>
                  <a:ea typeface="汉仪大宋简" panose="02010600000101010101" pitchFamily="2" charset="-122"/>
                  <a:cs typeface="Times New Roman Bold" panose="02020603050405020304" charset="0"/>
                </a:rPr>
                <a:t>Require Analysis</a:t>
              </a:r>
              <a:endParaRPr lang="en-US" altLang="zh-CN" sz="2000" b="1">
                <a:solidFill>
                  <a:schemeClr val="bg1"/>
                </a:solidFill>
                <a:latin typeface="Times New Roman Bold" panose="02020603050405020304" charset="0"/>
                <a:ea typeface="汉仪大宋简" panose="02010600000101010101" pitchFamily="2" charset="-122"/>
                <a:cs typeface="Times New Roman Bold" panose="02020603050405020304" charset="0"/>
              </a:endParaRPr>
            </a:p>
          </p:txBody>
        </p:sp>
      </p:grpSp>
      <p:grpSp>
        <p:nvGrpSpPr>
          <p:cNvPr id="50" name="组合 49"/>
          <p:cNvGrpSpPr/>
          <p:nvPr/>
        </p:nvGrpSpPr>
        <p:grpSpPr>
          <a:xfrm>
            <a:off x="7112635" y="264795"/>
            <a:ext cx="3075940" cy="519430"/>
            <a:chOff x="11201" y="417"/>
            <a:chExt cx="4844" cy="818"/>
          </a:xfrm>
        </p:grpSpPr>
        <p:sp>
          <p:nvSpPr>
            <p:cNvPr id="48" name="矩形: 圆角 9"/>
            <p:cNvSpPr/>
            <p:nvPr>
              <p:custDataLst>
                <p:tags r:id="rId16"/>
              </p:custDataLst>
            </p:nvPr>
          </p:nvSpPr>
          <p:spPr>
            <a:xfrm>
              <a:off x="11201" y="417"/>
              <a:ext cx="4845" cy="819"/>
            </a:xfrm>
            <a:prstGeom prst="roundRect">
              <a:avLst>
                <a:gd name="adj" fmla="val 50000"/>
              </a:avLst>
            </a:prstGeom>
            <a:solidFill>
              <a:srgbClr val="FBA97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dirty="0">
                <a:latin typeface="思源黑体 CN Heavy" panose="020B0A00000000000000" pitchFamily="34" charset="-122"/>
                <a:ea typeface="思源黑体 CN Heavy" panose="020B0A00000000000000" pitchFamily="34" charset="-122"/>
              </a:endParaRPr>
            </a:p>
          </p:txBody>
        </p:sp>
        <p:sp>
          <p:nvSpPr>
            <p:cNvPr id="33" name="文本框 32"/>
            <p:cNvSpPr txBox="1"/>
            <p:nvPr>
              <p:custDataLst>
                <p:tags r:id="rId17"/>
              </p:custDataLst>
            </p:nvPr>
          </p:nvSpPr>
          <p:spPr>
            <a:xfrm>
              <a:off x="11425" y="511"/>
              <a:ext cx="4621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2000" b="1">
                  <a:solidFill>
                    <a:schemeClr val="bg1"/>
                  </a:solidFill>
                  <a:latin typeface="Times New Roman Bold" panose="02020603050405020304" charset="0"/>
                  <a:ea typeface="汉仪大宋简" panose="02010600000101010101" pitchFamily="2" charset="-122"/>
                  <a:cs typeface="Times New Roman Bold" panose="02020603050405020304" charset="0"/>
                </a:rPr>
                <a:t>Prototype Implemention</a:t>
              </a:r>
              <a:endParaRPr lang="en-US" altLang="zh-CN" sz="2000" b="1">
                <a:solidFill>
                  <a:schemeClr val="bg1"/>
                </a:solidFill>
                <a:latin typeface="Times New Roman Bold" panose="02020603050405020304" charset="0"/>
                <a:ea typeface="汉仪大宋简" panose="02010600000101010101" pitchFamily="2" charset="-122"/>
                <a:cs typeface="Times New Roman Bold" panose="02020603050405020304" charset="0"/>
              </a:endParaRPr>
            </a:p>
          </p:txBody>
        </p:sp>
      </p:grpSp>
      <p:pic>
        <p:nvPicPr>
          <p:cNvPr id="51" name="图片 50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19"/>
          <a:stretch>
            <a:fillRect/>
          </a:stretch>
        </p:blipFill>
        <p:spPr>
          <a:xfrm>
            <a:off x="9749155" y="824865"/>
            <a:ext cx="1951355" cy="42271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EE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/>
          <p:cNvSpPr/>
          <p:nvPr>
            <p:custDataLst>
              <p:tags r:id="rId1"/>
            </p:custDataLst>
          </p:nvPr>
        </p:nvSpPr>
        <p:spPr>
          <a:xfrm>
            <a:off x="358391" y="273818"/>
            <a:ext cx="11475218" cy="6310364"/>
          </a:xfrm>
          <a:prstGeom prst="roundRect">
            <a:avLst>
              <a:gd name="adj" fmla="val 6794"/>
            </a:avLst>
          </a:prstGeom>
          <a:solidFill>
            <a:srgbClr val="F6EEE0"/>
          </a:solidFill>
          <a:ln w="5715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6000">
                  <a:srgbClr val="F9FBFD">
                    <a:alpha val="0"/>
                  </a:srgbClr>
                </a:gs>
                <a:gs pos="44918">
                  <a:srgbClr val="FBFCFE">
                    <a:alpha val="0"/>
                  </a:srgbClr>
                </a:gs>
                <a:gs pos="74000">
                  <a:schemeClr val="bg1">
                    <a:alpha val="0"/>
                  </a:schemeClr>
                </a:gs>
                <a:gs pos="83000">
                  <a:schemeClr val="bg1">
                    <a:alpha val="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5400000" scaled="1"/>
            </a:gradFill>
          </a:ln>
          <a:effectLst>
            <a:outerShdw blurRad="1219200" dist="368300" dir="2700000" algn="tl" rotWithShape="0">
              <a:srgbClr val="FE9866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Calibri" charset="0"/>
              <a:cs typeface="Calibri" charset="0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478155" y="370840"/>
            <a:ext cx="283527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>
                <a:solidFill>
                  <a:schemeClr val="accent2"/>
                </a:solidFill>
                <a:latin typeface="Times New Roman Bold" panose="02020603050405020304" charset="0"/>
                <a:ea typeface="汉仪大宋简" panose="02010600000101010101" pitchFamily="2" charset="-122"/>
                <a:cs typeface="Times New Roman Bold" panose="02020603050405020304" charset="0"/>
              </a:rPr>
              <a:t>I</a:t>
            </a:r>
            <a:r>
              <a:rPr lang="en-US" altLang="zh-CN" sz="3600" b="1">
                <a:solidFill>
                  <a:schemeClr val="accent2"/>
                </a:solidFill>
                <a:latin typeface="Times New Roman Bold" panose="02020603050405020304" charset="0"/>
                <a:ea typeface="汉仪大宋简" panose="02010600000101010101" pitchFamily="2" charset="-122"/>
                <a:cs typeface="Times New Roman Bold" panose="02020603050405020304" charset="0"/>
              </a:rPr>
              <a:t>teration 2</a:t>
            </a:r>
            <a:endParaRPr lang="en-US" altLang="zh-CN" sz="3600" b="1">
              <a:solidFill>
                <a:schemeClr val="accent2"/>
              </a:solidFill>
              <a:latin typeface="Times New Roman Bold" panose="02020603050405020304" charset="0"/>
              <a:ea typeface="汉仪大宋简" panose="02010600000101010101" pitchFamily="2" charset="-122"/>
              <a:cs typeface="Times New Roman Bold" panose="02020603050405020304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33095" y="1579880"/>
            <a:ext cx="295656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500">
                <a:latin typeface="Times New Roman Regular" panose="02020603050405020304" charset="0"/>
                <a:cs typeface="Times New Roman Regular" panose="02020603050405020304" charset="0"/>
              </a:rPr>
              <a:t>The current settings of cartoon characters </a:t>
            </a:r>
            <a:r>
              <a:rPr lang="en-US" altLang="zh-CN" sz="1500" b="1">
                <a:solidFill>
                  <a:schemeClr val="accent2">
                    <a:lumMod val="75000"/>
                  </a:schemeClr>
                </a:solidFill>
                <a:latin typeface="Times New Roman Bold" panose="02020603050405020304" charset="0"/>
                <a:cs typeface="Times New Roman Bold" panose="02020603050405020304" charset="0"/>
              </a:rPr>
              <a:t>cannot well reflect AI</a:t>
            </a:r>
            <a:r>
              <a:rPr lang="en-US" altLang="zh-CN" sz="1500">
                <a:solidFill>
                  <a:schemeClr val="accent2">
                    <a:lumMod val="75000"/>
                  </a:schemeClr>
                </a:solidFill>
                <a:latin typeface="Times New Roman Regular" panose="02020603050405020304" charset="0"/>
                <a:cs typeface="Times New Roman Regular" panose="02020603050405020304" charset="0"/>
              </a:rPr>
              <a:t>-</a:t>
            </a:r>
            <a:r>
              <a:rPr lang="en-US" altLang="zh-CN" sz="1500">
                <a:latin typeface="Times New Roman Regular" panose="02020603050405020304" charset="0"/>
                <a:cs typeface="Times New Roman Regular" panose="02020603050405020304" charset="0"/>
              </a:rPr>
              <a:t>generated images, and their </a:t>
            </a:r>
            <a:r>
              <a:rPr lang="en-US" altLang="zh-CN" sz="1500" b="1">
                <a:solidFill>
                  <a:schemeClr val="accent2">
                    <a:lumMod val="75000"/>
                  </a:schemeClr>
                </a:solidFill>
                <a:latin typeface="Times New Roman Bold" panose="02020603050405020304" charset="0"/>
                <a:cs typeface="Times New Roman Bold" panose="02020603050405020304" charset="0"/>
              </a:rPr>
              <a:t>self-creativity is not that strong</a:t>
            </a:r>
            <a:r>
              <a:rPr lang="en-US" altLang="zh-CN" sz="1500">
                <a:latin typeface="Times New Roman Regular" panose="02020603050405020304" charset="0"/>
                <a:cs typeface="Times New Roman Regular" panose="02020603050405020304" charset="0"/>
              </a:rPr>
              <a:t>.</a:t>
            </a:r>
            <a:endParaRPr lang="en-US" altLang="zh-CN" sz="1500">
              <a:latin typeface="Times New Roman Regular" panose="02020603050405020304" charset="0"/>
              <a:cs typeface="Times New Roman Regular" panose="02020603050405020304" charset="0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4277995" y="4881880"/>
            <a:ext cx="3488055" cy="1014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500">
                <a:latin typeface="Times New Roman Regular" panose="02020603050405020304" charset="0"/>
                <a:cs typeface="Times New Roman Regular" panose="02020603050405020304" charset="0"/>
              </a:rPr>
              <a:t>    </a:t>
            </a:r>
            <a:r>
              <a:rPr lang="zh-CN" altLang="en-US" sz="1500">
                <a:latin typeface="Times New Roman Regular" panose="02020603050405020304" charset="0"/>
                <a:cs typeface="Times New Roman Regular" panose="02020603050405020304" charset="0"/>
              </a:rPr>
              <a:t>Ultimately, users can first </a:t>
            </a:r>
            <a:r>
              <a:rPr lang="zh-CN" altLang="en-US" sz="1500" b="1">
                <a:solidFill>
                  <a:schemeClr val="accent2">
                    <a:lumMod val="75000"/>
                  </a:schemeClr>
                </a:solidFill>
                <a:latin typeface="Times New Roman Bold" panose="02020603050405020304" charset="0"/>
                <a:cs typeface="Times New Roman Bold" panose="02020603050405020304" charset="0"/>
              </a:rPr>
              <a:t>select the image style</a:t>
            </a:r>
            <a:r>
              <a:rPr lang="zh-CN" altLang="en-US" sz="1500">
                <a:solidFill>
                  <a:schemeClr val="accent2">
                    <a:lumMod val="75000"/>
                  </a:schemeClr>
                </a:solidFill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  <a:r>
              <a:rPr lang="zh-CN" altLang="en-US" sz="1500">
                <a:latin typeface="Times New Roman Regular" panose="02020603050405020304" charset="0"/>
                <a:cs typeface="Times New Roman Regular" panose="02020603050405020304" charset="0"/>
              </a:rPr>
              <a:t>of the butler, and then adjust the AI-generated </a:t>
            </a:r>
            <a:r>
              <a:rPr lang="zh-CN" altLang="en-US" sz="1500" b="1">
                <a:solidFill>
                  <a:schemeClr val="accent2">
                    <a:lumMod val="75000"/>
                  </a:schemeClr>
                </a:solidFill>
                <a:latin typeface="Times New Roman Bold" panose="02020603050405020304" charset="0"/>
                <a:cs typeface="Times New Roman Bold" panose="02020603050405020304" charset="0"/>
              </a:rPr>
              <a:t>butler image</a:t>
            </a:r>
            <a:r>
              <a:rPr lang="zh-CN" altLang="en-US" sz="1500">
                <a:latin typeface="Times New Roman Regular" panose="02020603050405020304" charset="0"/>
                <a:cs typeface="Times New Roman Regular" panose="02020603050405020304" charset="0"/>
              </a:rPr>
              <a:t> and </a:t>
            </a:r>
            <a:r>
              <a:rPr lang="zh-CN" altLang="en-US" sz="1500" b="1">
                <a:solidFill>
                  <a:schemeClr val="accent2">
                    <a:lumMod val="75000"/>
                  </a:schemeClr>
                </a:solidFill>
                <a:latin typeface="Times New Roman Bold" panose="02020603050405020304" charset="0"/>
                <a:cs typeface="Times New Roman Bold" panose="02020603050405020304" charset="0"/>
              </a:rPr>
              <a:t>wake-up words</a:t>
            </a:r>
            <a:r>
              <a:rPr lang="zh-CN" altLang="en-US" sz="1500">
                <a:latin typeface="Times New Roman Regular" panose="02020603050405020304" charset="0"/>
                <a:cs typeface="Times New Roman Regular" panose="02020603050405020304" charset="0"/>
              </a:rPr>
              <a:t> through dialogue</a:t>
            </a:r>
            <a:endParaRPr lang="zh-CN" altLang="en-US" sz="1500">
              <a:latin typeface="Times New Roman Regular" panose="02020603050405020304" charset="0"/>
              <a:cs typeface="Times New Roman Regular" panose="02020603050405020304" charset="0"/>
            </a:endParaRPr>
          </a:p>
        </p:txBody>
      </p:sp>
      <p:grpSp>
        <p:nvGrpSpPr>
          <p:cNvPr id="29" name="Group 18"/>
          <p:cNvGrpSpPr/>
          <p:nvPr/>
        </p:nvGrpSpPr>
        <p:grpSpPr>
          <a:xfrm rot="0">
            <a:off x="14936727" y="25050903"/>
            <a:ext cx="386393" cy="496683"/>
            <a:chOff x="0" y="0"/>
            <a:chExt cx="632315" cy="812800"/>
          </a:xfrm>
        </p:grpSpPr>
        <p:sp>
          <p:nvSpPr>
            <p:cNvPr id="30" name="Freeform 19"/>
            <p:cNvSpPr/>
            <p:nvPr>
              <p:custDataLst>
                <p:tags r:id="rId2"/>
              </p:custDataLst>
            </p:nvPr>
          </p:nvSpPr>
          <p:spPr>
            <a:xfrm>
              <a:off x="0" y="0"/>
              <a:ext cx="632315" cy="812800"/>
            </a:xfrm>
            <a:custGeom>
              <a:avLst/>
              <a:gdLst/>
              <a:ahLst/>
              <a:cxnLst/>
              <a:rect l="l" t="t" r="r" b="b"/>
              <a:pathLst>
                <a:path w="632315" h="812800">
                  <a:moveTo>
                    <a:pt x="632315" y="406400"/>
                  </a:moveTo>
                  <a:lnTo>
                    <a:pt x="225915" y="0"/>
                  </a:lnTo>
                  <a:lnTo>
                    <a:pt x="225915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225915" y="609600"/>
                  </a:lnTo>
                  <a:lnTo>
                    <a:pt x="225915" y="812800"/>
                  </a:lnTo>
                  <a:lnTo>
                    <a:pt x="632315" y="406400"/>
                  </a:lnTo>
                  <a:close/>
                </a:path>
              </a:pathLst>
            </a:custGeom>
            <a:solidFill>
              <a:srgbClr val="D76735"/>
            </a:solidFill>
          </p:spPr>
        </p:sp>
        <p:sp>
          <p:nvSpPr>
            <p:cNvPr id="31" name="TextBox 20"/>
            <p:cNvSpPr txBox="1"/>
            <p:nvPr>
              <p:custDataLst>
                <p:tags r:id="rId3"/>
              </p:custDataLst>
            </p:nvPr>
          </p:nvSpPr>
          <p:spPr>
            <a:xfrm>
              <a:off x="0" y="174625"/>
              <a:ext cx="530715" cy="434975"/>
            </a:xfrm>
            <a:prstGeom prst="rect">
              <a:avLst/>
            </a:prstGeom>
          </p:spPr>
          <p:txBody>
            <a:bodyPr lIns="27243" tIns="27243" rIns="27243" bIns="27243" rtlCol="0" anchor="ctr"/>
            <a:lstStyle/>
            <a:p>
              <a:pPr algn="ctr">
                <a:lnSpc>
                  <a:spcPts val="1120"/>
                </a:lnSpc>
                <a:spcBef>
                  <a:spcPct val="0"/>
                </a:spcBef>
              </a:pPr>
            </a:p>
          </p:txBody>
        </p:sp>
      </p:grpSp>
      <p:pic>
        <p:nvPicPr>
          <p:cNvPr id="3" name="图片 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4120515" y="798830"/>
            <a:ext cx="1755140" cy="3760470"/>
          </a:xfrm>
          <a:prstGeom prst="rect">
            <a:avLst/>
          </a:prstGeom>
        </p:spPr>
      </p:pic>
      <p:sp>
        <p:nvSpPr>
          <p:cNvPr id="8" name="文本框 7"/>
          <p:cNvSpPr txBox="1"/>
          <p:nvPr>
            <p:custDataLst>
              <p:tags r:id="rId6"/>
            </p:custDataLst>
          </p:nvPr>
        </p:nvSpPr>
        <p:spPr>
          <a:xfrm>
            <a:off x="654050" y="2654300"/>
            <a:ext cx="293433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500">
                <a:latin typeface="Times New Roman Regular" panose="02020603050405020304" charset="0"/>
                <a:cs typeface="Times New Roman Regular" panose="02020603050405020304" charset="0"/>
              </a:rPr>
              <a:t>The pages featuring cartoon characters and wake words are rather </a:t>
            </a:r>
            <a:r>
              <a:rPr lang="en-US" altLang="zh-CN" sz="1500" b="1">
                <a:solidFill>
                  <a:schemeClr val="accent2">
                    <a:lumMod val="75000"/>
                  </a:schemeClr>
                </a:solidFill>
                <a:latin typeface="Times New Roman Bold" panose="02020603050405020304" charset="0"/>
                <a:cs typeface="Times New Roman Bold" panose="02020603050405020304" charset="0"/>
              </a:rPr>
              <a:t>mixed together</a:t>
            </a:r>
            <a:r>
              <a:rPr lang="en-US" altLang="zh-CN" sz="1500">
                <a:latin typeface="Times New Roman Regular" panose="02020603050405020304" charset="0"/>
                <a:cs typeface="Times New Roman Regular" panose="02020603050405020304" charset="0"/>
              </a:rPr>
              <a:t>, not very intuitive and </a:t>
            </a:r>
            <a:r>
              <a:rPr lang="en-US" altLang="zh-CN" sz="1500" b="1">
                <a:solidFill>
                  <a:schemeClr val="accent2">
                    <a:lumMod val="75000"/>
                  </a:schemeClr>
                </a:solidFill>
                <a:latin typeface="Times New Roman Bold" panose="02020603050405020304" charset="0"/>
                <a:cs typeface="Times New Roman Bold" panose="02020603050405020304" charset="0"/>
              </a:rPr>
              <a:t>aesthetically pleasing</a:t>
            </a:r>
            <a:r>
              <a:rPr lang="en-US" altLang="zh-CN" sz="1500">
                <a:latin typeface="Times New Roman Regular" panose="02020603050405020304" charset="0"/>
                <a:cs typeface="Times New Roman Regular" panose="02020603050405020304" charset="0"/>
              </a:rPr>
              <a:t>.</a:t>
            </a:r>
            <a:endParaRPr lang="en-US" altLang="zh-CN" sz="1500">
              <a:latin typeface="Times New Roman Regular" panose="02020603050405020304" charset="0"/>
              <a:cs typeface="Times New Roman Regular" panose="02020603050405020304" charset="0"/>
            </a:endParaRPr>
          </a:p>
        </p:txBody>
      </p:sp>
      <p:pic>
        <p:nvPicPr>
          <p:cNvPr id="15" name="图片 14" descr="图片6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3239770" y="1390015"/>
            <a:ext cx="866140" cy="772160"/>
          </a:xfrm>
          <a:prstGeom prst="rect">
            <a:avLst/>
          </a:prstGeom>
        </p:spPr>
      </p:pic>
      <p:pic>
        <p:nvPicPr>
          <p:cNvPr id="17" name="图片 16" descr="图片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8400000">
            <a:off x="3296920" y="2374900"/>
            <a:ext cx="767080" cy="394970"/>
          </a:xfrm>
          <a:prstGeom prst="rect">
            <a:avLst/>
          </a:prstGeom>
        </p:spPr>
      </p:pic>
      <p:cxnSp>
        <p:nvCxnSpPr>
          <p:cNvPr id="20" name="曲线连接符 19"/>
          <p:cNvCxnSpPr/>
          <p:nvPr/>
        </p:nvCxnSpPr>
        <p:spPr>
          <a:xfrm flipV="1">
            <a:off x="3073400" y="2285365"/>
            <a:ext cx="2956560" cy="775970"/>
          </a:xfrm>
          <a:prstGeom prst="curvedConnector3">
            <a:avLst>
              <a:gd name="adj1" fmla="val 50021"/>
            </a:avLst>
          </a:prstGeom>
          <a:ln w="31750" cap="rnd">
            <a:solidFill>
              <a:schemeClr val="accent2"/>
            </a:solidFill>
            <a:round/>
            <a:headEnd type="none" w="med" len="med"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21" name="图片 20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6029960" y="798830"/>
            <a:ext cx="1735455" cy="3760470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7875270" y="811530"/>
            <a:ext cx="1811655" cy="5330825"/>
          </a:xfrm>
          <a:prstGeom prst="rect">
            <a:avLst/>
          </a:prstGeom>
        </p:spPr>
      </p:pic>
      <p:sp>
        <p:nvSpPr>
          <p:cNvPr id="25" name="文本框 24"/>
          <p:cNvSpPr txBox="1"/>
          <p:nvPr>
            <p:custDataLst>
              <p:tags r:id="rId14"/>
            </p:custDataLst>
          </p:nvPr>
        </p:nvSpPr>
        <p:spPr>
          <a:xfrm>
            <a:off x="358140" y="2429510"/>
            <a:ext cx="4279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tx1"/>
                </a:solidFill>
                <a:latin typeface="Calibri" charset="0"/>
                <a:ea typeface="Calibri" charset="0"/>
              </a:rPr>
              <a:t>①</a:t>
            </a:r>
            <a:endParaRPr lang="zh-CN" altLang="en-US">
              <a:solidFill>
                <a:schemeClr val="tx1"/>
              </a:solidFill>
              <a:latin typeface="Calibri" charset="0"/>
              <a:ea typeface="Calibri" charset="0"/>
            </a:endParaRPr>
          </a:p>
        </p:txBody>
      </p:sp>
      <p:sp>
        <p:nvSpPr>
          <p:cNvPr id="26" name="文本框 25"/>
          <p:cNvSpPr txBox="1"/>
          <p:nvPr>
            <p:custDataLst>
              <p:tags r:id="rId15"/>
            </p:custDataLst>
          </p:nvPr>
        </p:nvSpPr>
        <p:spPr>
          <a:xfrm>
            <a:off x="371475" y="3924935"/>
            <a:ext cx="4273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Calibri" charset="0"/>
                <a:ea typeface="Calibri" charset="0"/>
              </a:rPr>
              <a:t>②</a:t>
            </a:r>
            <a:endParaRPr lang="zh-CN" altLang="en-US">
              <a:latin typeface="Calibri" charset="0"/>
              <a:ea typeface="Calibri" charset="0"/>
            </a:endParaRPr>
          </a:p>
        </p:txBody>
      </p:sp>
      <p:sp>
        <p:nvSpPr>
          <p:cNvPr id="27" name="文本框 26"/>
          <p:cNvSpPr txBox="1"/>
          <p:nvPr>
            <p:custDataLst>
              <p:tags r:id="rId16"/>
            </p:custDataLst>
          </p:nvPr>
        </p:nvSpPr>
        <p:spPr>
          <a:xfrm>
            <a:off x="725805" y="3832860"/>
            <a:ext cx="2658745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500">
                <a:latin typeface="Times New Roman Regular" panose="02020603050405020304" charset="0"/>
                <a:cs typeface="Times New Roman Regular" panose="02020603050405020304" charset="0"/>
              </a:rPr>
              <a:t>The sense of </a:t>
            </a:r>
            <a:r>
              <a:rPr lang="zh-CN" altLang="en-US" sz="1500" b="1">
                <a:solidFill>
                  <a:schemeClr val="accent2">
                    <a:lumMod val="75000"/>
                  </a:schemeClr>
                </a:solidFill>
                <a:latin typeface="Times New Roman Bold" panose="02020603050405020304" charset="0"/>
                <a:cs typeface="Times New Roman Bold" panose="02020603050405020304" charset="0"/>
              </a:rPr>
              <a:t>companionship</a:t>
            </a:r>
            <a:r>
              <a:rPr lang="zh-CN" altLang="en-US" sz="1500">
                <a:latin typeface="Times New Roman Regular" panose="02020603050405020304" charset="0"/>
                <a:cs typeface="Times New Roman Regular" panose="02020603050405020304" charset="0"/>
              </a:rPr>
              <a:t> of the butler needs to be </a:t>
            </a:r>
            <a:r>
              <a:rPr lang="zh-CN" altLang="en-US" sz="1500" b="1">
                <a:solidFill>
                  <a:schemeClr val="accent2">
                    <a:lumMod val="75000"/>
                  </a:schemeClr>
                </a:solidFill>
                <a:latin typeface="Times New Roman Bold" panose="02020603050405020304" charset="0"/>
                <a:cs typeface="Times New Roman Bold" panose="02020603050405020304" charset="0"/>
              </a:rPr>
              <a:t>enhanced</a:t>
            </a:r>
            <a:r>
              <a:rPr lang="en-US" altLang="zh-CN" sz="1500">
                <a:latin typeface="Times New Roman Regular" panose="02020603050405020304" charset="0"/>
                <a:cs typeface="Times New Roman Regular" panose="02020603050405020304" charset="0"/>
              </a:rPr>
              <a:t>.</a:t>
            </a:r>
            <a:endParaRPr lang="en-US" altLang="zh-CN" sz="1500">
              <a:latin typeface="Times New Roman Regular" panose="02020603050405020304" charset="0"/>
              <a:cs typeface="Times New Roman Regular" panose="02020603050405020304" charset="0"/>
            </a:endParaRPr>
          </a:p>
        </p:txBody>
      </p:sp>
      <p:pic>
        <p:nvPicPr>
          <p:cNvPr id="28" name="图片 27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/>
          <a:stretch>
            <a:fillRect/>
          </a:stretch>
        </p:blipFill>
        <p:spPr>
          <a:xfrm>
            <a:off x="2784475" y="4699000"/>
            <a:ext cx="1286510" cy="1286510"/>
          </a:xfrm>
          <a:prstGeom prst="rect">
            <a:avLst/>
          </a:prstGeom>
        </p:spPr>
      </p:pic>
      <p:pic>
        <p:nvPicPr>
          <p:cNvPr id="32" name="图片 31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20"/>
          <a:stretch>
            <a:fillRect/>
          </a:stretch>
        </p:blipFill>
        <p:spPr>
          <a:xfrm>
            <a:off x="9796780" y="798830"/>
            <a:ext cx="1884680" cy="4083050"/>
          </a:xfrm>
          <a:prstGeom prst="rect">
            <a:avLst/>
          </a:prstGeom>
        </p:spPr>
      </p:pic>
      <p:sp>
        <p:nvSpPr>
          <p:cNvPr id="37" name="文本框 36"/>
          <p:cNvSpPr txBox="1"/>
          <p:nvPr/>
        </p:nvSpPr>
        <p:spPr>
          <a:xfrm>
            <a:off x="371475" y="4645660"/>
            <a:ext cx="2413000" cy="1706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500">
                <a:latin typeface="Times New Roman Regular" panose="02020603050405020304" charset="0"/>
                <a:cs typeface="Times New Roman Regular" panose="02020603050405020304" charset="0"/>
              </a:rPr>
              <a:t>    </a:t>
            </a:r>
            <a:r>
              <a:rPr lang="zh-CN" altLang="en-US" sz="1500">
                <a:latin typeface="Times New Roman Regular" panose="02020603050405020304" charset="0"/>
                <a:cs typeface="Times New Roman Regular" panose="02020603050405020304" charset="0"/>
              </a:rPr>
              <a:t>The generated </a:t>
            </a:r>
            <a:r>
              <a:rPr lang="zh-CN" altLang="en-US" sz="1500" b="1">
                <a:solidFill>
                  <a:schemeClr val="accent2">
                    <a:lumMod val="75000"/>
                  </a:schemeClr>
                </a:solidFill>
                <a:latin typeface="Times New Roman Bold" panose="02020603050405020304" charset="0"/>
                <a:cs typeface="Times New Roman Bold" panose="02020603050405020304" charset="0"/>
              </a:rPr>
              <a:t>butler image</a:t>
            </a:r>
            <a:r>
              <a:rPr lang="zh-CN" altLang="en-US" sz="1500" b="1">
                <a:latin typeface="Times New Roman Bold" panose="02020603050405020304" charset="0"/>
                <a:cs typeface="Times New Roman Bold" panose="02020603050405020304" charset="0"/>
              </a:rPr>
              <a:t> </a:t>
            </a:r>
            <a:r>
              <a:rPr lang="zh-CN" altLang="en-US" sz="1500">
                <a:latin typeface="Times New Roman Regular" panose="02020603050405020304" charset="0"/>
                <a:cs typeface="Times New Roman Regular" panose="02020603050405020304" charset="0"/>
              </a:rPr>
              <a:t>will </a:t>
            </a:r>
            <a:r>
              <a:rPr lang="zh-CN" altLang="en-US" sz="1500" b="1">
                <a:solidFill>
                  <a:schemeClr val="accent2">
                    <a:lumMod val="75000"/>
                  </a:schemeClr>
                </a:solidFill>
                <a:latin typeface="Times New Roman Bold" panose="02020603050405020304" charset="0"/>
                <a:cs typeface="Times New Roman Bold" panose="02020603050405020304" charset="0"/>
              </a:rPr>
              <a:t>frequently appear</a:t>
            </a:r>
            <a:r>
              <a:rPr lang="zh-CN" altLang="en-US" sz="1500">
                <a:latin typeface="Times New Roman Regular" panose="02020603050405020304" charset="0"/>
                <a:cs typeface="Times New Roman Regular" panose="02020603050405020304" charset="0"/>
              </a:rPr>
              <a:t> on subsequent pages and can also accompany users in the form of </a:t>
            </a:r>
            <a:r>
              <a:rPr lang="zh-CN" altLang="en-US" sz="1500" b="1">
                <a:solidFill>
                  <a:schemeClr val="accent2">
                    <a:lumMod val="75000"/>
                  </a:schemeClr>
                </a:solidFill>
                <a:latin typeface="Times New Roman Bold" panose="02020603050405020304" charset="0"/>
                <a:cs typeface="Times New Roman Bold" panose="02020603050405020304" charset="0"/>
              </a:rPr>
              <a:t>pop-up Windows</a:t>
            </a:r>
            <a:r>
              <a:rPr lang="zh-CN" altLang="en-US" sz="1500">
                <a:latin typeface="Times New Roman Regular" panose="02020603050405020304" charset="0"/>
                <a:cs typeface="Times New Roman Regular" panose="02020603050405020304" charset="0"/>
              </a:rPr>
              <a:t> or </a:t>
            </a:r>
            <a:r>
              <a:rPr lang="zh-CN" altLang="en-US" sz="1500" b="1">
                <a:solidFill>
                  <a:schemeClr val="accent2">
                    <a:lumMod val="75000"/>
                  </a:schemeClr>
                </a:solidFill>
                <a:latin typeface="Times New Roman Bold" panose="02020603050405020304" charset="0"/>
                <a:cs typeface="Times New Roman Bold" panose="02020603050405020304" charset="0"/>
              </a:rPr>
              <a:t>floating Windows</a:t>
            </a:r>
            <a:endParaRPr lang="zh-CN" altLang="en-US" sz="1500" b="1">
              <a:solidFill>
                <a:schemeClr val="accent2">
                  <a:lumMod val="75000"/>
                </a:schemeClr>
              </a:solidFill>
              <a:latin typeface="Times New Roman Bold" panose="02020603050405020304" charset="0"/>
              <a:cs typeface="Times New Roman Bold" panose="02020603050405020304" charset="0"/>
            </a:endParaRPr>
          </a:p>
        </p:txBody>
      </p:sp>
      <p:sp>
        <p:nvSpPr>
          <p:cNvPr id="43" name="矩形: 圆角 9"/>
          <p:cNvSpPr/>
          <p:nvPr>
            <p:custDataLst>
              <p:tags r:id="rId21"/>
            </p:custDataLst>
          </p:nvPr>
        </p:nvSpPr>
        <p:spPr>
          <a:xfrm>
            <a:off x="1113155" y="973455"/>
            <a:ext cx="2450465" cy="520065"/>
          </a:xfrm>
          <a:prstGeom prst="roundRect">
            <a:avLst>
              <a:gd name="adj" fmla="val 50000"/>
            </a:avLst>
          </a:prstGeom>
          <a:solidFill>
            <a:srgbClr val="FBA97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48" name="文本框 47"/>
          <p:cNvSpPr txBox="1"/>
          <p:nvPr>
            <p:custDataLst>
              <p:tags r:id="rId22"/>
            </p:custDataLst>
          </p:nvPr>
        </p:nvSpPr>
        <p:spPr>
          <a:xfrm>
            <a:off x="1322070" y="1029970"/>
            <a:ext cx="206248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>
                <a:solidFill>
                  <a:schemeClr val="bg1"/>
                </a:solidFill>
                <a:latin typeface="Times New Roman Bold" panose="02020603050405020304" charset="0"/>
                <a:ea typeface="汉仪大宋简" panose="02010600000101010101" pitchFamily="2" charset="-122"/>
                <a:cs typeface="Times New Roman Bold" panose="02020603050405020304" charset="0"/>
              </a:rPr>
              <a:t>Require Analysis</a:t>
            </a:r>
            <a:endParaRPr lang="en-US" altLang="zh-CN" sz="2000" b="1">
              <a:solidFill>
                <a:schemeClr val="bg1"/>
              </a:solidFill>
              <a:latin typeface="Times New Roman Bold" panose="02020603050405020304" charset="0"/>
              <a:ea typeface="汉仪大宋简" panose="02010600000101010101" pitchFamily="2" charset="-122"/>
              <a:cs typeface="Times New Roman Bold" panose="02020603050405020304" charset="0"/>
            </a:endParaRPr>
          </a:p>
        </p:txBody>
      </p:sp>
      <p:sp>
        <p:nvSpPr>
          <p:cNvPr id="49" name="矩形: 圆角 9"/>
          <p:cNvSpPr/>
          <p:nvPr>
            <p:custDataLst>
              <p:tags r:id="rId23"/>
            </p:custDataLst>
          </p:nvPr>
        </p:nvSpPr>
        <p:spPr>
          <a:xfrm>
            <a:off x="7112635" y="264795"/>
            <a:ext cx="3076575" cy="520065"/>
          </a:xfrm>
          <a:prstGeom prst="roundRect">
            <a:avLst>
              <a:gd name="adj" fmla="val 50000"/>
            </a:avLst>
          </a:prstGeom>
          <a:solidFill>
            <a:srgbClr val="FBA97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50" name="文本框 49"/>
          <p:cNvSpPr txBox="1"/>
          <p:nvPr>
            <p:custDataLst>
              <p:tags r:id="rId24"/>
            </p:custDataLst>
          </p:nvPr>
        </p:nvSpPr>
        <p:spPr>
          <a:xfrm>
            <a:off x="7254875" y="324485"/>
            <a:ext cx="293433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>
                <a:solidFill>
                  <a:schemeClr val="bg1"/>
                </a:solidFill>
                <a:latin typeface="Times New Roman Bold" panose="02020603050405020304" charset="0"/>
                <a:ea typeface="汉仪大宋简" panose="02010600000101010101" pitchFamily="2" charset="-122"/>
                <a:cs typeface="Times New Roman Bold" panose="02020603050405020304" charset="0"/>
              </a:rPr>
              <a:t>Prototype Implemention</a:t>
            </a:r>
            <a:endParaRPr lang="en-US" altLang="zh-CN" sz="2000" b="1">
              <a:solidFill>
                <a:schemeClr val="bg1"/>
              </a:solidFill>
              <a:latin typeface="Times New Roman Bold" panose="02020603050405020304" charset="0"/>
              <a:ea typeface="汉仪大宋简" panose="02010600000101010101" pitchFamily="2" charset="-122"/>
              <a:cs typeface="Times New Roman Bold" panose="02020603050405020304" charset="0"/>
            </a:endParaRPr>
          </a:p>
        </p:txBody>
      </p:sp>
      <p:sp>
        <p:nvSpPr>
          <p:cNvPr id="51" name="矩形 50"/>
          <p:cNvSpPr/>
          <p:nvPr>
            <p:custDataLst>
              <p:tags r:id="rId25"/>
            </p:custDataLst>
          </p:nvPr>
        </p:nvSpPr>
        <p:spPr>
          <a:xfrm>
            <a:off x="5913120" y="1694180"/>
            <a:ext cx="1932940" cy="266065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EE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/>
          <p:cNvSpPr/>
          <p:nvPr>
            <p:custDataLst>
              <p:tags r:id="rId1"/>
            </p:custDataLst>
          </p:nvPr>
        </p:nvSpPr>
        <p:spPr>
          <a:xfrm>
            <a:off x="358391" y="273818"/>
            <a:ext cx="11475218" cy="6310364"/>
          </a:xfrm>
          <a:prstGeom prst="roundRect">
            <a:avLst>
              <a:gd name="adj" fmla="val 6794"/>
            </a:avLst>
          </a:prstGeom>
          <a:solidFill>
            <a:srgbClr val="F6EEE0"/>
          </a:solidFill>
          <a:ln w="5715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6000">
                  <a:srgbClr val="F9FBFD">
                    <a:alpha val="0"/>
                  </a:srgbClr>
                </a:gs>
                <a:gs pos="44918">
                  <a:srgbClr val="FBFCFE">
                    <a:alpha val="0"/>
                  </a:srgbClr>
                </a:gs>
                <a:gs pos="74000">
                  <a:schemeClr val="bg1">
                    <a:alpha val="0"/>
                  </a:schemeClr>
                </a:gs>
                <a:gs pos="83000">
                  <a:schemeClr val="bg1">
                    <a:alpha val="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5400000" scaled="1"/>
            </a:gradFill>
          </a:ln>
          <a:effectLst>
            <a:outerShdw blurRad="1219200" dist="368300" dir="2700000" algn="tl" rotWithShape="0">
              <a:srgbClr val="FE9866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Calibri" charset="0"/>
              <a:cs typeface="Calibri" charset="0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478155" y="370840"/>
            <a:ext cx="283527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>
                <a:solidFill>
                  <a:schemeClr val="accent2"/>
                </a:solidFill>
                <a:latin typeface="Times New Roman Bold" panose="02020603050405020304" charset="0"/>
                <a:ea typeface="汉仪大宋简" panose="02010600000101010101" pitchFamily="2" charset="-122"/>
                <a:cs typeface="Times New Roman Bold" panose="02020603050405020304" charset="0"/>
              </a:rPr>
              <a:t>I</a:t>
            </a:r>
            <a:r>
              <a:rPr lang="en-US" altLang="zh-CN" sz="3600" b="1">
                <a:solidFill>
                  <a:schemeClr val="accent2"/>
                </a:solidFill>
                <a:latin typeface="Times New Roman Bold" panose="02020603050405020304" charset="0"/>
                <a:ea typeface="汉仪大宋简" panose="02010600000101010101" pitchFamily="2" charset="-122"/>
                <a:cs typeface="Times New Roman Bold" panose="02020603050405020304" charset="0"/>
              </a:rPr>
              <a:t>teration 3</a:t>
            </a:r>
            <a:endParaRPr lang="en-US" altLang="zh-CN" sz="3600" b="1">
              <a:solidFill>
                <a:schemeClr val="accent2"/>
              </a:solidFill>
              <a:latin typeface="Times New Roman Bold" panose="02020603050405020304" charset="0"/>
              <a:ea typeface="汉仪大宋简" panose="02010600000101010101" pitchFamily="2" charset="-122"/>
              <a:cs typeface="Times New Roman Bold" panose="02020603050405020304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804545" y="1917065"/>
            <a:ext cx="2934335" cy="1245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500">
                <a:latin typeface="Times New Roman Regular" panose="02020603050405020304" charset="0"/>
                <a:cs typeface="Times New Roman Regular" panose="02020603050405020304" charset="0"/>
              </a:rPr>
              <a:t>Diet, schedule and decision-making are just preset </a:t>
            </a:r>
            <a:r>
              <a:rPr lang="en-US" altLang="zh-CN" sz="1500" b="1">
                <a:solidFill>
                  <a:schemeClr val="accent2">
                    <a:lumMod val="75000"/>
                  </a:schemeClr>
                </a:solidFill>
                <a:latin typeface="Times New Roman Bold" panose="02020603050405020304" charset="0"/>
                <a:cs typeface="Times New Roman Bold" panose="02020603050405020304" charset="0"/>
              </a:rPr>
              <a:t>sections that are relatively fixed</a:t>
            </a:r>
            <a:r>
              <a:rPr lang="en-US" altLang="zh-CN" sz="1500">
                <a:latin typeface="Times New Roman Regular" panose="02020603050405020304" charset="0"/>
                <a:cs typeface="Times New Roman Regular" panose="02020603050405020304" charset="0"/>
              </a:rPr>
              <a:t>. As a life manager, one </a:t>
            </a:r>
            <a:r>
              <a:rPr lang="en-US" altLang="zh-CN" sz="1500" b="1">
                <a:solidFill>
                  <a:schemeClr val="accent2">
                    <a:lumMod val="75000"/>
                  </a:schemeClr>
                </a:solidFill>
                <a:latin typeface="Times New Roman Bold" panose="02020603050405020304" charset="0"/>
                <a:cs typeface="Times New Roman Bold" panose="02020603050405020304" charset="0"/>
              </a:rPr>
              <a:t>cannot comprehensively manage the user's life</a:t>
            </a:r>
            <a:r>
              <a:rPr lang="en-US" altLang="zh-CN" sz="1500">
                <a:solidFill>
                  <a:schemeClr val="accent2">
                    <a:lumMod val="75000"/>
                  </a:schemeClr>
                </a:solidFill>
                <a:latin typeface="Times New Roman Regular" panose="02020603050405020304" charset="0"/>
                <a:cs typeface="Times New Roman Regular" panose="02020603050405020304" charset="0"/>
              </a:rPr>
              <a:t>.</a:t>
            </a:r>
            <a:endParaRPr lang="en-US" altLang="zh-CN" sz="1500">
              <a:solidFill>
                <a:schemeClr val="accent2">
                  <a:lumMod val="75000"/>
                </a:schemeClr>
              </a:solidFill>
              <a:latin typeface="Times New Roman Regular" panose="02020603050405020304" charset="0"/>
              <a:cs typeface="Times New Roman Regular" panose="02020603050405020304" charset="0"/>
            </a:endParaRPr>
          </a:p>
        </p:txBody>
      </p:sp>
      <p:grpSp>
        <p:nvGrpSpPr>
          <p:cNvPr id="29" name="Group 18"/>
          <p:cNvGrpSpPr/>
          <p:nvPr/>
        </p:nvGrpSpPr>
        <p:grpSpPr>
          <a:xfrm rot="0">
            <a:off x="14936727" y="25050903"/>
            <a:ext cx="386393" cy="496683"/>
            <a:chOff x="0" y="0"/>
            <a:chExt cx="632315" cy="812800"/>
          </a:xfrm>
        </p:grpSpPr>
        <p:sp>
          <p:nvSpPr>
            <p:cNvPr id="30" name="Freeform 19"/>
            <p:cNvSpPr/>
            <p:nvPr>
              <p:custDataLst>
                <p:tags r:id="rId2"/>
              </p:custDataLst>
            </p:nvPr>
          </p:nvSpPr>
          <p:spPr>
            <a:xfrm>
              <a:off x="0" y="0"/>
              <a:ext cx="632315" cy="812800"/>
            </a:xfrm>
            <a:custGeom>
              <a:avLst/>
              <a:gdLst/>
              <a:ahLst/>
              <a:cxnLst/>
              <a:rect l="l" t="t" r="r" b="b"/>
              <a:pathLst>
                <a:path w="632315" h="812800">
                  <a:moveTo>
                    <a:pt x="632315" y="406400"/>
                  </a:moveTo>
                  <a:lnTo>
                    <a:pt x="225915" y="0"/>
                  </a:lnTo>
                  <a:lnTo>
                    <a:pt x="225915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225915" y="609600"/>
                  </a:lnTo>
                  <a:lnTo>
                    <a:pt x="225915" y="812800"/>
                  </a:lnTo>
                  <a:lnTo>
                    <a:pt x="632315" y="406400"/>
                  </a:lnTo>
                  <a:close/>
                </a:path>
              </a:pathLst>
            </a:custGeom>
            <a:solidFill>
              <a:srgbClr val="D76735"/>
            </a:solidFill>
          </p:spPr>
        </p:sp>
        <p:sp>
          <p:nvSpPr>
            <p:cNvPr id="31" name="TextBox 20"/>
            <p:cNvSpPr txBox="1"/>
            <p:nvPr>
              <p:custDataLst>
                <p:tags r:id="rId3"/>
              </p:custDataLst>
            </p:nvPr>
          </p:nvSpPr>
          <p:spPr>
            <a:xfrm>
              <a:off x="0" y="174625"/>
              <a:ext cx="530715" cy="434975"/>
            </a:xfrm>
            <a:prstGeom prst="rect">
              <a:avLst/>
            </a:prstGeom>
          </p:spPr>
          <p:txBody>
            <a:bodyPr lIns="27243" tIns="27243" rIns="27243" bIns="27243" rtlCol="0" anchor="ctr"/>
            <a:lstStyle/>
            <a:p>
              <a:pPr algn="ctr">
                <a:lnSpc>
                  <a:spcPts val="1120"/>
                </a:lnSpc>
                <a:spcBef>
                  <a:spcPct val="0"/>
                </a:spcBef>
              </a:pPr>
            </a:p>
          </p:txBody>
        </p:sp>
      </p:grpSp>
      <p:sp>
        <p:nvSpPr>
          <p:cNvPr id="35" name="文本框 34"/>
          <p:cNvSpPr txBox="1"/>
          <p:nvPr/>
        </p:nvSpPr>
        <p:spPr>
          <a:xfrm>
            <a:off x="436245" y="2348230"/>
            <a:ext cx="3683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tx1"/>
                </a:solidFill>
                <a:latin typeface="Calibri" charset="0"/>
                <a:ea typeface="Calibri" charset="0"/>
              </a:rPr>
              <a:t>①</a:t>
            </a:r>
            <a:endParaRPr lang="zh-CN" altLang="en-US">
              <a:solidFill>
                <a:schemeClr val="tx1"/>
              </a:solidFill>
              <a:latin typeface="Calibri" charset="0"/>
              <a:ea typeface="Calibri" charset="0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436245" y="3596640"/>
            <a:ext cx="3683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Calibri" charset="0"/>
                <a:ea typeface="Calibri" charset="0"/>
              </a:rPr>
              <a:t>②</a:t>
            </a:r>
            <a:endParaRPr lang="zh-CN" altLang="en-US">
              <a:latin typeface="Calibri" charset="0"/>
              <a:ea typeface="Calibri" charset="0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804545" y="3263900"/>
            <a:ext cx="2823845" cy="1245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500">
                <a:latin typeface="Times New Roman Regular" panose="02020603050405020304" charset="0"/>
                <a:cs typeface="Times New Roman Regular" panose="02020603050405020304" charset="0"/>
              </a:rPr>
              <a:t>The current intelligent decision-making is </a:t>
            </a:r>
            <a:r>
              <a:rPr lang="zh-CN" altLang="en-US" sz="1500" b="1">
                <a:solidFill>
                  <a:schemeClr val="accent2">
                    <a:lumMod val="75000"/>
                  </a:schemeClr>
                </a:solidFill>
                <a:latin typeface="Times New Roman Bold" panose="02020603050405020304" charset="0"/>
                <a:cs typeface="Times New Roman Bold" panose="02020603050405020304" charset="0"/>
              </a:rPr>
              <a:t>not personalized </a:t>
            </a:r>
            <a:r>
              <a:rPr lang="zh-CN" altLang="en-US" sz="1500">
                <a:latin typeface="Times New Roman Regular" panose="02020603050405020304" charset="0"/>
                <a:cs typeface="Times New Roman Regular" panose="02020603050405020304" charset="0"/>
              </a:rPr>
              <a:t>enough and fails to reflect users' behavioral logic, thinking patterns, etc</a:t>
            </a:r>
            <a:r>
              <a:rPr lang="en-US" altLang="zh-CN" sz="1500">
                <a:latin typeface="Times New Roman Regular" panose="02020603050405020304" charset="0"/>
                <a:cs typeface="Times New Roman Regular" panose="02020603050405020304" charset="0"/>
              </a:rPr>
              <a:t>.</a:t>
            </a:r>
            <a:endParaRPr lang="en-US" altLang="zh-CN" sz="1500">
              <a:latin typeface="Times New Roman Regular" panose="02020603050405020304" charset="0"/>
              <a:cs typeface="Times New Roman Regular" panose="02020603050405020304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3762375" y="370840"/>
            <a:ext cx="1884680" cy="606933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5838190" y="746125"/>
            <a:ext cx="1828800" cy="396113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7858125" y="718503"/>
            <a:ext cx="1848485" cy="3960495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5647690" y="4838700"/>
            <a:ext cx="628713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500">
                <a:latin typeface="Times New Roman Regular" panose="02020603050405020304" charset="0"/>
                <a:cs typeface="Times New Roman Regular" panose="02020603050405020304" charset="0"/>
              </a:rPr>
              <a:t>    </a:t>
            </a:r>
            <a:r>
              <a:rPr lang="zh-CN" altLang="en-US" sz="1500">
                <a:latin typeface="Times New Roman Regular" panose="02020603050405020304" charset="0"/>
                <a:cs typeface="Times New Roman Regular" panose="02020603050405020304" charset="0"/>
              </a:rPr>
              <a:t>AIVA can learn more about </a:t>
            </a:r>
            <a:r>
              <a:rPr lang="zh-CN" altLang="en-US" sz="1500" b="1">
                <a:solidFill>
                  <a:schemeClr val="accent2">
                    <a:lumMod val="75000"/>
                  </a:schemeClr>
                </a:solidFill>
                <a:latin typeface="Times New Roman Bold" panose="02020603050405020304" charset="0"/>
                <a:cs typeface="Times New Roman Bold" panose="02020603050405020304" charset="0"/>
              </a:rPr>
              <a:t>user information</a:t>
            </a:r>
            <a:r>
              <a:rPr lang="zh-CN" altLang="en-US" sz="1500">
                <a:latin typeface="Times New Roman Regular" panose="02020603050405020304" charset="0"/>
                <a:cs typeface="Times New Roman Regular" panose="02020603050405020304" charset="0"/>
              </a:rPr>
              <a:t> through </a:t>
            </a:r>
            <a:r>
              <a:rPr lang="zh-CN" altLang="en-US" sz="1500" b="1">
                <a:solidFill>
                  <a:schemeClr val="accent2">
                    <a:lumMod val="75000"/>
                  </a:schemeClr>
                </a:solidFill>
                <a:latin typeface="Times New Roman Bold" panose="02020603050405020304" charset="0"/>
                <a:cs typeface="Times New Roman Bold" panose="02020603050405020304" charset="0"/>
              </a:rPr>
              <a:t>guided Q&amp;A</a:t>
            </a:r>
            <a:r>
              <a:rPr lang="zh-CN" altLang="en-US" sz="1500" b="1">
                <a:latin typeface="Times New Roman Bold" panose="02020603050405020304" charset="0"/>
                <a:cs typeface="Times New Roman Bold" panose="02020603050405020304" charset="0"/>
              </a:rPr>
              <a:t>,</a:t>
            </a:r>
            <a:r>
              <a:rPr lang="zh-CN" altLang="en-US" sz="1500">
                <a:latin typeface="Times New Roman Regular" panose="02020603050405020304" charset="0"/>
                <a:cs typeface="Times New Roman Regular" panose="02020603050405020304" charset="0"/>
              </a:rPr>
              <a:t> such as MBTI, living habits, daily activities, etc. Based on the </a:t>
            </a:r>
            <a:r>
              <a:rPr lang="zh-CN" altLang="en-US" sz="1500" b="1">
                <a:solidFill>
                  <a:schemeClr val="accent2">
                    <a:lumMod val="75000"/>
                  </a:schemeClr>
                </a:solidFill>
                <a:latin typeface="Times New Roman Bold" panose="02020603050405020304" charset="0"/>
                <a:cs typeface="Times New Roman Bold" panose="02020603050405020304" charset="0"/>
              </a:rPr>
              <a:t>analysis of users</a:t>
            </a:r>
            <a:r>
              <a:rPr lang="zh-CN" altLang="en-US" sz="1500">
                <a:solidFill>
                  <a:schemeClr val="tx1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>, it</a:t>
            </a:r>
            <a:r>
              <a:rPr lang="zh-CN" altLang="en-US" sz="1500">
                <a:solidFill>
                  <a:schemeClr val="accent2">
                    <a:lumMod val="75000"/>
                  </a:schemeClr>
                </a:solidFill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  <a:r>
              <a:rPr lang="zh-CN" altLang="en-US" sz="1500" b="1">
                <a:solidFill>
                  <a:schemeClr val="accent2">
                    <a:lumMod val="75000"/>
                  </a:schemeClr>
                </a:solidFill>
                <a:latin typeface="Times New Roman Bold" panose="02020603050405020304" charset="0"/>
                <a:cs typeface="Times New Roman Bold" panose="02020603050405020304" charset="0"/>
              </a:rPr>
              <a:t>generates the sections</a:t>
            </a:r>
            <a:r>
              <a:rPr lang="zh-CN" altLang="en-US" sz="1500" b="1">
                <a:latin typeface="Times New Roman Bold" panose="02020603050405020304" charset="0"/>
                <a:cs typeface="Times New Roman Bold" panose="02020603050405020304" charset="0"/>
              </a:rPr>
              <a:t> </a:t>
            </a:r>
            <a:r>
              <a:rPr lang="zh-CN" altLang="en-US" sz="1500">
                <a:latin typeface="Times New Roman Regular" panose="02020603050405020304" charset="0"/>
                <a:cs typeface="Times New Roman Regular" panose="02020603050405020304" charset="0"/>
              </a:rPr>
              <a:t>that users need. Users can also </a:t>
            </a:r>
            <a:r>
              <a:rPr lang="zh-CN" altLang="en-US" sz="1500" b="1">
                <a:solidFill>
                  <a:schemeClr val="accent2">
                    <a:lumMod val="75000"/>
                  </a:schemeClr>
                </a:solidFill>
                <a:latin typeface="Times New Roman Bold" panose="02020603050405020304" charset="0"/>
                <a:cs typeface="Times New Roman Bold" panose="02020603050405020304" charset="0"/>
              </a:rPr>
              <a:t>customize the sections</a:t>
            </a:r>
            <a:r>
              <a:rPr lang="zh-CN" altLang="en-US" sz="1500">
                <a:latin typeface="Times New Roman Regular" panose="02020603050405020304" charset="0"/>
                <a:cs typeface="Times New Roman Regular" panose="02020603050405020304" charset="0"/>
              </a:rPr>
              <a:t>. </a:t>
            </a:r>
            <a:r>
              <a:rPr lang="en-US" altLang="zh-CN" sz="1500">
                <a:latin typeface="Times New Roman Regular" panose="02020603050405020304" charset="0"/>
                <a:cs typeface="Times New Roman Regular" panose="02020603050405020304" charset="0"/>
              </a:rPr>
              <a:t>  </a:t>
            </a:r>
            <a:endParaRPr lang="en-US" altLang="zh-CN" sz="1500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r>
              <a:rPr lang="en-US" altLang="zh-CN" sz="1500">
                <a:latin typeface="Times New Roman Regular" panose="02020603050405020304" charset="0"/>
                <a:cs typeface="Times New Roman Regular" panose="02020603050405020304" charset="0"/>
              </a:rPr>
              <a:t>    </a:t>
            </a:r>
            <a:r>
              <a:rPr lang="zh-CN" altLang="en-US" sz="1500">
                <a:latin typeface="Times New Roman Regular" panose="02020603050405020304" charset="0"/>
                <a:cs typeface="Times New Roman Regular" panose="02020603050405020304" charset="0"/>
              </a:rPr>
              <a:t>On the decision-making page, users can also </a:t>
            </a:r>
            <a:r>
              <a:rPr lang="zh-CN" altLang="en-US" sz="1500" b="1">
                <a:solidFill>
                  <a:schemeClr val="accent2">
                    <a:lumMod val="75000"/>
                  </a:schemeClr>
                </a:solidFill>
                <a:latin typeface="Times New Roman Bold" panose="02020603050405020304" charset="0"/>
                <a:cs typeface="Times New Roman Bold" panose="02020603050405020304" charset="0"/>
              </a:rPr>
              <a:t>make personalized decisions</a:t>
            </a:r>
            <a:r>
              <a:rPr lang="zh-CN" altLang="en-US" sz="1500">
                <a:latin typeface="Times New Roman Regular" panose="02020603050405020304" charset="0"/>
                <a:cs typeface="Times New Roman Regular" panose="02020603050405020304" charset="0"/>
              </a:rPr>
              <a:t> by </a:t>
            </a:r>
            <a:r>
              <a:rPr lang="zh-CN" altLang="en-US" sz="1500" b="1">
                <a:solidFill>
                  <a:schemeClr val="accent2">
                    <a:lumMod val="75000"/>
                  </a:schemeClr>
                </a:solidFill>
                <a:latin typeface="Times New Roman Bold" panose="02020603050405020304" charset="0"/>
                <a:cs typeface="Times New Roman Bold" panose="02020603050405020304" charset="0"/>
              </a:rPr>
              <a:t>choosing the decision-making mode</a:t>
            </a:r>
            <a:r>
              <a:rPr lang="zh-CN" altLang="en-US" sz="1500">
                <a:latin typeface="Times New Roman Regular" panose="02020603050405020304" charset="0"/>
                <a:cs typeface="Times New Roman Regular" panose="02020603050405020304" charset="0"/>
              </a:rPr>
              <a:t> and behavioral logic that consider their personal habits.</a:t>
            </a:r>
            <a:endParaRPr lang="zh-CN" altLang="en-US" sz="1500">
              <a:latin typeface="Times New Roman Regular" panose="02020603050405020304" charset="0"/>
              <a:cs typeface="Times New Roman Regular" panose="02020603050405020304" charset="0"/>
            </a:endParaRPr>
          </a:p>
        </p:txBody>
      </p:sp>
      <p:pic>
        <p:nvPicPr>
          <p:cNvPr id="13" name="图片 12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/>
          <a:srcRect b="2953"/>
          <a:stretch>
            <a:fillRect/>
          </a:stretch>
        </p:blipFill>
        <p:spPr>
          <a:xfrm>
            <a:off x="9897745" y="324485"/>
            <a:ext cx="1828800" cy="4382770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804545" y="4486275"/>
            <a:ext cx="272859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500">
                <a:latin typeface="Times New Roman Regular" panose="02020603050405020304" charset="0"/>
                <a:cs typeface="Times New Roman Regular" panose="02020603050405020304" charset="0"/>
              </a:rPr>
              <a:t>On pages </a:t>
            </a:r>
            <a:r>
              <a:rPr lang="zh-CN" altLang="en-US" sz="1500" b="1">
                <a:solidFill>
                  <a:schemeClr val="accent2">
                    <a:lumMod val="75000"/>
                  </a:schemeClr>
                </a:solidFill>
                <a:latin typeface="Times New Roman Bold" panose="02020603050405020304" charset="0"/>
                <a:cs typeface="Times New Roman Bold" panose="02020603050405020304" charset="0"/>
              </a:rPr>
              <a:t>lacking a personal growth page</a:t>
            </a:r>
            <a:r>
              <a:rPr lang="zh-CN" altLang="en-US" sz="1500">
                <a:latin typeface="Times New Roman Regular" panose="02020603050405020304" charset="0"/>
                <a:cs typeface="Times New Roman Regular" panose="02020603050405020304" charset="0"/>
              </a:rPr>
              <a:t>, users cannot get an </a:t>
            </a:r>
            <a:r>
              <a:rPr lang="zh-CN" altLang="en-US" sz="1500" b="1">
                <a:solidFill>
                  <a:schemeClr val="accent2">
                    <a:lumMod val="75000"/>
                  </a:schemeClr>
                </a:solidFill>
                <a:latin typeface="Times New Roman Bold" panose="02020603050405020304" charset="0"/>
                <a:cs typeface="Times New Roman Bold" panose="02020603050405020304" charset="0"/>
              </a:rPr>
              <a:t>overview of their recent lives</a:t>
            </a:r>
            <a:r>
              <a:rPr lang="en-US" altLang="zh-CN" sz="1500">
                <a:latin typeface="Times New Roman Regular" panose="02020603050405020304" charset="0"/>
                <a:cs typeface="Times New Roman Regular" panose="02020603050405020304" charset="0"/>
              </a:rPr>
              <a:t>.</a:t>
            </a:r>
            <a:endParaRPr lang="en-US" altLang="zh-CN" sz="1500">
              <a:latin typeface="Times New Roman Regular" panose="02020603050405020304" charset="0"/>
              <a:cs typeface="Times New Roman Regular" panose="02020603050405020304" charset="0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436245" y="4775200"/>
            <a:ext cx="4464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Calibri" charset="0"/>
                <a:ea typeface="Calibri" charset="0"/>
              </a:rPr>
              <a:t>③</a:t>
            </a:r>
            <a:endParaRPr lang="zh-CN" altLang="en-US">
              <a:latin typeface="Calibri" charset="0"/>
              <a:ea typeface="Calibri" charset="0"/>
            </a:endParaRPr>
          </a:p>
        </p:txBody>
      </p:sp>
      <p:sp>
        <p:nvSpPr>
          <p:cNvPr id="47" name="矩形: 圆角 9"/>
          <p:cNvSpPr/>
          <p:nvPr>
            <p:custDataLst>
              <p:tags r:id="rId12"/>
            </p:custDataLst>
          </p:nvPr>
        </p:nvSpPr>
        <p:spPr>
          <a:xfrm>
            <a:off x="1064895" y="1206500"/>
            <a:ext cx="2450465" cy="520065"/>
          </a:xfrm>
          <a:prstGeom prst="roundRect">
            <a:avLst>
              <a:gd name="adj" fmla="val 50000"/>
            </a:avLst>
          </a:prstGeom>
          <a:solidFill>
            <a:srgbClr val="FBA97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Id13"/>
            </p:custDataLst>
          </p:nvPr>
        </p:nvSpPr>
        <p:spPr>
          <a:xfrm>
            <a:off x="1273810" y="1263015"/>
            <a:ext cx="206248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>
                <a:solidFill>
                  <a:schemeClr val="bg1"/>
                </a:solidFill>
                <a:latin typeface="Times New Roman Bold" panose="02020603050405020304" charset="0"/>
                <a:ea typeface="汉仪大宋简" panose="02010600000101010101" pitchFamily="2" charset="-122"/>
                <a:cs typeface="Times New Roman Bold" panose="02020603050405020304" charset="0"/>
              </a:rPr>
              <a:t>Require Analysis</a:t>
            </a:r>
            <a:endParaRPr lang="en-US" altLang="zh-CN" sz="2000" b="1">
              <a:solidFill>
                <a:schemeClr val="bg1"/>
              </a:solidFill>
              <a:latin typeface="Times New Roman Bold" panose="02020603050405020304" charset="0"/>
              <a:ea typeface="汉仪大宋简" panose="02010600000101010101" pitchFamily="2" charset="-122"/>
              <a:cs typeface="Times New Roman Bold" panose="02020603050405020304" charset="0"/>
            </a:endParaRPr>
          </a:p>
        </p:txBody>
      </p:sp>
      <p:sp>
        <p:nvSpPr>
          <p:cNvPr id="48" name="矩形: 圆角 9"/>
          <p:cNvSpPr/>
          <p:nvPr>
            <p:custDataLst>
              <p:tags r:id="rId14"/>
            </p:custDataLst>
          </p:nvPr>
        </p:nvSpPr>
        <p:spPr>
          <a:xfrm>
            <a:off x="6447155" y="264795"/>
            <a:ext cx="3076575" cy="520065"/>
          </a:xfrm>
          <a:prstGeom prst="roundRect">
            <a:avLst>
              <a:gd name="adj" fmla="val 50000"/>
            </a:avLst>
          </a:prstGeom>
          <a:solidFill>
            <a:srgbClr val="FBA97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18" name="文本框 17"/>
          <p:cNvSpPr txBox="1"/>
          <p:nvPr>
            <p:custDataLst>
              <p:tags r:id="rId15"/>
            </p:custDataLst>
          </p:nvPr>
        </p:nvSpPr>
        <p:spPr>
          <a:xfrm>
            <a:off x="6589395" y="324485"/>
            <a:ext cx="293433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>
                <a:solidFill>
                  <a:schemeClr val="bg1"/>
                </a:solidFill>
                <a:latin typeface="Times New Roman Bold" panose="02020603050405020304" charset="0"/>
                <a:ea typeface="汉仪大宋简" panose="02010600000101010101" pitchFamily="2" charset="-122"/>
                <a:cs typeface="Times New Roman Bold" panose="02020603050405020304" charset="0"/>
              </a:rPr>
              <a:t>Prototype Implemention</a:t>
            </a:r>
            <a:endParaRPr lang="en-US" altLang="zh-CN" sz="2000" b="1">
              <a:solidFill>
                <a:schemeClr val="bg1"/>
              </a:solidFill>
              <a:latin typeface="Times New Roman Bold" panose="02020603050405020304" charset="0"/>
              <a:ea typeface="汉仪大宋简" panose="02010600000101010101" pitchFamily="2" charset="-122"/>
              <a:cs typeface="Times New Roman Bold" panose="02020603050405020304" charset="0"/>
            </a:endParaRPr>
          </a:p>
        </p:txBody>
      </p:sp>
      <p:sp>
        <p:nvSpPr>
          <p:cNvPr id="19" name="矩形 18"/>
          <p:cNvSpPr/>
          <p:nvPr>
            <p:custDataLst>
              <p:tags r:id="rId16"/>
            </p:custDataLst>
          </p:nvPr>
        </p:nvSpPr>
        <p:spPr>
          <a:xfrm>
            <a:off x="5781040" y="1726565"/>
            <a:ext cx="1941195" cy="585470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矩形 19"/>
          <p:cNvSpPr/>
          <p:nvPr>
            <p:custDataLst>
              <p:tags r:id="rId17"/>
            </p:custDataLst>
          </p:nvPr>
        </p:nvSpPr>
        <p:spPr>
          <a:xfrm>
            <a:off x="3716655" y="1016000"/>
            <a:ext cx="1941195" cy="520700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矩形 20"/>
          <p:cNvSpPr/>
          <p:nvPr>
            <p:custDataLst>
              <p:tags r:id="rId18"/>
            </p:custDataLst>
          </p:nvPr>
        </p:nvSpPr>
        <p:spPr>
          <a:xfrm>
            <a:off x="7787640" y="4206875"/>
            <a:ext cx="1276985" cy="368300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EE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/>
          <p:cNvSpPr/>
          <p:nvPr>
            <p:custDataLst>
              <p:tags r:id="rId1"/>
            </p:custDataLst>
          </p:nvPr>
        </p:nvSpPr>
        <p:spPr>
          <a:xfrm>
            <a:off x="358391" y="273818"/>
            <a:ext cx="11475218" cy="6310364"/>
          </a:xfrm>
          <a:prstGeom prst="roundRect">
            <a:avLst>
              <a:gd name="adj" fmla="val 6794"/>
            </a:avLst>
          </a:prstGeom>
          <a:solidFill>
            <a:srgbClr val="F6EEE0"/>
          </a:solidFill>
          <a:ln w="5715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6000">
                  <a:srgbClr val="F9FBFD">
                    <a:alpha val="0"/>
                  </a:srgbClr>
                </a:gs>
                <a:gs pos="44918">
                  <a:srgbClr val="FBFCFE">
                    <a:alpha val="0"/>
                  </a:srgbClr>
                </a:gs>
                <a:gs pos="74000">
                  <a:schemeClr val="bg1">
                    <a:alpha val="0"/>
                  </a:schemeClr>
                </a:gs>
                <a:gs pos="83000">
                  <a:schemeClr val="bg1">
                    <a:alpha val="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5400000" scaled="1"/>
            </a:gradFill>
          </a:ln>
          <a:effectLst>
            <a:outerShdw blurRad="1219200" dist="368300" dir="2700000" algn="tl" rotWithShape="0">
              <a:srgbClr val="FE9866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Calibri" charset="0"/>
              <a:cs typeface="Calibri" charset="0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478155" y="370840"/>
            <a:ext cx="283527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>
                <a:solidFill>
                  <a:schemeClr val="accent2"/>
                </a:solidFill>
                <a:latin typeface="Times New Roman Bold" panose="02020603050405020304" charset="0"/>
                <a:ea typeface="汉仪大宋简" panose="02010600000101010101" pitchFamily="2" charset="-122"/>
                <a:cs typeface="Times New Roman Bold" panose="02020603050405020304" charset="0"/>
              </a:rPr>
              <a:t>I</a:t>
            </a:r>
            <a:r>
              <a:rPr lang="en-US" altLang="zh-CN" sz="3600" b="1">
                <a:solidFill>
                  <a:schemeClr val="accent2"/>
                </a:solidFill>
                <a:latin typeface="Times New Roman Bold" panose="02020603050405020304" charset="0"/>
                <a:ea typeface="汉仪大宋简" panose="02010600000101010101" pitchFamily="2" charset="-122"/>
                <a:cs typeface="Times New Roman Bold" panose="02020603050405020304" charset="0"/>
              </a:rPr>
              <a:t>teration 4</a:t>
            </a:r>
            <a:endParaRPr lang="en-US" altLang="zh-CN" sz="3600" b="1">
              <a:solidFill>
                <a:schemeClr val="accent2"/>
              </a:solidFill>
              <a:latin typeface="Times New Roman Bold" panose="02020603050405020304" charset="0"/>
              <a:ea typeface="汉仪大宋简" panose="02010600000101010101" pitchFamily="2" charset="-122"/>
              <a:cs typeface="Times New Roman Bold" panose="02020603050405020304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830580" y="1710055"/>
            <a:ext cx="3359150" cy="1245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500">
                <a:latin typeface="Times New Roman Regular" panose="02020603050405020304" charset="0"/>
                <a:cs typeface="Times New Roman Regular" panose="02020603050405020304" charset="0"/>
              </a:rPr>
              <a:t>    For the majority of AIVA users, the </a:t>
            </a:r>
            <a:r>
              <a:rPr lang="en-US" altLang="zh-CN" sz="1500" b="1">
                <a:solidFill>
                  <a:schemeClr val="accent2">
                    <a:lumMod val="75000"/>
                  </a:schemeClr>
                </a:solidFill>
                <a:latin typeface="Times New Roman Bold" panose="02020603050405020304" charset="0"/>
                <a:cs typeface="Times New Roman Bold" panose="02020603050405020304" charset="0"/>
              </a:rPr>
              <a:t>sleep and shopping sections</a:t>
            </a:r>
            <a:r>
              <a:rPr lang="en-US" altLang="zh-CN" sz="1500">
                <a:latin typeface="Times New Roman Regular" panose="02020603050405020304" charset="0"/>
                <a:cs typeface="Times New Roman Regular" panose="02020603050405020304" charset="0"/>
              </a:rPr>
              <a:t> are also very important. Therefore, users hope that AIVA can also present these pages as </a:t>
            </a:r>
            <a:r>
              <a:rPr lang="en-US" altLang="zh-CN" sz="1500" b="1">
                <a:solidFill>
                  <a:schemeClr val="accent2">
                    <a:lumMod val="75000"/>
                  </a:schemeClr>
                </a:solidFill>
                <a:latin typeface="Times New Roman Bold" panose="02020603050405020304" charset="0"/>
                <a:cs typeface="Times New Roman Bold" panose="02020603050405020304" charset="0"/>
              </a:rPr>
              <a:t>preset sections with specific pages</a:t>
            </a:r>
            <a:r>
              <a:rPr lang="en-US" altLang="zh-CN" sz="1500">
                <a:latin typeface="Times New Roman Regular" panose="02020603050405020304" charset="0"/>
                <a:cs typeface="Times New Roman Regular" panose="02020603050405020304" charset="0"/>
              </a:rPr>
              <a:t>.</a:t>
            </a:r>
            <a:endParaRPr lang="en-US" altLang="zh-CN" sz="1500">
              <a:latin typeface="Times New Roman Regular" panose="02020603050405020304" charset="0"/>
              <a:cs typeface="Times New Roman Regular" panose="02020603050405020304" charset="0"/>
            </a:endParaRPr>
          </a:p>
        </p:txBody>
      </p:sp>
      <p:grpSp>
        <p:nvGrpSpPr>
          <p:cNvPr id="29" name="Group 18"/>
          <p:cNvGrpSpPr/>
          <p:nvPr/>
        </p:nvGrpSpPr>
        <p:grpSpPr>
          <a:xfrm rot="0">
            <a:off x="14936727" y="25050903"/>
            <a:ext cx="386393" cy="496683"/>
            <a:chOff x="0" y="0"/>
            <a:chExt cx="632315" cy="812800"/>
          </a:xfrm>
        </p:grpSpPr>
        <p:sp>
          <p:nvSpPr>
            <p:cNvPr id="30" name="Freeform 19"/>
            <p:cNvSpPr/>
            <p:nvPr>
              <p:custDataLst>
                <p:tags r:id="rId2"/>
              </p:custDataLst>
            </p:nvPr>
          </p:nvSpPr>
          <p:spPr>
            <a:xfrm>
              <a:off x="0" y="0"/>
              <a:ext cx="632315" cy="812800"/>
            </a:xfrm>
            <a:custGeom>
              <a:avLst/>
              <a:gdLst/>
              <a:ahLst/>
              <a:cxnLst/>
              <a:rect l="l" t="t" r="r" b="b"/>
              <a:pathLst>
                <a:path w="632315" h="812800">
                  <a:moveTo>
                    <a:pt x="632315" y="406400"/>
                  </a:moveTo>
                  <a:lnTo>
                    <a:pt x="225915" y="0"/>
                  </a:lnTo>
                  <a:lnTo>
                    <a:pt x="225915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225915" y="609600"/>
                  </a:lnTo>
                  <a:lnTo>
                    <a:pt x="225915" y="812800"/>
                  </a:lnTo>
                  <a:lnTo>
                    <a:pt x="632315" y="406400"/>
                  </a:lnTo>
                  <a:close/>
                </a:path>
              </a:pathLst>
            </a:custGeom>
            <a:solidFill>
              <a:srgbClr val="D76735"/>
            </a:solidFill>
          </p:spPr>
        </p:sp>
        <p:sp>
          <p:nvSpPr>
            <p:cNvPr id="31" name="TextBox 20"/>
            <p:cNvSpPr txBox="1"/>
            <p:nvPr>
              <p:custDataLst>
                <p:tags r:id="rId3"/>
              </p:custDataLst>
            </p:nvPr>
          </p:nvSpPr>
          <p:spPr>
            <a:xfrm>
              <a:off x="0" y="174625"/>
              <a:ext cx="530715" cy="434975"/>
            </a:xfrm>
            <a:prstGeom prst="rect">
              <a:avLst/>
            </a:prstGeom>
          </p:spPr>
          <p:txBody>
            <a:bodyPr lIns="27243" tIns="27243" rIns="27243" bIns="27243" rtlCol="0" anchor="ctr"/>
            <a:lstStyle/>
            <a:p>
              <a:pPr algn="ctr">
                <a:lnSpc>
                  <a:spcPts val="1120"/>
                </a:lnSpc>
                <a:spcBef>
                  <a:spcPct val="0"/>
                </a:spcBef>
              </a:pPr>
            </a:p>
          </p:txBody>
        </p:sp>
      </p:grpSp>
      <p:sp>
        <p:nvSpPr>
          <p:cNvPr id="35" name="文本框 34"/>
          <p:cNvSpPr txBox="1"/>
          <p:nvPr/>
        </p:nvSpPr>
        <p:spPr>
          <a:xfrm>
            <a:off x="478155" y="1979930"/>
            <a:ext cx="3683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tx1"/>
                </a:solidFill>
                <a:latin typeface="Calibri" charset="0"/>
                <a:ea typeface="Calibri" charset="0"/>
              </a:rPr>
              <a:t>①</a:t>
            </a:r>
            <a:endParaRPr lang="zh-CN" altLang="en-US">
              <a:solidFill>
                <a:schemeClr val="tx1"/>
              </a:solidFill>
              <a:latin typeface="Calibri" charset="0"/>
              <a:ea typeface="Calibri" charset="0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525780" y="3429000"/>
            <a:ext cx="3683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Calibri" charset="0"/>
                <a:ea typeface="Calibri" charset="0"/>
              </a:rPr>
              <a:t>②</a:t>
            </a:r>
            <a:endParaRPr lang="zh-CN" altLang="en-US">
              <a:latin typeface="Calibri" charset="0"/>
              <a:ea typeface="Calibri" charset="0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830580" y="3053080"/>
            <a:ext cx="3259455" cy="1706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500">
                <a:latin typeface="Times New Roman Regular" panose="02020603050405020304" charset="0"/>
                <a:cs typeface="Times New Roman Regular" panose="02020603050405020304" charset="0"/>
              </a:rPr>
              <a:t>    </a:t>
            </a:r>
            <a:r>
              <a:rPr sz="1500">
                <a:latin typeface="Times New Roman Regular" panose="02020603050405020304" charset="0"/>
                <a:cs typeface="Times New Roman Regular" panose="02020603050405020304" charset="0"/>
              </a:rPr>
              <a:t>On the diet page, after giving suggestions based on the analysis of nutritional components, the suggestions </a:t>
            </a:r>
            <a:r>
              <a:rPr sz="1500" b="1">
                <a:solidFill>
                  <a:schemeClr val="accent2">
                    <a:lumMod val="75000"/>
                  </a:schemeClr>
                </a:solidFill>
                <a:latin typeface="Times New Roman Bold" panose="02020603050405020304" charset="0"/>
                <a:cs typeface="Times New Roman Bold" panose="02020603050405020304" charset="0"/>
              </a:rPr>
              <a:t>only provide the amount of nutrients</a:t>
            </a:r>
            <a:r>
              <a:rPr sz="1500">
                <a:latin typeface="Times New Roman Regular" panose="02020603050405020304" charset="0"/>
                <a:cs typeface="Times New Roman Regular" panose="02020603050405020304" charset="0"/>
              </a:rPr>
              <a:t> but no specific food recommendations. Users </a:t>
            </a:r>
            <a:r>
              <a:rPr sz="1500" b="1">
                <a:solidFill>
                  <a:schemeClr val="accent2">
                    <a:lumMod val="75000"/>
                  </a:schemeClr>
                </a:solidFill>
                <a:latin typeface="Times New Roman Bold" panose="02020603050405020304" charset="0"/>
                <a:cs typeface="Times New Roman Bold" panose="02020603050405020304" charset="0"/>
              </a:rPr>
              <a:t>cannot know exactly what to eat</a:t>
            </a:r>
            <a:r>
              <a:rPr sz="1500" b="1">
                <a:latin typeface="Times New Roman Bold" panose="02020603050405020304" charset="0"/>
                <a:cs typeface="Times New Roman Bold" panose="02020603050405020304" charset="0"/>
              </a:rPr>
              <a:t>.</a:t>
            </a:r>
            <a:endParaRPr sz="1500" b="1">
              <a:latin typeface="Times New Roman Bold" panose="02020603050405020304" charset="0"/>
              <a:cs typeface="Times New Roman Bold" panose="0202060305040502030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4090035" y="495935"/>
            <a:ext cx="1830705" cy="607758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5995670" y="1069975"/>
            <a:ext cx="1711960" cy="4674870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9979025" y="1415733"/>
            <a:ext cx="1651635" cy="4510405"/>
          </a:xfrm>
          <a:prstGeom prst="rect">
            <a:avLst/>
          </a:prstGeom>
        </p:spPr>
      </p:pic>
      <p:sp>
        <p:nvSpPr>
          <p:cNvPr id="47" name="矩形: 圆角 9"/>
          <p:cNvSpPr/>
          <p:nvPr>
            <p:custDataLst>
              <p:tags r:id="rId10"/>
            </p:custDataLst>
          </p:nvPr>
        </p:nvSpPr>
        <p:spPr>
          <a:xfrm>
            <a:off x="1190625" y="1102995"/>
            <a:ext cx="2450465" cy="520065"/>
          </a:xfrm>
          <a:prstGeom prst="roundRect">
            <a:avLst>
              <a:gd name="adj" fmla="val 50000"/>
            </a:avLst>
          </a:prstGeom>
          <a:solidFill>
            <a:srgbClr val="FBA97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19" name="文本框 18"/>
          <p:cNvSpPr txBox="1"/>
          <p:nvPr>
            <p:custDataLst>
              <p:tags r:id="rId11"/>
            </p:custDataLst>
          </p:nvPr>
        </p:nvSpPr>
        <p:spPr>
          <a:xfrm>
            <a:off x="1399540" y="1159510"/>
            <a:ext cx="206248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>
                <a:solidFill>
                  <a:schemeClr val="bg1"/>
                </a:solidFill>
                <a:latin typeface="Times New Roman Bold" panose="02020603050405020304" charset="0"/>
                <a:ea typeface="汉仪大宋简" panose="02010600000101010101" pitchFamily="2" charset="-122"/>
                <a:cs typeface="Times New Roman Bold" panose="02020603050405020304" charset="0"/>
              </a:rPr>
              <a:t>Require Analysis</a:t>
            </a:r>
            <a:endParaRPr lang="en-US" altLang="zh-CN" sz="2000" b="1">
              <a:solidFill>
                <a:schemeClr val="bg1"/>
              </a:solidFill>
              <a:latin typeface="Times New Roman Bold" panose="02020603050405020304" charset="0"/>
              <a:ea typeface="汉仪大宋简" panose="02010600000101010101" pitchFamily="2" charset="-122"/>
              <a:cs typeface="Times New Roman Bold" panose="02020603050405020304" charset="0"/>
            </a:endParaRPr>
          </a:p>
        </p:txBody>
      </p:sp>
      <p:sp>
        <p:nvSpPr>
          <p:cNvPr id="48" name="矩形: 圆角 9"/>
          <p:cNvSpPr/>
          <p:nvPr>
            <p:custDataLst>
              <p:tags r:id="rId12"/>
            </p:custDataLst>
          </p:nvPr>
        </p:nvSpPr>
        <p:spPr>
          <a:xfrm>
            <a:off x="8548370" y="449580"/>
            <a:ext cx="3076575" cy="520065"/>
          </a:xfrm>
          <a:prstGeom prst="roundRect">
            <a:avLst>
              <a:gd name="adj" fmla="val 50000"/>
            </a:avLst>
          </a:prstGeom>
          <a:solidFill>
            <a:srgbClr val="FBA97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20" name="文本框 19"/>
          <p:cNvSpPr txBox="1"/>
          <p:nvPr>
            <p:custDataLst>
              <p:tags r:id="rId13"/>
            </p:custDataLst>
          </p:nvPr>
        </p:nvSpPr>
        <p:spPr>
          <a:xfrm>
            <a:off x="8690610" y="509270"/>
            <a:ext cx="293433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>
                <a:solidFill>
                  <a:schemeClr val="bg1"/>
                </a:solidFill>
                <a:latin typeface="Times New Roman Bold" panose="02020603050405020304" charset="0"/>
                <a:ea typeface="汉仪大宋简" panose="02010600000101010101" pitchFamily="2" charset="-122"/>
                <a:cs typeface="Times New Roman Bold" panose="02020603050405020304" charset="0"/>
              </a:rPr>
              <a:t>Prototype Implemention</a:t>
            </a:r>
            <a:endParaRPr lang="en-US" altLang="zh-CN" sz="2000" b="1">
              <a:solidFill>
                <a:schemeClr val="bg1"/>
              </a:solidFill>
              <a:latin typeface="Times New Roman Bold" panose="02020603050405020304" charset="0"/>
              <a:ea typeface="汉仪大宋简" panose="02010600000101010101" pitchFamily="2" charset="-122"/>
              <a:cs typeface="Times New Roman Bold" panose="02020603050405020304" charset="0"/>
            </a:endParaRPr>
          </a:p>
        </p:txBody>
      </p:sp>
      <p:pic>
        <p:nvPicPr>
          <p:cNvPr id="21" name="图片 20" descr="截屏2025-05-13 16.04.16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63625" y="4985385"/>
            <a:ext cx="2699385" cy="1231900"/>
          </a:xfrm>
          <a:prstGeom prst="rect">
            <a:avLst/>
          </a:prstGeom>
        </p:spPr>
      </p:pic>
      <p:sp>
        <p:nvSpPr>
          <p:cNvPr id="22" name="文本框 21"/>
          <p:cNvSpPr txBox="1"/>
          <p:nvPr/>
        </p:nvSpPr>
        <p:spPr>
          <a:xfrm>
            <a:off x="7783195" y="1260475"/>
            <a:ext cx="2273300" cy="21685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500">
                <a:latin typeface="Times New Roman Regular" panose="02020603050405020304" charset="0"/>
                <a:cs typeface="Times New Roman Regular" panose="02020603050405020304" charset="0"/>
              </a:rPr>
              <a:t>    </a:t>
            </a:r>
            <a:r>
              <a:rPr lang="zh-CN" altLang="en-US" sz="1500">
                <a:latin typeface="Times New Roman Regular" panose="02020603050405020304" charset="0"/>
                <a:cs typeface="Times New Roman Regular" panose="02020603050405020304" charset="0"/>
              </a:rPr>
              <a:t>In sleep management, AIVA can a</a:t>
            </a:r>
            <a:r>
              <a:rPr lang="zh-CN" altLang="en-US" sz="1500" b="1">
                <a:solidFill>
                  <a:schemeClr val="accent2">
                    <a:lumMod val="75000"/>
                  </a:schemeClr>
                </a:solidFill>
                <a:latin typeface="Times New Roman Bold" panose="02020603050405020304" charset="0"/>
                <a:cs typeface="Times New Roman Bold" panose="02020603050405020304" charset="0"/>
              </a:rPr>
              <a:t>nalyze users' sleep</a:t>
            </a:r>
            <a:r>
              <a:rPr lang="zh-CN" altLang="en-US" sz="1500">
                <a:latin typeface="Times New Roman Regular" panose="02020603050405020304" charset="0"/>
                <a:cs typeface="Times New Roman Regular" panose="02020603050405020304" charset="0"/>
              </a:rPr>
              <a:t> and</a:t>
            </a:r>
            <a:r>
              <a:rPr lang="zh-CN" altLang="en-US" sz="1500" b="1">
                <a:solidFill>
                  <a:schemeClr val="accent2">
                    <a:lumMod val="75000"/>
                  </a:schemeClr>
                </a:solidFill>
                <a:latin typeface="Times New Roman Bold" panose="02020603050405020304" charset="0"/>
                <a:cs typeface="Times New Roman Bold" panose="02020603050405020304" charset="0"/>
              </a:rPr>
              <a:t> provide suitable lullabies</a:t>
            </a:r>
            <a:r>
              <a:rPr lang="zh-CN" altLang="en-US" sz="1500">
                <a:latin typeface="Times New Roman Regular" panose="02020603050405020304" charset="0"/>
                <a:cs typeface="Times New Roman Regular" panose="02020603050405020304" charset="0"/>
              </a:rPr>
              <a:t> for them</a:t>
            </a:r>
            <a:r>
              <a:rPr lang="en-US" altLang="zh-CN" sz="1500">
                <a:latin typeface="Times New Roman Regular" panose="02020603050405020304" charset="0"/>
                <a:cs typeface="Times New Roman Regular" panose="02020603050405020304" charset="0"/>
              </a:rPr>
              <a:t>. In the shopping section, AIVA can </a:t>
            </a:r>
            <a:r>
              <a:rPr lang="en-US" altLang="zh-CN" sz="1500" b="1">
                <a:solidFill>
                  <a:schemeClr val="accent2">
                    <a:lumMod val="75000"/>
                  </a:schemeClr>
                </a:solidFill>
                <a:latin typeface="Times New Roman Bold" panose="02020603050405020304" charset="0"/>
                <a:cs typeface="Times New Roman Bold" panose="02020603050405020304" charset="0"/>
              </a:rPr>
              <a:t>recommend good products</a:t>
            </a:r>
            <a:r>
              <a:rPr lang="en-US" altLang="zh-CN" sz="1500">
                <a:latin typeface="Times New Roman Regular" panose="02020603050405020304" charset="0"/>
                <a:cs typeface="Times New Roman Regular" panose="02020603050405020304" charset="0"/>
              </a:rPr>
              <a:t> based on users' schedules and make </a:t>
            </a:r>
            <a:r>
              <a:rPr lang="en-US" altLang="zh-CN" sz="1500" b="1">
                <a:solidFill>
                  <a:schemeClr val="accent2">
                    <a:lumMod val="75000"/>
                  </a:schemeClr>
                </a:solidFill>
                <a:latin typeface="Times New Roman Bold" panose="02020603050405020304" charset="0"/>
                <a:cs typeface="Times New Roman Bold" panose="02020603050405020304" charset="0"/>
              </a:rPr>
              <a:t>intelligent comparisons</a:t>
            </a:r>
            <a:r>
              <a:rPr lang="en-US" altLang="zh-CN" sz="1500">
                <a:latin typeface="Times New Roman Regular" panose="02020603050405020304" charset="0"/>
                <a:cs typeface="Times New Roman Regular" panose="02020603050405020304" charset="0"/>
              </a:rPr>
              <a:t>.</a:t>
            </a:r>
            <a:endParaRPr lang="en-US" altLang="zh-CN" sz="1500">
              <a:latin typeface="Times New Roman Regular" panose="02020603050405020304" charset="0"/>
              <a:cs typeface="Times New Roman Regular" panose="02020603050405020304" charset="0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7773670" y="3988435"/>
            <a:ext cx="2174240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500">
                <a:latin typeface="Times New Roman Regular" panose="02020603050405020304" charset="0"/>
                <a:cs typeface="Times New Roman Regular" panose="02020603050405020304" charset="0"/>
              </a:rPr>
              <a:t>    </a:t>
            </a:r>
            <a:r>
              <a:rPr lang="zh-CN" altLang="en-US" sz="1500">
                <a:latin typeface="Times New Roman Regular" panose="02020603050405020304" charset="0"/>
                <a:cs typeface="Times New Roman Regular" panose="02020603050405020304" charset="0"/>
              </a:rPr>
              <a:t>Based on the analysis of nutritional components and the </a:t>
            </a:r>
            <a:r>
              <a:rPr lang="zh-CN" altLang="en-US" sz="1500" b="1">
                <a:solidFill>
                  <a:schemeClr val="accent2">
                    <a:lumMod val="75000"/>
                  </a:schemeClr>
                </a:solidFill>
                <a:latin typeface="Times New Roman Bold" panose="02020603050405020304" charset="0"/>
                <a:cs typeface="Times New Roman Bold" panose="02020603050405020304" charset="0"/>
              </a:rPr>
              <a:t>dietary plan recommendations</a:t>
            </a:r>
            <a:r>
              <a:rPr lang="zh-CN" altLang="en-US" sz="1500">
                <a:latin typeface="Times New Roman Regular" panose="02020603050405020304" charset="0"/>
                <a:cs typeface="Times New Roman Regular" panose="02020603050405020304" charset="0"/>
              </a:rPr>
              <a:t> on how to consume specific nutrients, users can </a:t>
            </a:r>
            <a:r>
              <a:rPr lang="zh-CN" altLang="en-US" sz="1500" b="1">
                <a:solidFill>
                  <a:schemeClr val="accent2">
                    <a:lumMod val="75000"/>
                  </a:schemeClr>
                </a:solidFill>
                <a:latin typeface="Times New Roman Bold" panose="02020603050405020304" charset="0"/>
                <a:cs typeface="Times New Roman Bold" panose="02020603050405020304" charset="0"/>
              </a:rPr>
              <a:t>obtain healthy diet advice more intuitively</a:t>
            </a:r>
            <a:r>
              <a:rPr lang="en-US" altLang="zh-CN" sz="1500">
                <a:latin typeface="Times New Roman Regular" panose="02020603050405020304" charset="0"/>
                <a:cs typeface="Times New Roman Regular" panose="02020603050405020304" charset="0"/>
              </a:rPr>
              <a:t>.</a:t>
            </a:r>
            <a:endParaRPr lang="en-US" altLang="zh-CN" sz="1500">
              <a:latin typeface="Times New Roman Regular" panose="02020603050405020304" charset="0"/>
              <a:cs typeface="Times New Roman Regular" panose="02020603050405020304" charset="0"/>
            </a:endParaRPr>
          </a:p>
        </p:txBody>
      </p:sp>
      <p:sp>
        <p:nvSpPr>
          <p:cNvPr id="25" name="矩形 24"/>
          <p:cNvSpPr/>
          <p:nvPr>
            <p:custDataLst>
              <p:tags r:id="rId15"/>
            </p:custDataLst>
          </p:nvPr>
        </p:nvSpPr>
        <p:spPr>
          <a:xfrm>
            <a:off x="3977640" y="2843530"/>
            <a:ext cx="1941830" cy="1586230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矩形 25"/>
          <p:cNvSpPr/>
          <p:nvPr>
            <p:custDataLst>
              <p:tags r:id="rId16"/>
            </p:custDataLst>
          </p:nvPr>
        </p:nvSpPr>
        <p:spPr>
          <a:xfrm>
            <a:off x="5969000" y="1558290"/>
            <a:ext cx="1736090" cy="1938020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EE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/>
          <p:cNvSpPr/>
          <p:nvPr>
            <p:custDataLst>
              <p:tags r:id="rId1"/>
            </p:custDataLst>
          </p:nvPr>
        </p:nvSpPr>
        <p:spPr>
          <a:xfrm>
            <a:off x="358391" y="273818"/>
            <a:ext cx="11475218" cy="6310364"/>
          </a:xfrm>
          <a:prstGeom prst="roundRect">
            <a:avLst>
              <a:gd name="adj" fmla="val 6794"/>
            </a:avLst>
          </a:prstGeom>
          <a:solidFill>
            <a:srgbClr val="F6EEE0"/>
          </a:solidFill>
          <a:ln w="5715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6000">
                  <a:srgbClr val="F9FBFD">
                    <a:alpha val="0"/>
                  </a:srgbClr>
                </a:gs>
                <a:gs pos="44918">
                  <a:srgbClr val="FBFCFE">
                    <a:alpha val="0"/>
                  </a:srgbClr>
                </a:gs>
                <a:gs pos="74000">
                  <a:schemeClr val="bg1">
                    <a:alpha val="0"/>
                  </a:schemeClr>
                </a:gs>
                <a:gs pos="83000">
                  <a:schemeClr val="bg1">
                    <a:alpha val="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5400000" scaled="1"/>
            </a:gradFill>
          </a:ln>
          <a:effectLst>
            <a:outerShdw blurRad="1219200" dist="368300" dir="2700000" algn="tl" rotWithShape="0">
              <a:srgbClr val="FE9866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Calibri" charset="0"/>
              <a:cs typeface="Calibri" charset="0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478155" y="370840"/>
            <a:ext cx="283527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>
                <a:solidFill>
                  <a:schemeClr val="accent2"/>
                </a:solidFill>
                <a:latin typeface="Times New Roman Bold" panose="02020603050405020304" charset="0"/>
                <a:ea typeface="汉仪大宋简" panose="02010600000101010101" pitchFamily="2" charset="-122"/>
                <a:cs typeface="Times New Roman Bold" panose="02020603050405020304" charset="0"/>
              </a:rPr>
              <a:t>I</a:t>
            </a:r>
            <a:r>
              <a:rPr lang="en-US" altLang="zh-CN" sz="3600" b="1">
                <a:solidFill>
                  <a:schemeClr val="accent2"/>
                </a:solidFill>
                <a:latin typeface="Times New Roman Bold" panose="02020603050405020304" charset="0"/>
                <a:ea typeface="汉仪大宋简" panose="02010600000101010101" pitchFamily="2" charset="-122"/>
                <a:cs typeface="Times New Roman Bold" panose="02020603050405020304" charset="0"/>
              </a:rPr>
              <a:t>teration 5</a:t>
            </a:r>
            <a:endParaRPr lang="en-US" altLang="zh-CN" sz="3600" b="1">
              <a:solidFill>
                <a:schemeClr val="accent2"/>
              </a:solidFill>
              <a:latin typeface="Times New Roman Bold" panose="02020603050405020304" charset="0"/>
              <a:ea typeface="汉仪大宋简" panose="02010600000101010101" pitchFamily="2" charset="-122"/>
              <a:cs typeface="Times New Roman Bold" panose="02020603050405020304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892810" y="1945640"/>
            <a:ext cx="2118995" cy="783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500">
                <a:latin typeface="Times New Roman Regular" panose="02020603050405020304" charset="0"/>
                <a:cs typeface="Times New Roman Regular" panose="02020603050405020304" charset="0"/>
              </a:rPr>
              <a:t>The icon of the app is </a:t>
            </a:r>
            <a:r>
              <a:rPr lang="en-US" altLang="zh-CN" sz="1500" b="1">
                <a:solidFill>
                  <a:schemeClr val="accent2">
                    <a:lumMod val="75000"/>
                  </a:schemeClr>
                </a:solidFill>
                <a:latin typeface="Times New Roman Bold" panose="02020603050405020304" charset="0"/>
                <a:cs typeface="Times New Roman Bold" panose="02020603050405020304" charset="0"/>
              </a:rPr>
              <a:t>not warm enough</a:t>
            </a:r>
            <a:r>
              <a:rPr lang="en-US" altLang="zh-CN" sz="1500">
                <a:latin typeface="Times New Roman Regular" panose="02020603050405020304" charset="0"/>
                <a:cs typeface="Times New Roman Regular" panose="02020603050405020304" charset="0"/>
              </a:rPr>
              <a:t> and has a </a:t>
            </a:r>
            <a:r>
              <a:rPr lang="en-US" altLang="zh-CN" sz="1500" b="1">
                <a:solidFill>
                  <a:schemeClr val="accent2">
                    <a:lumMod val="75000"/>
                  </a:schemeClr>
                </a:solidFill>
                <a:latin typeface="Times New Roman Bold" panose="02020603050405020304" charset="0"/>
                <a:cs typeface="Times New Roman Bold" panose="02020603050405020304" charset="0"/>
              </a:rPr>
              <a:t>robot-like</a:t>
            </a:r>
            <a:r>
              <a:rPr lang="en-US" altLang="zh-CN" sz="1500">
                <a:latin typeface="Times New Roman Regular" panose="02020603050405020304" charset="0"/>
                <a:cs typeface="Times New Roman Regular" panose="02020603050405020304" charset="0"/>
              </a:rPr>
              <a:t> feel.</a:t>
            </a:r>
            <a:endParaRPr lang="en-US" altLang="zh-CN" sz="1500">
              <a:latin typeface="Times New Roman Regular" panose="02020603050405020304" charset="0"/>
              <a:cs typeface="Times New Roman Regular" panose="02020603050405020304" charset="0"/>
            </a:endParaRPr>
          </a:p>
        </p:txBody>
      </p:sp>
      <p:grpSp>
        <p:nvGrpSpPr>
          <p:cNvPr id="29" name="Group 18"/>
          <p:cNvGrpSpPr/>
          <p:nvPr/>
        </p:nvGrpSpPr>
        <p:grpSpPr>
          <a:xfrm rot="0">
            <a:off x="14936727" y="25050903"/>
            <a:ext cx="386393" cy="496683"/>
            <a:chOff x="0" y="0"/>
            <a:chExt cx="632315" cy="812800"/>
          </a:xfrm>
        </p:grpSpPr>
        <p:sp>
          <p:nvSpPr>
            <p:cNvPr id="30" name="Freeform 19"/>
            <p:cNvSpPr/>
            <p:nvPr>
              <p:custDataLst>
                <p:tags r:id="rId2"/>
              </p:custDataLst>
            </p:nvPr>
          </p:nvSpPr>
          <p:spPr>
            <a:xfrm>
              <a:off x="0" y="0"/>
              <a:ext cx="632315" cy="812800"/>
            </a:xfrm>
            <a:custGeom>
              <a:avLst/>
              <a:gdLst/>
              <a:ahLst/>
              <a:cxnLst/>
              <a:rect l="l" t="t" r="r" b="b"/>
              <a:pathLst>
                <a:path w="632315" h="812800">
                  <a:moveTo>
                    <a:pt x="632315" y="406400"/>
                  </a:moveTo>
                  <a:lnTo>
                    <a:pt x="225915" y="0"/>
                  </a:lnTo>
                  <a:lnTo>
                    <a:pt x="225915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225915" y="609600"/>
                  </a:lnTo>
                  <a:lnTo>
                    <a:pt x="225915" y="812800"/>
                  </a:lnTo>
                  <a:lnTo>
                    <a:pt x="632315" y="406400"/>
                  </a:lnTo>
                  <a:close/>
                </a:path>
              </a:pathLst>
            </a:custGeom>
            <a:solidFill>
              <a:srgbClr val="D76735"/>
            </a:solidFill>
          </p:spPr>
        </p:sp>
        <p:sp>
          <p:nvSpPr>
            <p:cNvPr id="31" name="TextBox 20"/>
            <p:cNvSpPr txBox="1"/>
            <p:nvPr>
              <p:custDataLst>
                <p:tags r:id="rId3"/>
              </p:custDataLst>
            </p:nvPr>
          </p:nvSpPr>
          <p:spPr>
            <a:xfrm>
              <a:off x="0" y="174625"/>
              <a:ext cx="530715" cy="434975"/>
            </a:xfrm>
            <a:prstGeom prst="rect">
              <a:avLst/>
            </a:prstGeom>
          </p:spPr>
          <p:txBody>
            <a:bodyPr lIns="27243" tIns="27243" rIns="27243" bIns="27243" rtlCol="0" anchor="ctr"/>
            <a:lstStyle/>
            <a:p>
              <a:pPr algn="ctr">
                <a:lnSpc>
                  <a:spcPts val="1120"/>
                </a:lnSpc>
                <a:spcBef>
                  <a:spcPct val="0"/>
                </a:spcBef>
              </a:pPr>
            </a:p>
          </p:txBody>
        </p:sp>
      </p:grpSp>
      <p:sp>
        <p:nvSpPr>
          <p:cNvPr id="35" name="文本框 34"/>
          <p:cNvSpPr txBox="1"/>
          <p:nvPr/>
        </p:nvSpPr>
        <p:spPr>
          <a:xfrm>
            <a:off x="478155" y="1979930"/>
            <a:ext cx="3683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tx1"/>
                </a:solidFill>
                <a:latin typeface="Calibri" charset="0"/>
                <a:ea typeface="Calibri" charset="0"/>
              </a:rPr>
              <a:t>①</a:t>
            </a:r>
            <a:endParaRPr lang="zh-CN" altLang="en-US">
              <a:solidFill>
                <a:schemeClr val="tx1"/>
              </a:solidFill>
              <a:latin typeface="Calibri" charset="0"/>
              <a:ea typeface="Calibri" charset="0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478155" y="3144520"/>
            <a:ext cx="3683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Calibri" charset="0"/>
                <a:ea typeface="Calibri" charset="0"/>
              </a:rPr>
              <a:t>②</a:t>
            </a:r>
            <a:endParaRPr lang="zh-CN" altLang="en-US">
              <a:latin typeface="Calibri" charset="0"/>
              <a:ea typeface="Calibri" charset="0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892810" y="3083560"/>
            <a:ext cx="3642995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sz="1500">
                <a:latin typeface="Times New Roman Regular" panose="02020603050405020304" charset="0"/>
                <a:cs typeface="Times New Roman Regular" panose="02020603050405020304" charset="0"/>
              </a:rPr>
              <a:t>The specific pages of </a:t>
            </a:r>
            <a:r>
              <a:rPr sz="1500" b="1">
                <a:solidFill>
                  <a:schemeClr val="accent2">
                    <a:lumMod val="75000"/>
                  </a:schemeClr>
                </a:solidFill>
                <a:latin typeface="Times New Roman Bold" panose="02020603050405020304" charset="0"/>
                <a:cs typeface="Times New Roman Bold" panose="02020603050405020304" charset="0"/>
              </a:rPr>
              <a:t>add stroke and traffic route are lacking</a:t>
            </a:r>
            <a:endParaRPr sz="1500" b="1">
              <a:solidFill>
                <a:schemeClr val="accent2">
                  <a:lumMod val="75000"/>
                </a:schemeClr>
              </a:solidFill>
              <a:latin typeface="Times New Roman Bold" panose="02020603050405020304" charset="0"/>
              <a:cs typeface="Times New Roman Bold" panose="02020603050405020304" charset="0"/>
            </a:endParaRPr>
          </a:p>
        </p:txBody>
      </p:sp>
      <p:pic>
        <p:nvPicPr>
          <p:cNvPr id="7" name="图片 6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7866380" y="1084580"/>
            <a:ext cx="1884045" cy="5500370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9797415" y="1572895"/>
            <a:ext cx="1836420" cy="4132580"/>
          </a:xfrm>
          <a:prstGeom prst="rect">
            <a:avLst/>
          </a:prstGeom>
        </p:spPr>
      </p:pic>
      <p:sp>
        <p:nvSpPr>
          <p:cNvPr id="47" name="矩形: 圆角 9"/>
          <p:cNvSpPr/>
          <p:nvPr>
            <p:custDataLst>
              <p:tags r:id="rId8"/>
            </p:custDataLst>
          </p:nvPr>
        </p:nvSpPr>
        <p:spPr>
          <a:xfrm>
            <a:off x="999490" y="1177290"/>
            <a:ext cx="2450465" cy="520065"/>
          </a:xfrm>
          <a:prstGeom prst="roundRect">
            <a:avLst>
              <a:gd name="adj" fmla="val 50000"/>
            </a:avLst>
          </a:prstGeom>
          <a:solidFill>
            <a:srgbClr val="FBA97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19" name="文本框 18"/>
          <p:cNvSpPr txBox="1"/>
          <p:nvPr>
            <p:custDataLst>
              <p:tags r:id="rId9"/>
            </p:custDataLst>
          </p:nvPr>
        </p:nvSpPr>
        <p:spPr>
          <a:xfrm>
            <a:off x="1208405" y="1233805"/>
            <a:ext cx="206248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>
                <a:solidFill>
                  <a:schemeClr val="bg1"/>
                </a:solidFill>
                <a:latin typeface="Times New Roman Bold" panose="02020603050405020304" charset="0"/>
                <a:ea typeface="汉仪大宋简" panose="02010600000101010101" pitchFamily="2" charset="-122"/>
                <a:cs typeface="Times New Roman Bold" panose="02020603050405020304" charset="0"/>
              </a:rPr>
              <a:t>Require Analysis</a:t>
            </a:r>
            <a:endParaRPr lang="en-US" altLang="zh-CN" sz="2000" b="1">
              <a:solidFill>
                <a:schemeClr val="bg1"/>
              </a:solidFill>
              <a:latin typeface="Times New Roman Bold" panose="02020603050405020304" charset="0"/>
              <a:ea typeface="汉仪大宋简" panose="02010600000101010101" pitchFamily="2" charset="-122"/>
              <a:cs typeface="Times New Roman Bold" panose="02020603050405020304" charset="0"/>
            </a:endParaRPr>
          </a:p>
        </p:txBody>
      </p:sp>
      <p:sp>
        <p:nvSpPr>
          <p:cNvPr id="48" name="矩形: 圆角 9"/>
          <p:cNvSpPr/>
          <p:nvPr>
            <p:custDataLst>
              <p:tags r:id="rId10"/>
            </p:custDataLst>
          </p:nvPr>
        </p:nvSpPr>
        <p:spPr>
          <a:xfrm>
            <a:off x="6114415" y="495935"/>
            <a:ext cx="3076575" cy="520065"/>
          </a:xfrm>
          <a:prstGeom prst="roundRect">
            <a:avLst>
              <a:gd name="adj" fmla="val 50000"/>
            </a:avLst>
          </a:prstGeom>
          <a:solidFill>
            <a:srgbClr val="FBA97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20" name="文本框 19"/>
          <p:cNvSpPr txBox="1"/>
          <p:nvPr>
            <p:custDataLst>
              <p:tags r:id="rId11"/>
            </p:custDataLst>
          </p:nvPr>
        </p:nvSpPr>
        <p:spPr>
          <a:xfrm>
            <a:off x="6256655" y="555625"/>
            <a:ext cx="293433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>
                <a:solidFill>
                  <a:schemeClr val="bg1"/>
                </a:solidFill>
                <a:latin typeface="Times New Roman Bold" panose="02020603050405020304" charset="0"/>
                <a:ea typeface="汉仪大宋简" panose="02010600000101010101" pitchFamily="2" charset="-122"/>
                <a:cs typeface="Times New Roman Bold" panose="02020603050405020304" charset="0"/>
              </a:rPr>
              <a:t>Prototype Implemention</a:t>
            </a:r>
            <a:endParaRPr lang="en-US" altLang="zh-CN" sz="2000" b="1">
              <a:solidFill>
                <a:schemeClr val="bg1"/>
              </a:solidFill>
              <a:latin typeface="Times New Roman Bold" panose="02020603050405020304" charset="0"/>
              <a:ea typeface="汉仪大宋简" panose="02010600000101010101" pitchFamily="2" charset="-122"/>
              <a:cs typeface="Times New Roman Bold" panose="02020603050405020304" charset="0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4464685" y="4384675"/>
            <a:ext cx="316357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500">
                <a:latin typeface="Times New Roman Regular" panose="02020603050405020304" charset="0"/>
                <a:cs typeface="Times New Roman Regular" panose="02020603050405020304" charset="0"/>
              </a:rPr>
              <a:t>    </a:t>
            </a:r>
            <a:r>
              <a:rPr sz="1500">
                <a:latin typeface="Times New Roman Regular" panose="02020603050405020304" charset="0"/>
                <a:cs typeface="Times New Roman Regular" panose="02020603050405020304" charset="0"/>
              </a:rPr>
              <a:t>AIVA can </a:t>
            </a:r>
            <a:r>
              <a:rPr sz="1500" b="1">
                <a:solidFill>
                  <a:schemeClr val="accent2">
                    <a:lumMod val="75000"/>
                  </a:schemeClr>
                </a:solidFill>
                <a:latin typeface="Times New Roman Bold" panose="02020603050405020304" charset="0"/>
                <a:cs typeface="Times New Roman Bold" panose="02020603050405020304" charset="0"/>
              </a:rPr>
              <a:t>proactively provide transportation routes</a:t>
            </a:r>
            <a:r>
              <a:rPr sz="1500">
                <a:latin typeface="Times New Roman Regular" panose="02020603050405020304" charset="0"/>
                <a:cs typeface="Times New Roman Regular" panose="02020603050405020304" charset="0"/>
              </a:rPr>
              <a:t> when users have relevant itineraries. Users can also </a:t>
            </a:r>
            <a:r>
              <a:rPr sz="1500" b="1">
                <a:solidFill>
                  <a:schemeClr val="accent2">
                    <a:lumMod val="75000"/>
                  </a:schemeClr>
                </a:solidFill>
                <a:latin typeface="Times New Roman Bold" panose="02020603050405020304" charset="0"/>
                <a:cs typeface="Times New Roman Bold" panose="02020603050405020304" charset="0"/>
              </a:rPr>
              <a:t>simply and conveniently modify their itineraries</a:t>
            </a:r>
            <a:r>
              <a:rPr sz="1500">
                <a:latin typeface="Times New Roman Regular" panose="02020603050405020304" charset="0"/>
                <a:cs typeface="Times New Roman Regular" panose="02020603050405020304" charset="0"/>
              </a:rPr>
              <a:t> through interaction with the butler</a:t>
            </a:r>
            <a:r>
              <a:rPr lang="en-US" sz="1500">
                <a:latin typeface="Times New Roman Regular" panose="02020603050405020304" charset="0"/>
                <a:cs typeface="Times New Roman Regular" panose="02020603050405020304" charset="0"/>
              </a:rPr>
              <a:t>.</a:t>
            </a:r>
            <a:endParaRPr lang="en-US" sz="1500">
              <a:latin typeface="Times New Roman Regular" panose="02020603050405020304" charset="0"/>
              <a:cs typeface="Times New Roman Regular" panose="02020603050405020304" charset="0"/>
            </a:endParaRPr>
          </a:p>
        </p:txBody>
      </p:sp>
      <p:pic>
        <p:nvPicPr>
          <p:cNvPr id="4" name="图片 3" descr="截屏2025-05-13 16.24.08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500505" y="3905250"/>
            <a:ext cx="2171700" cy="21844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3062605" y="1750060"/>
            <a:ext cx="1115695" cy="112522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/>
          <a:stretch>
            <a:fillRect/>
          </a:stretch>
        </p:blipFill>
        <p:spPr>
          <a:xfrm>
            <a:off x="5771515" y="1632585"/>
            <a:ext cx="1125855" cy="112585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4908550" y="3037840"/>
            <a:ext cx="2835275" cy="783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500">
                <a:latin typeface="Times New Roman Regular" panose="02020603050405020304" charset="0"/>
                <a:cs typeface="Times New Roman Regular" panose="02020603050405020304" charset="0"/>
              </a:rPr>
              <a:t>    </a:t>
            </a:r>
            <a:r>
              <a:rPr lang="zh-CN" altLang="en-US" sz="1500">
                <a:latin typeface="Times New Roman Regular" panose="02020603050405020304" charset="0"/>
                <a:cs typeface="Times New Roman Regular" panose="02020603050405020304" charset="0"/>
              </a:rPr>
              <a:t>The new APP avatar can better reflect </a:t>
            </a:r>
            <a:r>
              <a:rPr lang="zh-CN" altLang="en-US" sz="1500" b="1">
                <a:solidFill>
                  <a:schemeClr val="accent2">
                    <a:lumMod val="75000"/>
                  </a:schemeClr>
                </a:solidFill>
                <a:latin typeface="Times New Roman Bold" panose="02020603050405020304" charset="0"/>
                <a:cs typeface="Times New Roman Bold" panose="02020603050405020304" charset="0"/>
              </a:rPr>
              <a:t>a sense of a butler</a:t>
            </a:r>
            <a:r>
              <a:rPr lang="zh-CN" altLang="en-US" sz="1500">
                <a:latin typeface="Times New Roman Regular" panose="02020603050405020304" charset="0"/>
                <a:cs typeface="Times New Roman Regular" panose="02020603050405020304" charset="0"/>
              </a:rPr>
              <a:t>, with a more </a:t>
            </a:r>
            <a:r>
              <a:rPr lang="zh-CN" altLang="en-US" sz="1500" b="1">
                <a:solidFill>
                  <a:schemeClr val="accent2">
                    <a:lumMod val="75000"/>
                  </a:schemeClr>
                </a:solidFill>
                <a:latin typeface="Times New Roman Bold" panose="02020603050405020304" charset="0"/>
                <a:cs typeface="Times New Roman Bold" panose="02020603050405020304" charset="0"/>
              </a:rPr>
              <a:t>intimate and warm</a:t>
            </a:r>
            <a:r>
              <a:rPr lang="zh-CN" altLang="en-US" sz="1500">
                <a:latin typeface="Times New Roman Regular" panose="02020603050405020304" charset="0"/>
                <a:cs typeface="Times New Roman Regular" panose="02020603050405020304" charset="0"/>
              </a:rPr>
              <a:t> feeling</a:t>
            </a:r>
            <a:endParaRPr lang="zh-CN" altLang="en-US" sz="1500">
              <a:latin typeface="Times New Roman Regular" panose="02020603050405020304" charset="0"/>
              <a:cs typeface="Times New Roman Regular" panose="02020603050405020304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308100" y="5612765"/>
            <a:ext cx="2541905" cy="585470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5" name="图片 14" descr="图片6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/>
          <a:stretch>
            <a:fillRect/>
          </a:stretch>
        </p:blipFill>
        <p:spPr>
          <a:xfrm>
            <a:off x="4464685" y="1986280"/>
            <a:ext cx="866140" cy="7721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EE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/>
          <p:cNvSpPr/>
          <p:nvPr>
            <p:custDataLst>
              <p:tags r:id="rId1"/>
            </p:custDataLst>
          </p:nvPr>
        </p:nvSpPr>
        <p:spPr>
          <a:xfrm>
            <a:off x="358391" y="273818"/>
            <a:ext cx="11475218" cy="6310364"/>
          </a:xfrm>
          <a:prstGeom prst="roundRect">
            <a:avLst>
              <a:gd name="adj" fmla="val 6794"/>
            </a:avLst>
          </a:prstGeom>
          <a:solidFill>
            <a:srgbClr val="F6EEE0"/>
          </a:solidFill>
          <a:ln w="5715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6000">
                  <a:srgbClr val="F9FBFD">
                    <a:alpha val="0"/>
                  </a:srgbClr>
                </a:gs>
                <a:gs pos="44918">
                  <a:srgbClr val="FBFCFE">
                    <a:alpha val="0"/>
                  </a:srgbClr>
                </a:gs>
                <a:gs pos="74000">
                  <a:schemeClr val="bg1">
                    <a:alpha val="0"/>
                  </a:schemeClr>
                </a:gs>
                <a:gs pos="83000">
                  <a:schemeClr val="bg1">
                    <a:alpha val="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5400000" scaled="1"/>
            </a:gradFill>
          </a:ln>
          <a:effectLst>
            <a:outerShdw blurRad="1219200" dist="368300" dir="2700000" algn="tl" rotWithShape="0">
              <a:srgbClr val="FE9866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Calibri" charset="0"/>
              <a:cs typeface="Calibri" charset="0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478155" y="370840"/>
            <a:ext cx="283527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>
                <a:solidFill>
                  <a:schemeClr val="accent2"/>
                </a:solidFill>
                <a:latin typeface="Times New Roman Bold" panose="02020603050405020304" charset="0"/>
                <a:ea typeface="汉仪大宋简" panose="02010600000101010101" pitchFamily="2" charset="-122"/>
                <a:cs typeface="Times New Roman Bold" panose="02020603050405020304" charset="0"/>
              </a:rPr>
              <a:t>I</a:t>
            </a:r>
            <a:r>
              <a:rPr lang="en-US" altLang="zh-CN" sz="3600" b="1">
                <a:solidFill>
                  <a:schemeClr val="accent2"/>
                </a:solidFill>
                <a:latin typeface="Times New Roman Bold" panose="02020603050405020304" charset="0"/>
                <a:ea typeface="汉仪大宋简" panose="02010600000101010101" pitchFamily="2" charset="-122"/>
                <a:cs typeface="Times New Roman Bold" panose="02020603050405020304" charset="0"/>
              </a:rPr>
              <a:t>teration 6</a:t>
            </a:r>
            <a:endParaRPr lang="en-US" altLang="zh-CN" sz="3600" b="1">
              <a:solidFill>
                <a:schemeClr val="accent2"/>
              </a:solidFill>
              <a:latin typeface="Times New Roman Bold" panose="02020603050405020304" charset="0"/>
              <a:ea typeface="汉仪大宋简" panose="02010600000101010101" pitchFamily="2" charset="-122"/>
              <a:cs typeface="Times New Roman Bold" panose="02020603050405020304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25780" y="1730375"/>
            <a:ext cx="2934970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500">
                <a:latin typeface="Times New Roman Regular" panose="02020603050405020304" charset="0"/>
                <a:cs typeface="Times New Roman Regular" panose="02020603050405020304" charset="0"/>
              </a:rPr>
              <a:t>    As one of the main user groups of AIVA, the student group also has a very important aspect of </a:t>
            </a:r>
            <a:r>
              <a:rPr lang="en-US" altLang="zh-CN" sz="1500" b="1">
                <a:solidFill>
                  <a:schemeClr val="accent2">
                    <a:lumMod val="75000"/>
                  </a:schemeClr>
                </a:solidFill>
                <a:latin typeface="Times New Roman Bold" panose="02020603050405020304" charset="0"/>
                <a:cs typeface="Times New Roman Bold" panose="02020603050405020304" charset="0"/>
              </a:rPr>
              <a:t>learning</a:t>
            </a:r>
            <a:r>
              <a:rPr lang="en-US" altLang="zh-CN" sz="1500">
                <a:latin typeface="Times New Roman Regular" panose="02020603050405020304" charset="0"/>
                <a:cs typeface="Times New Roman Regular" panose="02020603050405020304" charset="0"/>
              </a:rPr>
              <a:t>. Users have reported that another function of the camera can be utilized: </a:t>
            </a:r>
            <a:r>
              <a:rPr lang="en-US" altLang="zh-CN" sz="1500" b="1">
                <a:solidFill>
                  <a:schemeClr val="accent2">
                    <a:lumMod val="75000"/>
                  </a:schemeClr>
                </a:solidFill>
                <a:latin typeface="Times New Roman Bold" panose="02020603050405020304" charset="0"/>
                <a:cs typeface="Times New Roman Bold" panose="02020603050405020304" charset="0"/>
              </a:rPr>
              <a:t>intelligent recording of class time</a:t>
            </a:r>
            <a:r>
              <a:rPr lang="en-US" altLang="zh-CN" sz="1500">
                <a:solidFill>
                  <a:schemeClr val="accent2">
                    <a:lumMod val="75000"/>
                  </a:schemeClr>
                </a:solidFill>
                <a:latin typeface="Times New Roman Regular" panose="02020603050405020304" charset="0"/>
                <a:cs typeface="Times New Roman Regular" panose="02020603050405020304" charset="0"/>
              </a:rPr>
              <a:t>, </a:t>
            </a:r>
            <a:r>
              <a:rPr lang="en-US" altLang="zh-CN" sz="1500" b="1">
                <a:solidFill>
                  <a:schemeClr val="accent2">
                    <a:lumMod val="75000"/>
                  </a:schemeClr>
                </a:solidFill>
                <a:latin typeface="Times New Roman Bold" panose="02020603050405020304" charset="0"/>
                <a:cs typeface="Times New Roman Bold" panose="02020603050405020304" charset="0"/>
              </a:rPr>
              <a:t>recording key points</a:t>
            </a:r>
            <a:r>
              <a:rPr lang="en-US" altLang="zh-CN" sz="1500">
                <a:latin typeface="Times New Roman Regular" panose="02020603050405020304" charset="0"/>
                <a:cs typeface="Times New Roman Regular" panose="02020603050405020304" charset="0"/>
              </a:rPr>
              <a:t> of the class, and after class, </a:t>
            </a:r>
            <a:r>
              <a:rPr lang="en-US" altLang="zh-CN" sz="1500" b="1">
                <a:solidFill>
                  <a:schemeClr val="accent2">
                    <a:lumMod val="75000"/>
                  </a:schemeClr>
                </a:solidFill>
                <a:latin typeface="Times New Roman Bold" panose="02020603050405020304" charset="0"/>
                <a:cs typeface="Times New Roman Bold" panose="02020603050405020304" charset="0"/>
              </a:rPr>
              <a:t>plans can be made and relevant textbooks recommended</a:t>
            </a:r>
            <a:r>
              <a:rPr lang="en-US" altLang="zh-CN" sz="1500">
                <a:latin typeface="Times New Roman Regular" panose="02020603050405020304" charset="0"/>
                <a:cs typeface="Times New Roman Regular" panose="02020603050405020304" charset="0"/>
              </a:rPr>
              <a:t> to improve the academic performance of users as students.</a:t>
            </a:r>
            <a:endParaRPr lang="en-US" altLang="zh-CN" sz="1500">
              <a:latin typeface="Times New Roman Regular" panose="02020603050405020304" charset="0"/>
              <a:cs typeface="Times New Roman Regular" panose="02020603050405020304" charset="0"/>
            </a:endParaRPr>
          </a:p>
        </p:txBody>
      </p:sp>
      <p:grpSp>
        <p:nvGrpSpPr>
          <p:cNvPr id="29" name="Group 18"/>
          <p:cNvGrpSpPr/>
          <p:nvPr/>
        </p:nvGrpSpPr>
        <p:grpSpPr>
          <a:xfrm rot="0">
            <a:off x="14936727" y="25050903"/>
            <a:ext cx="386393" cy="496683"/>
            <a:chOff x="0" y="0"/>
            <a:chExt cx="632315" cy="812800"/>
          </a:xfrm>
        </p:grpSpPr>
        <p:sp>
          <p:nvSpPr>
            <p:cNvPr id="30" name="Freeform 19"/>
            <p:cNvSpPr/>
            <p:nvPr>
              <p:custDataLst>
                <p:tags r:id="rId2"/>
              </p:custDataLst>
            </p:nvPr>
          </p:nvSpPr>
          <p:spPr>
            <a:xfrm>
              <a:off x="0" y="0"/>
              <a:ext cx="632315" cy="812800"/>
            </a:xfrm>
            <a:custGeom>
              <a:avLst/>
              <a:gdLst/>
              <a:ahLst/>
              <a:cxnLst/>
              <a:rect l="l" t="t" r="r" b="b"/>
              <a:pathLst>
                <a:path w="632315" h="812800">
                  <a:moveTo>
                    <a:pt x="632315" y="406400"/>
                  </a:moveTo>
                  <a:lnTo>
                    <a:pt x="225915" y="0"/>
                  </a:lnTo>
                  <a:lnTo>
                    <a:pt x="225915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225915" y="609600"/>
                  </a:lnTo>
                  <a:lnTo>
                    <a:pt x="225915" y="812800"/>
                  </a:lnTo>
                  <a:lnTo>
                    <a:pt x="632315" y="406400"/>
                  </a:lnTo>
                  <a:close/>
                </a:path>
              </a:pathLst>
            </a:custGeom>
            <a:solidFill>
              <a:srgbClr val="D76735"/>
            </a:solidFill>
          </p:spPr>
        </p:sp>
        <p:sp>
          <p:nvSpPr>
            <p:cNvPr id="31" name="TextBox 20"/>
            <p:cNvSpPr txBox="1"/>
            <p:nvPr>
              <p:custDataLst>
                <p:tags r:id="rId3"/>
              </p:custDataLst>
            </p:nvPr>
          </p:nvSpPr>
          <p:spPr>
            <a:xfrm>
              <a:off x="0" y="174625"/>
              <a:ext cx="530715" cy="434975"/>
            </a:xfrm>
            <a:prstGeom prst="rect">
              <a:avLst/>
            </a:prstGeom>
          </p:spPr>
          <p:txBody>
            <a:bodyPr lIns="27243" tIns="27243" rIns="27243" bIns="27243" rtlCol="0" anchor="ctr"/>
            <a:lstStyle/>
            <a:p>
              <a:pPr algn="ctr">
                <a:lnSpc>
                  <a:spcPts val="1120"/>
                </a:lnSpc>
                <a:spcBef>
                  <a:spcPct val="0"/>
                </a:spcBef>
              </a:pPr>
            </a:p>
          </p:txBody>
        </p:sp>
      </p:grpSp>
      <p:pic>
        <p:nvPicPr>
          <p:cNvPr id="5" name="图片 4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5535930" y="501333"/>
            <a:ext cx="2028825" cy="608266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7578090" y="967105"/>
            <a:ext cx="2064385" cy="617347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9660890" y="1550353"/>
            <a:ext cx="2061845" cy="4289425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3516630" y="1041083"/>
            <a:ext cx="2058670" cy="5438775"/>
          </a:xfrm>
          <a:prstGeom prst="rect">
            <a:avLst/>
          </a:prstGeom>
        </p:spPr>
      </p:pic>
      <p:sp>
        <p:nvSpPr>
          <p:cNvPr id="13" name="乘号 12"/>
          <p:cNvSpPr/>
          <p:nvPr/>
        </p:nvSpPr>
        <p:spPr>
          <a:xfrm>
            <a:off x="3551555" y="1271905"/>
            <a:ext cx="1893570" cy="5332730"/>
          </a:xfrm>
          <a:prstGeom prst="mathMultiply">
            <a:avLst/>
          </a:prstGeom>
          <a:solidFill>
            <a:srgbClr val="FFD699"/>
          </a:solidFill>
          <a:ln>
            <a:solidFill>
              <a:schemeClr val="accent2">
                <a:alpha val="42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614045" y="5244465"/>
            <a:ext cx="2564130" cy="1245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500">
                <a:latin typeface="Times New Roman Regular" panose="02020603050405020304" charset="0"/>
                <a:cs typeface="Times New Roman Regular" panose="02020603050405020304" charset="0"/>
              </a:rPr>
              <a:t>    </a:t>
            </a:r>
            <a:r>
              <a:rPr lang="zh-CN" altLang="en-US" sz="1500">
                <a:latin typeface="Times New Roman Regular" panose="02020603050405020304" charset="0"/>
                <a:cs typeface="Times New Roman Regular" panose="02020603050405020304" charset="0"/>
              </a:rPr>
              <a:t>If the class schedule is written here again, it will </a:t>
            </a:r>
            <a:r>
              <a:rPr lang="zh-CN" altLang="en-US" sz="1500" b="1">
                <a:solidFill>
                  <a:schemeClr val="accent2">
                    <a:lumMod val="75000"/>
                  </a:schemeClr>
                </a:solidFill>
                <a:latin typeface="Times New Roman Bold" panose="02020603050405020304" charset="0"/>
                <a:cs typeface="Times New Roman Bold" panose="02020603050405020304" charset="0"/>
              </a:rPr>
              <a:t>conflict with the schedule arrangement</a:t>
            </a:r>
            <a:r>
              <a:rPr lang="zh-CN" altLang="en-US" sz="1500">
                <a:latin typeface="Times New Roman Regular" panose="02020603050405020304" charset="0"/>
                <a:cs typeface="Times New Roman Regular" panose="02020603050405020304" charset="0"/>
              </a:rPr>
              <a:t>, so this page is omitted</a:t>
            </a:r>
            <a:r>
              <a:rPr lang="en-US" altLang="zh-CN" sz="1500">
                <a:latin typeface="Times New Roman Regular" panose="02020603050405020304" charset="0"/>
                <a:cs typeface="Times New Roman Regular" panose="02020603050405020304" charset="0"/>
              </a:rPr>
              <a:t>.</a:t>
            </a:r>
            <a:endParaRPr lang="en-US" altLang="zh-CN" sz="1500">
              <a:latin typeface="Times New Roman Regular" panose="02020603050405020304" charset="0"/>
              <a:cs typeface="Times New Roman Regular" panose="02020603050405020304" charset="0"/>
            </a:endParaRPr>
          </a:p>
        </p:txBody>
      </p:sp>
      <p:pic>
        <p:nvPicPr>
          <p:cNvPr id="18" name="图片 17" descr="图片5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/>
          <a:stretch>
            <a:fillRect/>
          </a:stretch>
        </p:blipFill>
        <p:spPr>
          <a:xfrm rot="8400000">
            <a:off x="2845435" y="4791710"/>
            <a:ext cx="767080" cy="394970"/>
          </a:xfrm>
          <a:prstGeom prst="rect">
            <a:avLst/>
          </a:prstGeom>
        </p:spPr>
      </p:pic>
      <p:sp>
        <p:nvSpPr>
          <p:cNvPr id="47" name="矩形: 圆角 9"/>
          <p:cNvSpPr/>
          <p:nvPr>
            <p:custDataLst>
              <p:tags r:id="rId14"/>
            </p:custDataLst>
          </p:nvPr>
        </p:nvSpPr>
        <p:spPr>
          <a:xfrm>
            <a:off x="727710" y="1113155"/>
            <a:ext cx="2450465" cy="520065"/>
          </a:xfrm>
          <a:prstGeom prst="roundRect">
            <a:avLst>
              <a:gd name="adj" fmla="val 50000"/>
            </a:avLst>
          </a:prstGeom>
          <a:solidFill>
            <a:srgbClr val="FBA97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19" name="文本框 18"/>
          <p:cNvSpPr txBox="1"/>
          <p:nvPr>
            <p:custDataLst>
              <p:tags r:id="rId15"/>
            </p:custDataLst>
          </p:nvPr>
        </p:nvSpPr>
        <p:spPr>
          <a:xfrm>
            <a:off x="936625" y="1169670"/>
            <a:ext cx="206248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>
                <a:solidFill>
                  <a:schemeClr val="bg1"/>
                </a:solidFill>
                <a:latin typeface="Times New Roman Bold" panose="02020603050405020304" charset="0"/>
                <a:ea typeface="汉仪大宋简" panose="02010600000101010101" pitchFamily="2" charset="-122"/>
                <a:cs typeface="Times New Roman Bold" panose="02020603050405020304" charset="0"/>
              </a:rPr>
              <a:t>Require Analysis</a:t>
            </a:r>
            <a:endParaRPr lang="en-US" altLang="zh-CN" sz="2000" b="1">
              <a:solidFill>
                <a:schemeClr val="bg1"/>
              </a:solidFill>
              <a:latin typeface="Times New Roman Bold" panose="02020603050405020304" charset="0"/>
              <a:ea typeface="汉仪大宋简" panose="02010600000101010101" pitchFamily="2" charset="-122"/>
              <a:cs typeface="Times New Roman Bold" panose="02020603050405020304" charset="0"/>
            </a:endParaRPr>
          </a:p>
        </p:txBody>
      </p:sp>
      <p:sp>
        <p:nvSpPr>
          <p:cNvPr id="48" name="矩形: 圆角 9"/>
          <p:cNvSpPr/>
          <p:nvPr>
            <p:custDataLst>
              <p:tags r:id="rId16"/>
            </p:custDataLst>
          </p:nvPr>
        </p:nvSpPr>
        <p:spPr>
          <a:xfrm>
            <a:off x="8491220" y="324485"/>
            <a:ext cx="3076575" cy="520065"/>
          </a:xfrm>
          <a:prstGeom prst="roundRect">
            <a:avLst>
              <a:gd name="adj" fmla="val 50000"/>
            </a:avLst>
          </a:prstGeom>
          <a:solidFill>
            <a:srgbClr val="FBA97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20" name="文本框 19"/>
          <p:cNvSpPr txBox="1"/>
          <p:nvPr>
            <p:custDataLst>
              <p:tags r:id="rId17"/>
            </p:custDataLst>
          </p:nvPr>
        </p:nvSpPr>
        <p:spPr>
          <a:xfrm>
            <a:off x="8633460" y="384175"/>
            <a:ext cx="293433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>
                <a:solidFill>
                  <a:schemeClr val="bg1"/>
                </a:solidFill>
                <a:latin typeface="Times New Roman Bold" panose="02020603050405020304" charset="0"/>
                <a:ea typeface="汉仪大宋简" panose="02010600000101010101" pitchFamily="2" charset="-122"/>
                <a:cs typeface="Times New Roman Bold" panose="02020603050405020304" charset="0"/>
              </a:rPr>
              <a:t>Prototype Implemention</a:t>
            </a:r>
            <a:endParaRPr lang="en-US" altLang="zh-CN" sz="2000" b="1">
              <a:solidFill>
                <a:schemeClr val="bg1"/>
              </a:solidFill>
              <a:latin typeface="Times New Roman Bold" panose="02020603050405020304" charset="0"/>
              <a:ea typeface="汉仪大宋简" panose="02010600000101010101" pitchFamily="2" charset="-122"/>
              <a:cs typeface="Times New Roman Bold" panose="0202060305040502030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EE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/>
          <p:cNvSpPr/>
          <p:nvPr>
            <p:custDataLst>
              <p:tags r:id="rId2"/>
            </p:custDataLst>
          </p:nvPr>
        </p:nvSpPr>
        <p:spPr>
          <a:xfrm>
            <a:off x="358391" y="273818"/>
            <a:ext cx="11475218" cy="6310364"/>
          </a:xfrm>
          <a:prstGeom prst="roundRect">
            <a:avLst>
              <a:gd name="adj" fmla="val 6794"/>
            </a:avLst>
          </a:prstGeom>
          <a:solidFill>
            <a:srgbClr val="F6EEE0"/>
          </a:solidFill>
          <a:ln w="5715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6000">
                  <a:srgbClr val="F9FBFD">
                    <a:alpha val="0"/>
                  </a:srgbClr>
                </a:gs>
                <a:gs pos="44918">
                  <a:srgbClr val="FBFCFE">
                    <a:alpha val="0"/>
                  </a:srgbClr>
                </a:gs>
                <a:gs pos="74000">
                  <a:schemeClr val="bg1">
                    <a:alpha val="0"/>
                  </a:schemeClr>
                </a:gs>
                <a:gs pos="83000">
                  <a:schemeClr val="bg1">
                    <a:alpha val="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5400000" scaled="1"/>
            </a:gradFill>
          </a:ln>
          <a:effectLst>
            <a:outerShdw blurRad="1219200" dist="368300" dir="2700000" algn="tl" rotWithShape="0">
              <a:srgbClr val="FE9866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478155" y="288290"/>
            <a:ext cx="63957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>
                <a:solidFill>
                  <a:schemeClr val="accent2"/>
                </a:solidFill>
                <a:latin typeface="Times New Roman Bold" panose="02020603050405020304" charset="0"/>
                <a:ea typeface="汉仪大宋简" panose="02010600000101010101" pitchFamily="2" charset="-122"/>
                <a:cs typeface="Times New Roman Bold" panose="02020603050405020304" charset="0"/>
              </a:rPr>
              <a:t>Evaluation and Re</a:t>
            </a:r>
            <a:r>
              <a:rPr lang="en-US" altLang="zh-CN" sz="3600" b="1">
                <a:solidFill>
                  <a:schemeClr val="accent2"/>
                </a:solidFill>
                <a:latin typeface="Times New Roman Bold" panose="02020603050405020304" charset="0"/>
                <a:ea typeface="汉仪大宋简" panose="02010600000101010101" pitchFamily="2" charset="-122"/>
                <a:cs typeface="Times New Roman Bold" panose="02020603050405020304" charset="0"/>
              </a:rPr>
              <a:t>sults</a:t>
            </a:r>
            <a:endParaRPr lang="en-US" altLang="zh-CN" sz="3600" b="1">
              <a:solidFill>
                <a:schemeClr val="accent2"/>
              </a:solidFill>
              <a:latin typeface="Times New Roman Bold" panose="02020603050405020304" charset="0"/>
              <a:ea typeface="汉仪大宋简" panose="02010600000101010101" pitchFamily="2" charset="-122"/>
              <a:cs typeface="Times New Roman Bold" panose="02020603050405020304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2446655" y="993775"/>
            <a:ext cx="9187815" cy="1245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500" b="1">
                <a:solidFill>
                  <a:schemeClr val="accent2">
                    <a:lumMod val="75000"/>
                  </a:schemeClr>
                </a:solidFill>
                <a:latin typeface="Times New Roman Bold" panose="02020603050405020304" charset="0"/>
                <a:cs typeface="Times New Roman Bold" panose="02020603050405020304" charset="0"/>
              </a:rPr>
              <a:t>Heuristic evaluation</a:t>
            </a:r>
            <a:r>
              <a:rPr lang="zh-CN" altLang="en-US" sz="1500">
                <a:latin typeface="Times New Roman Regular" panose="02020603050405020304" charset="0"/>
                <a:cs typeface="Times New Roman Regular" panose="02020603050405020304" charset="0"/>
              </a:rPr>
              <a:t>: Based on the principle of usability, self-check whether the application interface and functions are easy to use.</a:t>
            </a:r>
            <a:endParaRPr lang="zh-CN" altLang="en-US" sz="1500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r>
              <a:rPr lang="zh-CN" altLang="en-US" sz="1500" b="1">
                <a:solidFill>
                  <a:schemeClr val="accent2">
                    <a:lumMod val="75000"/>
                  </a:schemeClr>
                </a:solidFill>
                <a:latin typeface="Times New Roman Bold" panose="02020603050405020304" charset="0"/>
                <a:cs typeface="Times New Roman Bold" panose="02020603050405020304" charset="0"/>
              </a:rPr>
              <a:t>Usability test</a:t>
            </a:r>
            <a:r>
              <a:rPr lang="zh-CN" altLang="en-US" sz="1500">
                <a:latin typeface="Times New Roman Regular" panose="02020603050405020304" charset="0"/>
                <a:cs typeface="Times New Roman Regular" panose="02020603050405020304" charset="0"/>
              </a:rPr>
              <a:t>: Recruit 100 users from different backgrounds, including students, professionals, etc.</a:t>
            </a:r>
            <a:endParaRPr lang="zh-CN" altLang="en-US" sz="1500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r>
              <a:rPr lang="zh-CN" altLang="en-US" sz="1500" b="1">
                <a:solidFill>
                  <a:schemeClr val="accent2">
                    <a:lumMod val="75000"/>
                  </a:schemeClr>
                </a:solidFill>
                <a:latin typeface="Times New Roman Bold" panose="02020603050405020304" charset="0"/>
                <a:cs typeface="Times New Roman Bold" panose="02020603050405020304" charset="0"/>
              </a:rPr>
              <a:t>Data analysis</a:t>
            </a:r>
            <a:r>
              <a:rPr lang="zh-CN" altLang="en-US" sz="1500">
                <a:latin typeface="Times New Roman Regular" panose="02020603050405020304" charset="0"/>
                <a:cs typeface="Times New Roman Regular" panose="02020603050405020304" charset="0"/>
              </a:rPr>
              <a:t>: Integrate tools in the application to collect indicators such as the number of daily active users, the frequency of function usage, and user retention rate.</a:t>
            </a:r>
            <a:endParaRPr lang="zh-CN" altLang="en-US" sz="1500"/>
          </a:p>
        </p:txBody>
      </p:sp>
      <p:sp>
        <p:nvSpPr>
          <p:cNvPr id="48" name="矩形: 圆角 9"/>
          <p:cNvSpPr/>
          <p:nvPr>
            <p:custDataLst>
              <p:tags r:id="rId3"/>
            </p:custDataLst>
          </p:nvPr>
        </p:nvSpPr>
        <p:spPr>
          <a:xfrm>
            <a:off x="592455" y="993775"/>
            <a:ext cx="1565275" cy="766445"/>
          </a:xfrm>
          <a:prstGeom prst="roundRect">
            <a:avLst>
              <a:gd name="adj" fmla="val 31178"/>
            </a:avLst>
          </a:prstGeom>
          <a:solidFill>
            <a:srgbClr val="FBA97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20" name="文本框 19"/>
          <p:cNvSpPr txBox="1"/>
          <p:nvPr>
            <p:custDataLst>
              <p:tags r:id="rId4"/>
            </p:custDataLst>
          </p:nvPr>
        </p:nvSpPr>
        <p:spPr>
          <a:xfrm>
            <a:off x="719455" y="1028065"/>
            <a:ext cx="136144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>
                <a:solidFill>
                  <a:schemeClr val="bg1"/>
                </a:solidFill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Evaluation </a:t>
            </a:r>
            <a:endParaRPr lang="zh-CN" altLang="en-US" sz="2000">
              <a:solidFill>
                <a:schemeClr val="bg1"/>
              </a:solidFill>
              <a:latin typeface="Times New Roman Regular" panose="02020603050405020304" charset="0"/>
              <a:cs typeface="Times New Roman Regular" panose="02020603050405020304" charset="0"/>
              <a:sym typeface="+mn-ea"/>
            </a:endParaRPr>
          </a:p>
          <a:p>
            <a:pPr algn="ctr"/>
            <a:r>
              <a:rPr lang="zh-CN" altLang="en-US" sz="2000">
                <a:solidFill>
                  <a:schemeClr val="bg1"/>
                </a:solidFill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method</a:t>
            </a:r>
            <a:endParaRPr lang="zh-CN" altLang="en-US" sz="2000">
              <a:solidFill>
                <a:schemeClr val="bg1"/>
              </a:solidFill>
              <a:latin typeface="Times New Roman Regular" panose="02020603050405020304" charset="0"/>
              <a:cs typeface="Times New Roman Regular" panose="02020603050405020304" charset="0"/>
              <a:sym typeface="+mn-ea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2447290" y="2491105"/>
            <a:ext cx="9187180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solidFill>
                  <a:schemeClr val="accent2">
                    <a:lumMod val="75000"/>
                  </a:schemeClr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Quantitative result</a:t>
            </a:r>
            <a:r>
              <a:rPr lang="en-US" altLang="zh-CN" sz="1500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    </a:t>
            </a:r>
            <a:r>
              <a:rPr lang="zh-CN" altLang="en-US" sz="1500" b="1">
                <a:solidFill>
                  <a:schemeClr val="accent2">
                    <a:lumMod val="75000"/>
                  </a:schemeClr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User activity:</a:t>
            </a:r>
            <a:r>
              <a:rPr lang="zh-CN" altLang="en-US" sz="1500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 The average daily active users were 500 in the first month of launch, increased to 800 in the second month, and reached 1,000 in March.</a:t>
            </a:r>
            <a:endParaRPr lang="zh-CN" altLang="en-US" sz="1500">
              <a:sym typeface="+mn-ea"/>
            </a:endParaRPr>
          </a:p>
          <a:p>
            <a:r>
              <a:rPr lang="en-US" altLang="zh-CN" sz="1500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                                               </a:t>
            </a:r>
            <a:r>
              <a:rPr lang="zh-CN" altLang="en-US" sz="1500" b="1">
                <a:solidFill>
                  <a:schemeClr val="accent2">
                    <a:lumMod val="75000"/>
                  </a:schemeClr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Function usage:</a:t>
            </a:r>
            <a:r>
              <a:rPr lang="zh-CN" altLang="en-US" sz="1500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 The </a:t>
            </a:r>
            <a:r>
              <a:rPr lang="en-US" altLang="zh-CN" sz="1500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diet decision</a:t>
            </a:r>
            <a:r>
              <a:rPr lang="zh-CN" altLang="en-US" sz="1500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 function is used most frequently, accounting for 35% of the function visits. The schedule function accounts for 25%. Sleep management and learning functions account for 20% and 15% respectively.</a:t>
            </a:r>
            <a:endParaRPr lang="zh-CN" altLang="en-US" sz="1500">
              <a:latin typeface="Times New Roman Regular" panose="02020603050405020304" charset="0"/>
              <a:cs typeface="Times New Roman Regular" panose="02020603050405020304" charset="0"/>
              <a:sym typeface="+mn-ea"/>
            </a:endParaRPr>
          </a:p>
        </p:txBody>
      </p:sp>
      <p:sp>
        <p:nvSpPr>
          <p:cNvPr id="4" name="矩形: 圆角 9"/>
          <p:cNvSpPr/>
          <p:nvPr>
            <p:custDataLst>
              <p:tags r:id="rId5"/>
            </p:custDataLst>
          </p:nvPr>
        </p:nvSpPr>
        <p:spPr>
          <a:xfrm>
            <a:off x="592455" y="2576830"/>
            <a:ext cx="1565275" cy="766445"/>
          </a:xfrm>
          <a:prstGeom prst="roundRect">
            <a:avLst>
              <a:gd name="adj" fmla="val 31178"/>
            </a:avLst>
          </a:prstGeom>
          <a:solidFill>
            <a:srgbClr val="FBA97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6"/>
            </p:custDataLst>
          </p:nvPr>
        </p:nvSpPr>
        <p:spPr>
          <a:xfrm>
            <a:off x="719455" y="2611120"/>
            <a:ext cx="136144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>
                <a:solidFill>
                  <a:schemeClr val="bg1"/>
                </a:solidFill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Evaluation </a:t>
            </a:r>
            <a:endParaRPr lang="zh-CN" altLang="en-US" sz="2000">
              <a:solidFill>
                <a:schemeClr val="bg1"/>
              </a:solidFill>
              <a:latin typeface="Times New Roman Regular" panose="02020603050405020304" charset="0"/>
              <a:cs typeface="Times New Roman Regular" panose="02020603050405020304" charset="0"/>
              <a:sym typeface="+mn-ea"/>
            </a:endParaRPr>
          </a:p>
          <a:p>
            <a:pPr algn="ctr"/>
            <a:r>
              <a:rPr lang="en-US" altLang="zh-CN" sz="2000">
                <a:solidFill>
                  <a:schemeClr val="bg1"/>
                </a:solidFill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result</a:t>
            </a:r>
            <a:endParaRPr lang="en-US" altLang="zh-CN" sz="2000">
              <a:solidFill>
                <a:schemeClr val="bg1"/>
              </a:solidFill>
              <a:latin typeface="Times New Roman Regular" panose="02020603050405020304" charset="0"/>
              <a:cs typeface="Times New Roman Regular" panose="02020603050405020304" charset="0"/>
              <a:sym typeface="+mn-ea"/>
            </a:endParaRPr>
          </a:p>
        </p:txBody>
      </p:sp>
      <p:graphicFrame>
        <p:nvGraphicFramePr>
          <p:cNvPr id="7" name="图表 6"/>
          <p:cNvGraphicFramePr/>
          <p:nvPr>
            <p:custDataLst>
              <p:tags r:id="rId7"/>
            </p:custDataLst>
          </p:nvPr>
        </p:nvGraphicFramePr>
        <p:xfrm>
          <a:off x="1100455" y="3813175"/>
          <a:ext cx="3282950" cy="2635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8" name="文本框 7"/>
          <p:cNvSpPr txBox="1"/>
          <p:nvPr/>
        </p:nvSpPr>
        <p:spPr>
          <a:xfrm>
            <a:off x="4595495" y="4065270"/>
            <a:ext cx="6868160" cy="23996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500">
                <a:latin typeface="Times New Roman Regular" panose="02020603050405020304" charset="0"/>
                <a:cs typeface="Times New Roman Regular" panose="02020603050405020304" charset="0"/>
              </a:rPr>
              <a:t>    </a:t>
            </a:r>
            <a:r>
              <a:rPr lang="zh-CN" altLang="en-US" sz="1500">
                <a:latin typeface="Times New Roman Regular" panose="02020603050405020304" charset="0"/>
                <a:cs typeface="Times New Roman Regular" panose="02020603050405020304" charset="0"/>
              </a:rPr>
              <a:t>To </a:t>
            </a:r>
            <a:r>
              <a:rPr lang="zh-CN" altLang="en-US" sz="1500" b="1">
                <a:solidFill>
                  <a:schemeClr val="accent2">
                    <a:lumMod val="75000"/>
                  </a:schemeClr>
                </a:solidFill>
                <a:latin typeface="Times New Roman Bold" panose="02020603050405020304" charset="0"/>
                <a:cs typeface="Times New Roman Bold" panose="02020603050405020304" charset="0"/>
              </a:rPr>
              <a:t>compare the efficiency of users</a:t>
            </a:r>
            <a:r>
              <a:rPr lang="zh-CN" altLang="en-US" sz="1500">
                <a:latin typeface="Times New Roman Regular" panose="02020603050405020304" charset="0"/>
                <a:cs typeface="Times New Roman Regular" panose="02020603050405020304" charset="0"/>
              </a:rPr>
              <a:t> in completing tasks before and after the iteration of AIVA, three typical tasks, namely formulating a diet plan, arranging a weekly schedule and purchasing goods, were selected for testing. Draw a line graph with the </a:t>
            </a:r>
            <a:r>
              <a:rPr lang="zh-CN" altLang="en-US" sz="1500" b="1">
                <a:solidFill>
                  <a:schemeClr val="accent2">
                    <a:lumMod val="75000"/>
                  </a:schemeClr>
                </a:solidFill>
                <a:latin typeface="Times New Roman Bold" panose="02020603050405020304" charset="0"/>
                <a:cs typeface="Times New Roman Bold" panose="02020603050405020304" charset="0"/>
              </a:rPr>
              <a:t>iterative version as the abscissa</a:t>
            </a:r>
            <a:r>
              <a:rPr lang="zh-CN" altLang="en-US" sz="1500">
                <a:latin typeface="Times New Roman Regular" panose="02020603050405020304" charset="0"/>
                <a:cs typeface="Times New Roman Regular" panose="02020603050405020304" charset="0"/>
              </a:rPr>
              <a:t> and the average time to complete the task as the ordinate. Data shows that </a:t>
            </a:r>
            <a:r>
              <a:rPr lang="zh-CN" altLang="en-US" sz="1500" b="1">
                <a:solidFill>
                  <a:schemeClr val="accent2">
                    <a:lumMod val="75000"/>
                  </a:schemeClr>
                </a:solidFill>
                <a:latin typeface="Times New Roman Bold" panose="02020603050405020304" charset="0"/>
                <a:cs typeface="Times New Roman Bold" panose="02020603050405020304" charset="0"/>
              </a:rPr>
              <a:t>before the iteration</a:t>
            </a:r>
            <a:r>
              <a:rPr lang="zh-CN" altLang="en-US" sz="1500">
                <a:latin typeface="Times New Roman Regular" panose="02020603050405020304" charset="0"/>
                <a:cs typeface="Times New Roman Regular" panose="02020603050405020304" charset="0"/>
              </a:rPr>
              <a:t>, the average time for users to complete the formulation of a diet plan was </a:t>
            </a:r>
            <a:r>
              <a:rPr lang="zh-CN" altLang="en-US" sz="1500" b="1">
                <a:solidFill>
                  <a:schemeClr val="accent2">
                    <a:lumMod val="75000"/>
                  </a:schemeClr>
                </a:solidFill>
                <a:latin typeface="Times New Roman Bold" panose="02020603050405020304" charset="0"/>
                <a:cs typeface="Times New Roman Bold" panose="02020603050405020304" charset="0"/>
              </a:rPr>
              <a:t>15 minutes</a:t>
            </a:r>
            <a:r>
              <a:rPr lang="zh-CN" altLang="en-US" sz="1500">
                <a:latin typeface="Times New Roman Regular" panose="02020603050405020304" charset="0"/>
                <a:cs typeface="Times New Roman Regular" panose="02020603050405020304" charset="0"/>
              </a:rPr>
              <a:t>. </a:t>
            </a:r>
            <a:r>
              <a:rPr lang="zh-CN" altLang="en-US" sz="1500" b="1">
                <a:solidFill>
                  <a:schemeClr val="accent2">
                    <a:lumMod val="75000"/>
                  </a:schemeClr>
                </a:solidFill>
                <a:latin typeface="Times New Roman Bold" panose="02020603050405020304" charset="0"/>
                <a:cs typeface="Times New Roman Bold" panose="02020603050405020304" charset="0"/>
              </a:rPr>
              <a:t>After three iterations</a:t>
            </a:r>
            <a:r>
              <a:rPr lang="zh-CN" altLang="en-US" sz="1500">
                <a:latin typeface="Times New Roman Regular" panose="02020603050405020304" charset="0"/>
                <a:cs typeface="Times New Roman Regular" panose="02020603050405020304" charset="0"/>
              </a:rPr>
              <a:t>, it was shortened to</a:t>
            </a:r>
            <a:r>
              <a:rPr lang="zh-CN" altLang="en-US" sz="1500" b="1">
                <a:solidFill>
                  <a:schemeClr val="accent2">
                    <a:lumMod val="75000"/>
                  </a:schemeClr>
                </a:solidFill>
                <a:latin typeface="Times New Roman Bold" panose="02020603050405020304" charset="0"/>
                <a:cs typeface="Times New Roman Bold" panose="02020603050405020304" charset="0"/>
              </a:rPr>
              <a:t> 8 minutes</a:t>
            </a:r>
            <a:r>
              <a:rPr lang="zh-CN" altLang="en-US" sz="1500">
                <a:latin typeface="Times New Roman Regular" panose="02020603050405020304" charset="0"/>
                <a:cs typeface="Times New Roman Regular" panose="02020603050405020304" charset="0"/>
              </a:rPr>
              <a:t>. The average time for arranging a weekly schedule has decreased from </a:t>
            </a:r>
            <a:r>
              <a:rPr lang="zh-CN" altLang="en-US" sz="1500" b="1">
                <a:solidFill>
                  <a:schemeClr val="accent2">
                    <a:lumMod val="75000"/>
                  </a:schemeClr>
                </a:solidFill>
                <a:latin typeface="Times New Roman Bold" panose="02020603050405020304" charset="0"/>
                <a:cs typeface="Times New Roman Bold" panose="02020603050405020304" charset="0"/>
              </a:rPr>
              <a:t>12 minutes to 6 minutes</a:t>
            </a:r>
            <a:r>
              <a:rPr lang="zh-CN" altLang="en-US" sz="1500">
                <a:latin typeface="Times New Roman Regular" panose="02020603050405020304" charset="0"/>
                <a:cs typeface="Times New Roman Regular" panose="02020603050405020304" charset="0"/>
              </a:rPr>
              <a:t>. The average time for purchasing goods has decreased from</a:t>
            </a:r>
            <a:r>
              <a:rPr lang="zh-CN" altLang="en-US" sz="1500" b="1">
                <a:solidFill>
                  <a:schemeClr val="accent2">
                    <a:lumMod val="75000"/>
                  </a:schemeClr>
                </a:solidFill>
                <a:latin typeface="Times New Roman Bold" panose="02020603050405020304" charset="0"/>
                <a:cs typeface="Times New Roman Bold" panose="02020603050405020304" charset="0"/>
              </a:rPr>
              <a:t> 20 minutes to 10 minutes</a:t>
            </a:r>
            <a:r>
              <a:rPr lang="zh-CN" altLang="en-US" sz="1500">
                <a:latin typeface="Times New Roman Regular" panose="02020603050405020304" charset="0"/>
                <a:cs typeface="Times New Roman Regular" panose="02020603050405020304" charset="0"/>
              </a:rPr>
              <a:t>, clearly demonstrating the </a:t>
            </a:r>
            <a:r>
              <a:rPr lang="zh-CN" altLang="en-US" sz="1500" b="1">
                <a:solidFill>
                  <a:schemeClr val="accent2">
                    <a:lumMod val="75000"/>
                  </a:schemeClr>
                </a:solidFill>
                <a:latin typeface="Times New Roman Bold" panose="02020603050405020304" charset="0"/>
                <a:cs typeface="Times New Roman Bold" panose="02020603050405020304" charset="0"/>
              </a:rPr>
              <a:t>significant improvement in users' task completion efficiency</a:t>
            </a:r>
            <a:r>
              <a:rPr lang="zh-CN" altLang="en-US" sz="1500">
                <a:latin typeface="Times New Roman Regular" panose="02020603050405020304" charset="0"/>
                <a:cs typeface="Times New Roman Regular" panose="02020603050405020304" charset="0"/>
              </a:rPr>
              <a:t> after the iteration of AIVA.</a:t>
            </a:r>
            <a:endParaRPr lang="zh-CN" altLang="en-US" sz="1500">
              <a:latin typeface="Times New Roman Regular" panose="02020603050405020304" charset="0"/>
              <a:cs typeface="Times New Roman Regular" panose="0202060305040502030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EE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/>
          <p:cNvSpPr/>
          <p:nvPr>
            <p:custDataLst>
              <p:tags r:id="rId2"/>
            </p:custDataLst>
          </p:nvPr>
        </p:nvSpPr>
        <p:spPr>
          <a:xfrm>
            <a:off x="358391" y="273818"/>
            <a:ext cx="11475218" cy="6310364"/>
          </a:xfrm>
          <a:prstGeom prst="roundRect">
            <a:avLst>
              <a:gd name="adj" fmla="val 6794"/>
            </a:avLst>
          </a:prstGeom>
          <a:solidFill>
            <a:srgbClr val="F6EEE0"/>
          </a:solidFill>
          <a:ln w="5715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6000">
                  <a:srgbClr val="F9FBFD">
                    <a:alpha val="0"/>
                  </a:srgbClr>
                </a:gs>
                <a:gs pos="44918">
                  <a:srgbClr val="FBFCFE">
                    <a:alpha val="0"/>
                  </a:srgbClr>
                </a:gs>
                <a:gs pos="74000">
                  <a:schemeClr val="bg1">
                    <a:alpha val="0"/>
                  </a:schemeClr>
                </a:gs>
                <a:gs pos="83000">
                  <a:schemeClr val="bg1">
                    <a:alpha val="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5400000" scaled="1"/>
            </a:gradFill>
          </a:ln>
          <a:effectLst>
            <a:outerShdw blurRad="1219200" dist="368300" dir="2700000" algn="tl" rotWithShape="0">
              <a:srgbClr val="FE9866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478155" y="370840"/>
            <a:ext cx="63957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>
                <a:solidFill>
                  <a:schemeClr val="accent2"/>
                </a:solidFill>
                <a:latin typeface="Times New Roman Bold" panose="02020603050405020304" charset="0"/>
                <a:ea typeface="汉仪大宋简" panose="02010600000101010101" pitchFamily="2" charset="-122"/>
                <a:cs typeface="Times New Roman Bold" panose="02020603050405020304" charset="0"/>
              </a:rPr>
              <a:t>Evaluation and Re</a:t>
            </a:r>
            <a:r>
              <a:rPr lang="en-US" altLang="zh-CN" sz="3600" b="1">
                <a:solidFill>
                  <a:schemeClr val="accent2"/>
                </a:solidFill>
                <a:latin typeface="Times New Roman Bold" panose="02020603050405020304" charset="0"/>
                <a:ea typeface="汉仪大宋简" panose="02010600000101010101" pitchFamily="2" charset="-122"/>
                <a:cs typeface="Times New Roman Bold" panose="02020603050405020304" charset="0"/>
              </a:rPr>
              <a:t>sults</a:t>
            </a:r>
            <a:endParaRPr lang="en-US" altLang="zh-CN" sz="3600" b="1">
              <a:solidFill>
                <a:schemeClr val="accent2"/>
              </a:solidFill>
              <a:latin typeface="Times New Roman Bold" panose="02020603050405020304" charset="0"/>
              <a:ea typeface="汉仪大宋简" panose="02010600000101010101" pitchFamily="2" charset="-122"/>
              <a:cs typeface="Times New Roman Bold" panose="02020603050405020304" charset="0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2446655" y="1289050"/>
            <a:ext cx="9187180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solidFill>
                  <a:schemeClr val="accent2">
                    <a:lumMod val="75000"/>
                  </a:schemeClr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Qualitative feedback</a:t>
            </a:r>
            <a:r>
              <a:rPr lang="en-US" altLang="zh-CN" sz="1500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   </a:t>
            </a:r>
            <a:r>
              <a:rPr lang="en-US" altLang="zh-CN" sz="1500" b="1">
                <a:solidFill>
                  <a:schemeClr val="accent2">
                    <a:lumMod val="75000"/>
                  </a:schemeClr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 </a:t>
            </a:r>
            <a:r>
              <a:rPr lang="zh-CN" altLang="en-US" sz="1500" b="1">
                <a:solidFill>
                  <a:schemeClr val="accent2">
                    <a:lumMod val="75000"/>
                  </a:schemeClr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Positive</a:t>
            </a:r>
            <a:r>
              <a:rPr lang="zh-CN" altLang="en-US" sz="1500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: Users love the </a:t>
            </a:r>
            <a:r>
              <a:rPr lang="zh-CN" altLang="en-US" sz="1500" b="1">
                <a:solidFill>
                  <a:schemeClr val="accent2">
                    <a:lumMod val="75000"/>
                  </a:schemeClr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personalized features</a:t>
            </a:r>
            <a:r>
              <a:rPr lang="zh-CN" altLang="en-US" sz="1500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 of applications, especially the ability to</a:t>
            </a:r>
            <a:r>
              <a:rPr lang="zh-CN" altLang="en-US" sz="1500" b="1">
                <a:solidFill>
                  <a:schemeClr val="accent2">
                    <a:lumMod val="75000"/>
                  </a:schemeClr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 customize AI butlers</a:t>
            </a:r>
            <a:r>
              <a:rPr lang="zh-CN" altLang="en-US" sz="1500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. </a:t>
            </a:r>
            <a:r>
              <a:rPr lang="en-US" altLang="zh-CN" sz="1500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T</a:t>
            </a:r>
            <a:r>
              <a:rPr lang="zh-CN" altLang="en-US" sz="1500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he functional integration is </a:t>
            </a:r>
            <a:r>
              <a:rPr lang="zh-CN" altLang="en-US" sz="1500" b="1">
                <a:solidFill>
                  <a:schemeClr val="accent2">
                    <a:lumMod val="75000"/>
                  </a:schemeClr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convenient</a:t>
            </a:r>
            <a:r>
              <a:rPr lang="zh-CN" altLang="en-US" sz="1500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. Managing multiple aspects of life in one application can</a:t>
            </a:r>
            <a:r>
              <a:rPr lang="zh-CN" altLang="en-US" sz="1500" b="1">
                <a:solidFill>
                  <a:schemeClr val="accent2">
                    <a:lumMod val="75000"/>
                  </a:schemeClr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 save time</a:t>
            </a:r>
            <a:r>
              <a:rPr lang="zh-CN" altLang="en-US" sz="1500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.</a:t>
            </a:r>
            <a:endParaRPr lang="zh-CN" altLang="en-US" sz="1500">
              <a:latin typeface="Times New Roman Regular" panose="02020603050405020304" charset="0"/>
              <a:cs typeface="Times New Roman Regular" panose="02020603050405020304" charset="0"/>
              <a:sym typeface="+mn-ea"/>
            </a:endParaRPr>
          </a:p>
          <a:p>
            <a:r>
              <a:rPr lang="en-US" altLang="zh-CN" sz="1500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                                                   </a:t>
            </a:r>
            <a:r>
              <a:rPr lang="zh-CN" altLang="en-US" sz="1500" b="1">
                <a:solidFill>
                  <a:schemeClr val="accent2">
                    <a:lumMod val="75000"/>
                  </a:schemeClr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Negative</a:t>
            </a:r>
            <a:r>
              <a:rPr lang="zh-CN" altLang="en-US" sz="1500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: Some users feel confused when switching between different functional sections and are also concerned about </a:t>
            </a:r>
            <a:r>
              <a:rPr lang="zh-CN" altLang="en-US" sz="1500" b="1">
                <a:solidFill>
                  <a:schemeClr val="accent2">
                    <a:lumMod val="75000"/>
                  </a:schemeClr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data privacy</a:t>
            </a:r>
            <a:r>
              <a:rPr lang="zh-CN" altLang="en-US" sz="1500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, hoping for more transparent data usage.</a:t>
            </a:r>
            <a:endParaRPr lang="zh-CN" altLang="en-US" sz="1500">
              <a:latin typeface="Times New Roman Regular" panose="02020603050405020304" charset="0"/>
              <a:cs typeface="Times New Roman Regular" panose="02020603050405020304" charset="0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446655" y="4937125"/>
            <a:ext cx="8890635" cy="1245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sz="1500" b="1">
                <a:solidFill>
                  <a:schemeClr val="accent2">
                    <a:lumMod val="75000"/>
                  </a:schemeClr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Improving health management level</a:t>
            </a:r>
            <a:r>
              <a:rPr sz="1500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: Take Alex as an example. After using AIVA for three months, his weight dropped from 75 kilograms to 70 kilograms and his body fat percentage decreased from 25% to 22%.</a:t>
            </a:r>
            <a:endParaRPr sz="1500">
              <a:latin typeface="Times New Roman Regular" panose="02020603050405020304" charset="0"/>
              <a:cs typeface="Times New Roman Regular" panose="02020603050405020304" charset="0"/>
              <a:sym typeface="+mn-ea"/>
            </a:endParaRPr>
          </a:p>
          <a:p>
            <a:r>
              <a:rPr sz="1500" b="1">
                <a:solidFill>
                  <a:schemeClr val="accent2">
                    <a:lumMod val="75000"/>
                  </a:schemeClr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Improving life efficiency</a:t>
            </a:r>
            <a:r>
              <a:rPr sz="1500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: A survey of 50 users found that they saved an average of 5 to 8 hours per week after using AIVA.</a:t>
            </a:r>
            <a:endParaRPr sz="1500">
              <a:latin typeface="Times New Roman Regular" panose="02020603050405020304" charset="0"/>
              <a:cs typeface="Times New Roman Regular" panose="02020603050405020304" charset="0"/>
              <a:sym typeface="+mn-ea"/>
            </a:endParaRPr>
          </a:p>
          <a:p>
            <a:r>
              <a:rPr sz="1500" b="1">
                <a:solidFill>
                  <a:schemeClr val="accent2">
                    <a:lumMod val="75000"/>
                  </a:schemeClr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Social impact</a:t>
            </a:r>
            <a:r>
              <a:rPr sz="1500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: AIVA is expected to drive the </a:t>
            </a:r>
            <a:r>
              <a:rPr sz="1500" b="1">
                <a:solidFill>
                  <a:schemeClr val="accent2">
                    <a:lumMod val="75000"/>
                  </a:schemeClr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development of AI life management apps</a:t>
            </a:r>
            <a:r>
              <a:rPr sz="1500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.</a:t>
            </a:r>
            <a:endParaRPr sz="1500">
              <a:latin typeface="Times New Roman Regular" panose="02020603050405020304" charset="0"/>
              <a:cs typeface="Times New Roman Regular" panose="02020603050405020304" charset="0"/>
              <a:sym typeface="+mn-ea"/>
            </a:endParaRPr>
          </a:p>
        </p:txBody>
      </p:sp>
      <p:sp>
        <p:nvSpPr>
          <p:cNvPr id="4" name="矩形: 圆角 9"/>
          <p:cNvSpPr/>
          <p:nvPr>
            <p:custDataLst>
              <p:tags r:id="rId3"/>
            </p:custDataLst>
          </p:nvPr>
        </p:nvSpPr>
        <p:spPr>
          <a:xfrm>
            <a:off x="592455" y="1430020"/>
            <a:ext cx="1565275" cy="766445"/>
          </a:xfrm>
          <a:prstGeom prst="roundRect">
            <a:avLst>
              <a:gd name="adj" fmla="val 31178"/>
            </a:avLst>
          </a:prstGeom>
          <a:solidFill>
            <a:srgbClr val="FBA97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6" name="矩形: 圆角 9"/>
          <p:cNvSpPr/>
          <p:nvPr>
            <p:custDataLst>
              <p:tags r:id="rId4"/>
            </p:custDataLst>
          </p:nvPr>
        </p:nvSpPr>
        <p:spPr>
          <a:xfrm>
            <a:off x="592455" y="4937125"/>
            <a:ext cx="1565275" cy="766445"/>
          </a:xfrm>
          <a:prstGeom prst="roundRect">
            <a:avLst>
              <a:gd name="adj" fmla="val 31178"/>
            </a:avLst>
          </a:prstGeom>
          <a:solidFill>
            <a:srgbClr val="FBA97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5"/>
            </p:custDataLst>
          </p:nvPr>
        </p:nvSpPr>
        <p:spPr>
          <a:xfrm>
            <a:off x="719455" y="1464310"/>
            <a:ext cx="136144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>
                <a:solidFill>
                  <a:schemeClr val="bg1"/>
                </a:solidFill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Evaluation </a:t>
            </a:r>
            <a:endParaRPr lang="zh-CN" altLang="en-US" sz="2000">
              <a:solidFill>
                <a:schemeClr val="bg1"/>
              </a:solidFill>
              <a:latin typeface="Times New Roman Regular" panose="02020603050405020304" charset="0"/>
              <a:cs typeface="Times New Roman Regular" panose="02020603050405020304" charset="0"/>
              <a:sym typeface="+mn-ea"/>
            </a:endParaRPr>
          </a:p>
          <a:p>
            <a:pPr algn="ctr"/>
            <a:r>
              <a:rPr lang="en-US" altLang="zh-CN" sz="2000">
                <a:solidFill>
                  <a:schemeClr val="bg1"/>
                </a:solidFill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result</a:t>
            </a:r>
            <a:endParaRPr lang="en-US" altLang="zh-CN" sz="2000">
              <a:solidFill>
                <a:schemeClr val="bg1"/>
              </a:solidFill>
              <a:latin typeface="Times New Roman Regular" panose="02020603050405020304" charset="0"/>
              <a:cs typeface="Times New Roman Regular" panose="02020603050405020304" charset="0"/>
              <a:sym typeface="+mn-ea"/>
            </a:endParaRPr>
          </a:p>
        </p:txBody>
      </p:sp>
      <p:sp>
        <p:nvSpPr>
          <p:cNvPr id="22" name="文本框 21"/>
          <p:cNvSpPr txBox="1"/>
          <p:nvPr>
            <p:custDataLst>
              <p:tags r:id="rId6"/>
            </p:custDataLst>
          </p:nvPr>
        </p:nvSpPr>
        <p:spPr>
          <a:xfrm>
            <a:off x="694373" y="4971415"/>
            <a:ext cx="136144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>
                <a:solidFill>
                  <a:schemeClr val="bg1"/>
                </a:solidFill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Humanistic </a:t>
            </a:r>
            <a:endParaRPr lang="zh-CN" altLang="en-US" sz="2000">
              <a:solidFill>
                <a:schemeClr val="bg1"/>
              </a:solidFill>
              <a:latin typeface="Times New Roman Regular" panose="02020603050405020304" charset="0"/>
              <a:cs typeface="Times New Roman Regular" panose="02020603050405020304" charset="0"/>
              <a:sym typeface="+mn-ea"/>
            </a:endParaRPr>
          </a:p>
          <a:p>
            <a:pPr algn="ctr"/>
            <a:r>
              <a:rPr lang="zh-CN" altLang="en-US" sz="2000">
                <a:solidFill>
                  <a:schemeClr val="bg1"/>
                </a:solidFill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influence</a:t>
            </a:r>
            <a:endParaRPr lang="zh-CN" altLang="en-US" sz="2000">
              <a:solidFill>
                <a:schemeClr val="bg1"/>
              </a:solidFill>
              <a:latin typeface="Times New Roman Regular" panose="02020603050405020304" charset="0"/>
              <a:cs typeface="Times New Roman Regular" panose="02020603050405020304" charset="0"/>
              <a:sym typeface="+mn-ea"/>
            </a:endParaRPr>
          </a:p>
        </p:txBody>
      </p:sp>
      <p:pic>
        <p:nvPicPr>
          <p:cNvPr id="7" name="图片 6" descr="截屏2025-05-12 12.39.2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93085" y="3121025"/>
            <a:ext cx="1165860" cy="1306830"/>
          </a:xfrm>
          <a:prstGeom prst="rect">
            <a:avLst/>
          </a:prstGeom>
        </p:spPr>
      </p:pic>
      <p:graphicFrame>
        <p:nvGraphicFramePr>
          <p:cNvPr id="8" name="图表 7"/>
          <p:cNvGraphicFramePr/>
          <p:nvPr>
            <p:custDataLst>
              <p:tags r:id="rId8"/>
            </p:custDataLst>
          </p:nvPr>
        </p:nvGraphicFramePr>
        <p:xfrm>
          <a:off x="8087360" y="2785745"/>
          <a:ext cx="3249930" cy="19767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pic>
        <p:nvPicPr>
          <p:cNvPr id="9" name="图片 8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4735195" y="2776220"/>
            <a:ext cx="1142365" cy="2026920"/>
          </a:xfrm>
          <a:prstGeom prst="rect">
            <a:avLst/>
          </a:prstGeom>
        </p:spPr>
      </p:pic>
      <p:pic>
        <p:nvPicPr>
          <p:cNvPr id="11" name="图片 10" descr="图片7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53810" y="3002280"/>
            <a:ext cx="1564640" cy="1564640"/>
          </a:xfrm>
          <a:prstGeom prst="rect">
            <a:avLst/>
          </a:prstGeom>
        </p:spPr>
      </p:pic>
      <p:pic>
        <p:nvPicPr>
          <p:cNvPr id="14" name="图片 13" descr="图片2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/>
          <a:stretch>
            <a:fillRect/>
          </a:stretch>
        </p:blipFill>
        <p:spPr>
          <a:xfrm rot="300000">
            <a:off x="5753100" y="3887470"/>
            <a:ext cx="1165225" cy="328930"/>
          </a:xfrm>
          <a:prstGeom prst="rect">
            <a:avLst/>
          </a:prstGeom>
        </p:spPr>
      </p:pic>
      <p:sp>
        <p:nvSpPr>
          <p:cNvPr id="17" name="椭圆 16"/>
          <p:cNvSpPr/>
          <p:nvPr/>
        </p:nvSpPr>
        <p:spPr>
          <a:xfrm>
            <a:off x="5330825" y="3763645"/>
            <a:ext cx="410210" cy="410210"/>
          </a:xfrm>
          <a:prstGeom prst="ellipse">
            <a:avLst/>
          </a:prstGeom>
          <a:solidFill>
            <a:schemeClr val="accent2">
              <a:lumMod val="20000"/>
              <a:lumOff val="80000"/>
              <a:alpha val="4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 rot="19380000">
            <a:off x="5728970" y="4094480"/>
            <a:ext cx="76200" cy="36703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EE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/>
          <p:cNvSpPr/>
          <p:nvPr>
            <p:custDataLst>
              <p:tags r:id="rId1"/>
            </p:custDataLst>
          </p:nvPr>
        </p:nvSpPr>
        <p:spPr>
          <a:xfrm>
            <a:off x="358391" y="273818"/>
            <a:ext cx="11475218" cy="6310364"/>
          </a:xfrm>
          <a:prstGeom prst="roundRect">
            <a:avLst>
              <a:gd name="adj" fmla="val 6794"/>
            </a:avLst>
          </a:prstGeom>
          <a:solidFill>
            <a:srgbClr val="F6EEE0"/>
          </a:solidFill>
          <a:ln w="5715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6000">
                  <a:srgbClr val="F9FBFD">
                    <a:alpha val="0"/>
                  </a:srgbClr>
                </a:gs>
                <a:gs pos="44918">
                  <a:srgbClr val="FBFCFE">
                    <a:alpha val="0"/>
                  </a:srgbClr>
                </a:gs>
                <a:gs pos="74000">
                  <a:schemeClr val="bg1">
                    <a:alpha val="0"/>
                  </a:schemeClr>
                </a:gs>
                <a:gs pos="83000">
                  <a:schemeClr val="bg1">
                    <a:alpha val="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5400000" scaled="1"/>
            </a:gradFill>
          </a:ln>
          <a:effectLst>
            <a:outerShdw blurRad="1219200" dist="368300" dir="2700000" algn="tl" rotWithShape="0">
              <a:srgbClr val="FE9866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478155" y="370840"/>
            <a:ext cx="63957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>
                <a:solidFill>
                  <a:schemeClr val="accent2"/>
                </a:solidFill>
                <a:latin typeface="Times New Roman Bold" panose="02020603050405020304" charset="0"/>
                <a:ea typeface="汉仪大宋简" panose="02010600000101010101" pitchFamily="2" charset="-122"/>
                <a:cs typeface="Times New Roman Bold" panose="02020603050405020304" charset="0"/>
              </a:rPr>
              <a:t>Discussion and Reflections</a:t>
            </a:r>
            <a:endParaRPr lang="en-US" altLang="zh-CN" sz="3600" b="1">
              <a:solidFill>
                <a:schemeClr val="accent2"/>
              </a:solidFill>
              <a:latin typeface="Times New Roman Bold" panose="02020603050405020304" charset="0"/>
              <a:ea typeface="汉仪大宋简" panose="02010600000101010101" pitchFamily="2" charset="-122"/>
              <a:cs typeface="Times New Roman Bold" panose="02020603050405020304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92455" y="1659890"/>
            <a:ext cx="10809605" cy="1245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500" b="1">
                <a:solidFill>
                  <a:schemeClr val="accent2">
                    <a:lumMod val="75000"/>
                  </a:schemeClr>
                </a:solidFill>
                <a:latin typeface="Times New Roman Bold" panose="02020603050405020304" charset="0"/>
                <a:cs typeface="Times New Roman Bold" panose="02020603050405020304" charset="0"/>
              </a:rPr>
              <a:t>Advantages: Personalized customization</a:t>
            </a:r>
            <a:r>
              <a:rPr lang="zh-CN" altLang="en-US" sz="1500">
                <a:latin typeface="Times New Roman Regular" panose="02020603050405020304" charset="0"/>
                <a:cs typeface="Times New Roman Regular" panose="02020603050405020304" charset="0"/>
              </a:rPr>
              <a:t> (customizing AI butlers, exclusive services, making decisions based on user behavior patterns) Diverse functions (covering all aspects of life)</a:t>
            </a:r>
            <a:endParaRPr lang="zh-CN" altLang="en-US" sz="1500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r>
              <a:rPr lang="zh-CN" altLang="en-US" sz="1500" b="1">
                <a:solidFill>
                  <a:schemeClr val="accent2">
                    <a:lumMod val="75000"/>
                  </a:schemeClr>
                </a:solidFill>
                <a:latin typeface="Times New Roman Bold" panose="02020603050405020304" charset="0"/>
                <a:cs typeface="Times New Roman Bold" panose="02020603050405020304" charset="0"/>
              </a:rPr>
              <a:t>Deficiency: Reliance on data</a:t>
            </a:r>
            <a:r>
              <a:rPr lang="zh-CN" altLang="en-US" sz="1500">
                <a:latin typeface="Times New Roman Regular" panose="02020603050405020304" charset="0"/>
                <a:cs typeface="Times New Roman Regular" panose="02020603050405020304" charset="0"/>
              </a:rPr>
              <a:t>; The functions are </a:t>
            </a:r>
            <a:r>
              <a:rPr lang="zh-CN" altLang="en-US" sz="1500" b="1">
                <a:solidFill>
                  <a:schemeClr val="accent2">
                    <a:lumMod val="75000"/>
                  </a:schemeClr>
                </a:solidFill>
                <a:latin typeface="Times New Roman Bold" panose="02020603050405020304" charset="0"/>
                <a:cs typeface="Times New Roman Bold" panose="02020603050405020304" charset="0"/>
              </a:rPr>
              <a:t>complex and difficult</a:t>
            </a:r>
            <a:r>
              <a:rPr lang="zh-CN" altLang="en-US" sz="1500">
                <a:latin typeface="Times New Roman Regular" panose="02020603050405020304" charset="0"/>
                <a:cs typeface="Times New Roman Regular" panose="02020603050405020304" charset="0"/>
              </a:rPr>
              <a:t> to master</a:t>
            </a:r>
            <a:endParaRPr lang="zh-CN" altLang="en-US" sz="1500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r>
              <a:rPr lang="zh-CN" altLang="en-US" sz="1500" b="1">
                <a:solidFill>
                  <a:schemeClr val="accent2">
                    <a:lumMod val="75000"/>
                  </a:schemeClr>
                </a:solidFill>
                <a:latin typeface="Times New Roman Bold" panose="02020603050405020304" charset="0"/>
                <a:cs typeface="Times New Roman Bold" panose="02020603050405020304" charset="0"/>
              </a:rPr>
              <a:t>Compare</a:t>
            </a:r>
            <a:r>
              <a:rPr lang="zh-CN" altLang="en-US" sz="1500">
                <a:latin typeface="Times New Roman Regular" panose="02020603050405020304" charset="0"/>
                <a:cs typeface="Times New Roman Regular" panose="02020603050405020304" charset="0"/>
              </a:rPr>
              <a:t> with the existing schemes</a:t>
            </a:r>
            <a:r>
              <a:rPr lang="en-US" altLang="zh-CN" sz="1500">
                <a:latin typeface="Times New Roman Regular" panose="02020603050405020304" charset="0"/>
                <a:cs typeface="Times New Roman Regular" panose="02020603050405020304" charset="0"/>
              </a:rPr>
              <a:t>: </a:t>
            </a:r>
            <a:r>
              <a:rPr lang="zh-CN" altLang="en-US" sz="1500">
                <a:latin typeface="Times New Roman Regular" panose="02020603050405020304" charset="0"/>
                <a:cs typeface="Times New Roman Regular" panose="02020603050405020304" charset="0"/>
              </a:rPr>
              <a:t>It is </a:t>
            </a:r>
            <a:r>
              <a:rPr lang="zh-CN" altLang="en-US" sz="1500" b="1">
                <a:solidFill>
                  <a:schemeClr val="accent2">
                    <a:lumMod val="75000"/>
                  </a:schemeClr>
                </a:solidFill>
                <a:latin typeface="Times New Roman Bold" panose="02020603050405020304" charset="0"/>
                <a:cs typeface="Times New Roman Bold" panose="02020603050405020304" charset="0"/>
              </a:rPr>
              <a:t>highly</a:t>
            </a:r>
            <a:r>
              <a:rPr lang="zh-CN" altLang="en-US" sz="1500"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  <a:r>
              <a:rPr lang="zh-CN" altLang="en-US" sz="1500" b="1">
                <a:solidFill>
                  <a:schemeClr val="accent2">
                    <a:lumMod val="75000"/>
                  </a:schemeClr>
                </a:solidFill>
                <a:latin typeface="Times New Roman Bold" panose="02020603050405020304" charset="0"/>
                <a:cs typeface="Times New Roman Bold" panose="02020603050405020304" charset="0"/>
              </a:rPr>
              <a:t>personalized and integrated</a:t>
            </a:r>
            <a:r>
              <a:rPr lang="zh-CN" altLang="en-US" sz="1500">
                <a:latin typeface="Times New Roman Regular" panose="02020603050405020304" charset="0"/>
                <a:cs typeface="Times New Roman Regular" panose="02020603050405020304" charset="0"/>
              </a:rPr>
              <a:t>, outperforming most single-function applications. However, mature applications may have an advantage in terms of the number of users and interface</a:t>
            </a:r>
            <a:endParaRPr lang="zh-CN" altLang="en-US" sz="1500">
              <a:latin typeface="Times New Roman Regular" panose="02020603050405020304" charset="0"/>
              <a:cs typeface="Times New Roman Regular" panose="02020603050405020304" charset="0"/>
            </a:endParaRPr>
          </a:p>
        </p:txBody>
      </p:sp>
      <p:sp>
        <p:nvSpPr>
          <p:cNvPr id="48" name="矩形: 圆角 9"/>
          <p:cNvSpPr/>
          <p:nvPr>
            <p:custDataLst>
              <p:tags r:id="rId2"/>
            </p:custDataLst>
          </p:nvPr>
        </p:nvSpPr>
        <p:spPr>
          <a:xfrm>
            <a:off x="592455" y="1016000"/>
            <a:ext cx="3796665" cy="520065"/>
          </a:xfrm>
          <a:prstGeom prst="roundRect">
            <a:avLst>
              <a:gd name="adj" fmla="val 50000"/>
            </a:avLst>
          </a:prstGeom>
          <a:solidFill>
            <a:srgbClr val="FBA97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20" name="文本框 19"/>
          <p:cNvSpPr txBox="1"/>
          <p:nvPr>
            <p:custDataLst>
              <p:tags r:id="rId3"/>
            </p:custDataLst>
          </p:nvPr>
        </p:nvSpPr>
        <p:spPr>
          <a:xfrm>
            <a:off x="592455" y="1075690"/>
            <a:ext cx="390398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>
                <a:solidFill>
                  <a:schemeClr val="bg1"/>
                </a:solidFill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Project outcomes and Objectives</a:t>
            </a:r>
            <a:endParaRPr lang="zh-CN" altLang="en-US" sz="2000" b="1">
              <a:solidFill>
                <a:schemeClr val="bg1"/>
              </a:solidFill>
              <a:latin typeface="Times New Roman Regular" panose="02020603050405020304" charset="0"/>
              <a:ea typeface="汉仪大宋简" panose="02010600000101010101" pitchFamily="2" charset="-122"/>
              <a:cs typeface="Times New Roman Regular" panose="02020603050405020304" charset="0"/>
              <a:sym typeface="+mn-ea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592455" y="3688080"/>
            <a:ext cx="11240770" cy="16300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solidFill>
                  <a:schemeClr val="accent2">
                    <a:lumMod val="75000"/>
                  </a:schemeClr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Team</a:t>
            </a:r>
            <a:r>
              <a:rPr lang="en-US" altLang="zh-CN" sz="1500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    </a:t>
            </a:r>
            <a:r>
              <a:rPr lang="zh-CN" altLang="en-US" sz="1500" b="1">
                <a:solidFill>
                  <a:schemeClr val="accent2">
                    <a:lumMod val="75000"/>
                  </a:schemeClr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Advantages:</a:t>
            </a:r>
            <a:r>
              <a:rPr lang="zh-CN" altLang="en-US" sz="1500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 </a:t>
            </a:r>
            <a:r>
              <a:rPr lang="zh-CN" altLang="en-US" sz="1500" b="1">
                <a:solidFill>
                  <a:schemeClr val="accent2">
                    <a:lumMod val="75000"/>
                  </a:schemeClr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Smooth communication</a:t>
            </a:r>
            <a:r>
              <a:rPr lang="zh-CN" altLang="en-US" sz="1500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 and </a:t>
            </a:r>
            <a:r>
              <a:rPr lang="zh-CN" altLang="en-US" sz="1500" b="1">
                <a:solidFill>
                  <a:schemeClr val="accent2">
                    <a:lumMod val="75000"/>
                  </a:schemeClr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complementary expertise</a:t>
            </a:r>
            <a:r>
              <a:rPr lang="zh-CN" altLang="en-US" sz="1500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 among members</a:t>
            </a:r>
            <a:endParaRPr lang="zh-CN" altLang="en-US" sz="1500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r>
              <a:rPr lang="en-US" altLang="zh-CN" sz="1500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                 </a:t>
            </a:r>
            <a:r>
              <a:rPr lang="zh-CN" altLang="en-US" sz="1500" b="1">
                <a:solidFill>
                  <a:schemeClr val="accent2">
                    <a:lumMod val="75000"/>
                  </a:schemeClr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Improvement:</a:t>
            </a:r>
            <a:r>
              <a:rPr lang="zh-CN" altLang="en-US" sz="1500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 Strengthen early </a:t>
            </a:r>
            <a:r>
              <a:rPr lang="zh-CN" altLang="en-US" sz="1500" b="1">
                <a:solidFill>
                  <a:schemeClr val="accent2">
                    <a:lumMod val="75000"/>
                  </a:schemeClr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user testing</a:t>
            </a:r>
            <a:r>
              <a:rPr lang="zh-CN" altLang="en-US" sz="1500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 and optimize resource allocation</a:t>
            </a:r>
            <a:endParaRPr lang="zh-CN" altLang="en-US" sz="1500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r>
              <a:rPr lang="zh-CN" altLang="en-US" sz="2000" b="1">
                <a:solidFill>
                  <a:schemeClr val="accent2">
                    <a:lumMod val="75000"/>
                  </a:schemeClr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Individual</a:t>
            </a:r>
            <a:r>
              <a:rPr lang="en-US" altLang="zh-CN" sz="1500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   </a:t>
            </a:r>
            <a:r>
              <a:rPr lang="en-US" altLang="zh-CN" sz="1500" b="1">
                <a:solidFill>
                  <a:schemeClr val="accent2">
                    <a:lumMod val="75000"/>
                  </a:schemeClr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 </a:t>
            </a:r>
            <a:r>
              <a:rPr lang="zh-CN" altLang="en-US" sz="1500" b="1">
                <a:solidFill>
                  <a:schemeClr val="accent2">
                    <a:lumMod val="75000"/>
                  </a:schemeClr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Gain</a:t>
            </a:r>
            <a:r>
              <a:rPr lang="zh-CN" altLang="en-US" sz="1500" b="1">
                <a:solidFill>
                  <a:schemeClr val="tx1"/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:</a:t>
            </a:r>
            <a:r>
              <a:rPr lang="zh-CN" altLang="en-US" sz="1500">
                <a:solidFill>
                  <a:schemeClr val="tx1"/>
                </a:solidFill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 </a:t>
            </a:r>
            <a:r>
              <a:rPr lang="zh-CN" altLang="en-US" sz="1500" b="1">
                <a:solidFill>
                  <a:schemeClr val="accent2">
                    <a:lumMod val="75000"/>
                  </a:schemeClr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Knowledge of AI integration</a:t>
            </a:r>
            <a:r>
              <a:rPr lang="zh-CN" altLang="en-US" sz="1500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; The design process of </a:t>
            </a:r>
            <a:r>
              <a:rPr lang="zh-CN" altLang="en-US" sz="1500" b="1">
                <a:solidFill>
                  <a:schemeClr val="accent2">
                    <a:lumMod val="75000"/>
                  </a:schemeClr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figma</a:t>
            </a:r>
            <a:r>
              <a:rPr lang="zh-CN" altLang="en-US" sz="1500" b="1">
                <a:solidFill>
                  <a:schemeClr val="accent2"/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 </a:t>
            </a:r>
            <a:r>
              <a:rPr lang="zh-CN" altLang="en-US" sz="1500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User-centered design concept (</a:t>
            </a:r>
            <a:r>
              <a:rPr lang="zh-CN" altLang="en-US" sz="1500" b="1">
                <a:solidFill>
                  <a:schemeClr val="accent2">
                    <a:lumMod val="50000"/>
                  </a:schemeClr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I was mainly responsible for the functional realization of figma, page production and the overall framework design of the poster</a:t>
            </a:r>
            <a:r>
              <a:rPr lang="zh-CN" altLang="en-US" sz="1500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)</a:t>
            </a:r>
            <a:endParaRPr lang="zh-CN" altLang="en-US" sz="1500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r>
              <a:rPr lang="en-US" altLang="zh-CN" sz="1500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                           </a:t>
            </a:r>
            <a:r>
              <a:rPr lang="en-US" altLang="zh-CN" sz="1500" b="1">
                <a:solidFill>
                  <a:schemeClr val="accent2">
                    <a:lumMod val="75000"/>
                  </a:schemeClr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 </a:t>
            </a:r>
            <a:r>
              <a:rPr lang="zh-CN" altLang="en-US" sz="1500" b="1">
                <a:solidFill>
                  <a:schemeClr val="accent2">
                    <a:lumMod val="75000"/>
                  </a:schemeClr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Improvement:</a:t>
            </a:r>
            <a:r>
              <a:rPr lang="zh-CN" altLang="en-US" sz="1500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 Enhance the ability to </a:t>
            </a:r>
            <a:r>
              <a:rPr lang="zh-CN" altLang="en-US" sz="1500" b="1">
                <a:solidFill>
                  <a:schemeClr val="accent2">
                    <a:lumMod val="75000"/>
                  </a:schemeClr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coordinate resources</a:t>
            </a:r>
            <a:r>
              <a:rPr lang="zh-CN" altLang="en-US" sz="1500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 in complex projects and be </a:t>
            </a:r>
            <a:r>
              <a:rPr lang="zh-CN" altLang="en-US" sz="1500" b="1">
                <a:solidFill>
                  <a:schemeClr val="accent2">
                    <a:lumMod val="75000"/>
                  </a:schemeClr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more proactive</a:t>
            </a:r>
            <a:r>
              <a:rPr lang="zh-CN" altLang="en-US" sz="1500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 in participating in the early testing planning</a:t>
            </a:r>
            <a:endParaRPr lang="zh-CN" altLang="en-US" sz="1500"/>
          </a:p>
        </p:txBody>
      </p:sp>
      <p:sp>
        <p:nvSpPr>
          <p:cNvPr id="18" name="矩形: 圆角 9"/>
          <p:cNvSpPr/>
          <p:nvPr>
            <p:custDataLst>
              <p:tags r:id="rId4"/>
            </p:custDataLst>
          </p:nvPr>
        </p:nvSpPr>
        <p:spPr>
          <a:xfrm>
            <a:off x="592455" y="3075305"/>
            <a:ext cx="3586480" cy="520065"/>
          </a:xfrm>
          <a:prstGeom prst="roundRect">
            <a:avLst>
              <a:gd name="adj" fmla="val 50000"/>
            </a:avLst>
          </a:prstGeom>
          <a:solidFill>
            <a:srgbClr val="FBA97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19" name="文本框 18"/>
          <p:cNvSpPr txBox="1"/>
          <p:nvPr>
            <p:custDataLst>
              <p:tags r:id="rId5"/>
            </p:custDataLst>
          </p:nvPr>
        </p:nvSpPr>
        <p:spPr>
          <a:xfrm>
            <a:off x="729615" y="3134995"/>
            <a:ext cx="344424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>
                <a:solidFill>
                  <a:schemeClr val="bg1"/>
                </a:solidFill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Team and individual reflection</a:t>
            </a:r>
            <a:endParaRPr lang="zh-CN" altLang="en-US" sz="2000" b="1">
              <a:solidFill>
                <a:schemeClr val="bg1"/>
              </a:solidFill>
              <a:latin typeface="Times New Roman Regular" panose="02020603050405020304" charset="0"/>
              <a:ea typeface="汉仪大宋简" panose="02010600000101010101" pitchFamily="2" charset="-122"/>
              <a:cs typeface="Times New Roman Regular" panose="02020603050405020304" charset="0"/>
              <a:sym typeface="+mn-ea"/>
            </a:endParaRPr>
          </a:p>
        </p:txBody>
      </p:sp>
      <p:sp>
        <p:nvSpPr>
          <p:cNvPr id="21" name="矩形: 圆角 9"/>
          <p:cNvSpPr/>
          <p:nvPr>
            <p:custDataLst>
              <p:tags r:id="rId6"/>
            </p:custDataLst>
          </p:nvPr>
        </p:nvSpPr>
        <p:spPr>
          <a:xfrm>
            <a:off x="592455" y="5480050"/>
            <a:ext cx="2588895" cy="520065"/>
          </a:xfrm>
          <a:prstGeom prst="roundRect">
            <a:avLst>
              <a:gd name="adj" fmla="val 50000"/>
            </a:avLst>
          </a:prstGeom>
          <a:solidFill>
            <a:srgbClr val="FBA97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22" name="文本框 21"/>
          <p:cNvSpPr txBox="1"/>
          <p:nvPr>
            <p:custDataLst>
              <p:tags r:id="rId7"/>
            </p:custDataLst>
          </p:nvPr>
        </p:nvSpPr>
        <p:spPr>
          <a:xfrm>
            <a:off x="592455" y="5539740"/>
            <a:ext cx="244729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>
                <a:solidFill>
                  <a:schemeClr val="bg1"/>
                </a:solidFill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Ethics and Principles</a:t>
            </a:r>
            <a:endParaRPr lang="zh-CN" altLang="en-US" sz="2000">
              <a:solidFill>
                <a:schemeClr val="bg1"/>
              </a:solidFill>
              <a:latin typeface="Times New Roman Regular" panose="02020603050405020304" charset="0"/>
              <a:cs typeface="Times New Roman Regular" panose="02020603050405020304" charset="0"/>
              <a:sym typeface="+mn-ea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592455" y="6047740"/>
            <a:ext cx="4064000" cy="321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500" b="1">
                <a:solidFill>
                  <a:schemeClr val="accent2">
                    <a:lumMod val="75000"/>
                  </a:schemeClr>
                </a:solidFill>
                <a:latin typeface="Times New Roman Bold" panose="02020603050405020304" charset="0"/>
                <a:cs typeface="Times New Roman Bold" panose="02020603050405020304" charset="0"/>
              </a:rPr>
              <a:t>Protect data</a:t>
            </a:r>
            <a:r>
              <a:rPr lang="en-US" altLang="zh-CN" sz="1500" b="1">
                <a:solidFill>
                  <a:schemeClr val="accent2">
                    <a:lumMod val="75000"/>
                  </a:schemeClr>
                </a:solidFill>
                <a:latin typeface="Times New Roman Bold" panose="02020603050405020304" charset="0"/>
                <a:cs typeface="Times New Roman Bold" panose="02020603050405020304" charset="0"/>
              </a:rPr>
              <a:t>; P</a:t>
            </a:r>
            <a:r>
              <a:rPr lang="zh-CN" altLang="en-US" sz="1500" b="1">
                <a:solidFill>
                  <a:schemeClr val="accent2">
                    <a:lumMod val="75000"/>
                  </a:schemeClr>
                </a:solidFill>
                <a:latin typeface="Times New Roman Bold" panose="02020603050405020304" charset="0"/>
                <a:cs typeface="Times New Roman Bold" panose="02020603050405020304" charset="0"/>
              </a:rPr>
              <a:t>rivacy Avoid AI bias</a:t>
            </a:r>
            <a:endParaRPr lang="zh-CN" altLang="en-US" sz="1500" b="1">
              <a:solidFill>
                <a:schemeClr val="accent2">
                  <a:lumMod val="75000"/>
                </a:schemeClr>
              </a:solidFill>
              <a:latin typeface="Times New Roman Bold" panose="02020603050405020304" charset="0"/>
              <a:cs typeface="Times New Roman Bold" panose="0202060305040502030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EE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/>
          <p:cNvSpPr/>
          <p:nvPr>
            <p:custDataLst>
              <p:tags r:id="rId1"/>
            </p:custDataLst>
          </p:nvPr>
        </p:nvSpPr>
        <p:spPr>
          <a:xfrm>
            <a:off x="358391" y="273818"/>
            <a:ext cx="11475218" cy="6310364"/>
          </a:xfrm>
          <a:prstGeom prst="roundRect">
            <a:avLst>
              <a:gd name="adj" fmla="val 6794"/>
            </a:avLst>
          </a:prstGeom>
          <a:solidFill>
            <a:srgbClr val="F6EEE0"/>
          </a:solidFill>
          <a:ln w="5715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6000">
                  <a:srgbClr val="F9FBFD">
                    <a:alpha val="0"/>
                  </a:srgbClr>
                </a:gs>
                <a:gs pos="44918">
                  <a:srgbClr val="FBFCFE">
                    <a:alpha val="0"/>
                  </a:srgbClr>
                </a:gs>
                <a:gs pos="74000">
                  <a:schemeClr val="bg1">
                    <a:alpha val="0"/>
                  </a:schemeClr>
                </a:gs>
                <a:gs pos="83000">
                  <a:schemeClr val="bg1">
                    <a:alpha val="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5400000" scaled="1"/>
            </a:gradFill>
          </a:ln>
          <a:effectLst>
            <a:outerShdw blurRad="1219200" dist="368300" dir="2700000" algn="tl" rotWithShape="0">
              <a:srgbClr val="FE9866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478155" y="577215"/>
            <a:ext cx="398970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>
                <a:solidFill>
                  <a:schemeClr val="accent2"/>
                </a:solidFill>
                <a:latin typeface="Times New Roman Bold" panose="02020603050405020304" charset="0"/>
                <a:ea typeface="汉仪大宋简" panose="02010600000101010101" pitchFamily="2" charset="-122"/>
                <a:cs typeface="Times New Roman Bold" panose="02020603050405020304" charset="0"/>
              </a:rPr>
              <a:t>Acknowledgment</a:t>
            </a:r>
            <a:endParaRPr lang="en-US" altLang="zh-CN" sz="3600" b="1">
              <a:solidFill>
                <a:schemeClr val="accent2"/>
              </a:solidFill>
              <a:latin typeface="Times New Roman Bold" panose="02020603050405020304" charset="0"/>
              <a:ea typeface="汉仪大宋简" panose="02010600000101010101" pitchFamily="2" charset="-122"/>
              <a:cs typeface="Times New Roman Bold" panose="02020603050405020304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78155" y="5116830"/>
            <a:ext cx="1089088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[1] CPT208 Lecture Notes, "Human-Centered Design Methods," University of Xi’an Jiaotong-Liverpool, 2025.</a:t>
            </a:r>
            <a:endParaRPr>
              <a:latin typeface="Times New Roman Regular" panose="02020603050405020304" charset="0"/>
              <a:cs typeface="Times New Roman Regular" panose="02020603050405020304" charset="0"/>
              <a:sym typeface="+mn-ea"/>
            </a:endParaRPr>
          </a:p>
          <a:p>
            <a:pPr algn="l"/>
            <a:r>
              <a:rPr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[2] Group 62, "Generative AI in Life Steward – AIVA Project Poster," CPT208, 2025.</a:t>
            </a:r>
            <a:endParaRPr>
              <a:latin typeface="Times New Roman Regular" panose="02020603050405020304" charset="0"/>
              <a:cs typeface="Times New Roman Regular" panose="02020603050405020304" charset="0"/>
              <a:sym typeface="+mn-ea"/>
            </a:endParaRPr>
          </a:p>
        </p:txBody>
      </p:sp>
      <p:sp>
        <p:nvSpPr>
          <p:cNvPr id="11" name="文本框 10"/>
          <p:cNvSpPr txBox="1"/>
          <p:nvPr>
            <p:custDataLst>
              <p:tags r:id="rId2"/>
            </p:custDataLst>
          </p:nvPr>
        </p:nvSpPr>
        <p:spPr>
          <a:xfrm>
            <a:off x="478155" y="4211320"/>
            <a:ext cx="398970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600" b="1">
                <a:solidFill>
                  <a:schemeClr val="accent2"/>
                </a:solidFill>
                <a:latin typeface="Times New Roman Bold" panose="02020603050405020304" charset="0"/>
                <a:ea typeface="汉仪大宋简" panose="02010600000101010101" pitchFamily="2" charset="-122"/>
                <a:cs typeface="Times New Roman Bold" panose="02020603050405020304" charset="0"/>
              </a:rPr>
              <a:t>Reference</a:t>
            </a:r>
            <a:endParaRPr lang="en-US" altLang="zh-CN" sz="3600" b="1">
              <a:solidFill>
                <a:schemeClr val="accent2"/>
              </a:solidFill>
              <a:latin typeface="Times New Roman Bold" panose="02020603050405020304" charset="0"/>
              <a:ea typeface="汉仪大宋简" panose="02010600000101010101" pitchFamily="2" charset="-122"/>
              <a:cs typeface="Times New Roman Bold" panose="02020603050405020304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478155" y="1534160"/>
            <a:ext cx="10809605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704020202020204" pitchFamily="34" charset="0"/>
              <a:buChar char="•"/>
            </a:pPr>
            <a:r>
              <a:rPr lang="zh-CN" altLang="en-US">
                <a:latin typeface="Times New Roman Regular" panose="02020603050405020304" charset="0"/>
                <a:cs typeface="Times New Roman Regular" panose="02020603050405020304" charset="0"/>
              </a:rPr>
              <a:t>I'm deeply grateful to my </a:t>
            </a:r>
            <a:r>
              <a:rPr lang="zh-CN" altLang="en-US" b="1">
                <a:solidFill>
                  <a:schemeClr val="accent2">
                    <a:lumMod val="75000"/>
                  </a:schemeClr>
                </a:solidFill>
                <a:latin typeface="Times New Roman Bold" panose="02020603050405020304" charset="0"/>
                <a:cs typeface="Times New Roman Bold" panose="02020603050405020304" charset="0"/>
              </a:rPr>
              <a:t>CPT208 instructors, Li Yue and Ma Teng</a:t>
            </a:r>
            <a:r>
              <a:rPr lang="zh-CN" altLang="en-US">
                <a:latin typeface="Times New Roman Regular" panose="02020603050405020304" charset="0"/>
                <a:cs typeface="Times New Roman Regular" panose="02020603050405020304" charset="0"/>
              </a:rPr>
              <a:t>, for their guidance on </a:t>
            </a:r>
            <a:r>
              <a:rPr lang="zh-CN" altLang="en-US" b="1">
                <a:solidFill>
                  <a:schemeClr val="accent2">
                    <a:lumMod val="75000"/>
                  </a:schemeClr>
                </a:solidFill>
                <a:latin typeface="Times New Roman Bold" panose="02020603050405020304" charset="0"/>
                <a:cs typeface="Times New Roman Bold" panose="02020603050405020304" charset="0"/>
              </a:rPr>
              <a:t>human - centric design principles.</a:t>
            </a:r>
            <a:r>
              <a:rPr lang="zh-CN" altLang="en-US">
                <a:latin typeface="Times New Roman Regular" panose="02020603050405020304" charset="0"/>
                <a:cs typeface="Times New Roman Regular" panose="02020603050405020304" charset="0"/>
              </a:rPr>
              <a:t> Their feedback on ethical AI implementation during the project evaluation was invaluable. </a:t>
            </a:r>
            <a:endParaRPr lang="zh-CN" alt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285750" indent="-285750">
              <a:buFont typeface="Arial" panose="020B0704020202020204" pitchFamily="34" charset="0"/>
              <a:buChar char="•"/>
            </a:pPr>
            <a:r>
              <a:rPr lang="zh-CN" altLang="en-US">
                <a:latin typeface="Times New Roman Regular" panose="02020603050405020304" charset="0"/>
                <a:cs typeface="Times New Roman Regular" panose="02020603050405020304" charset="0"/>
              </a:rPr>
              <a:t>I also thank my </a:t>
            </a:r>
            <a:r>
              <a:rPr lang="zh-CN" altLang="en-US" b="1">
                <a:solidFill>
                  <a:schemeClr val="accent2">
                    <a:lumMod val="75000"/>
                  </a:schemeClr>
                </a:solidFill>
                <a:latin typeface="Times New Roman Bold" panose="02020603050405020304" charset="0"/>
                <a:cs typeface="Times New Roman Bold" panose="02020603050405020304" charset="0"/>
              </a:rPr>
              <a:t>TA, </a:t>
            </a:r>
            <a:r>
              <a:rPr lang="zh-CN" altLang="en-US" b="1">
                <a:solidFill>
                  <a:schemeClr val="accent2">
                    <a:lumMod val="75000"/>
                  </a:schemeClr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Shuhao</a:t>
            </a:r>
            <a:r>
              <a:rPr lang="en-US" altLang="zh-CN" b="1">
                <a:solidFill>
                  <a:schemeClr val="accent2">
                    <a:lumMod val="75000"/>
                  </a:schemeClr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 </a:t>
            </a:r>
            <a:r>
              <a:rPr lang="zh-CN" altLang="en-US" b="1">
                <a:solidFill>
                  <a:schemeClr val="accent2">
                    <a:lumMod val="75000"/>
                  </a:schemeClr>
                </a:solidFill>
                <a:latin typeface="Times New Roman Bold" panose="02020603050405020304" charset="0"/>
                <a:cs typeface="Times New Roman Bold" panose="02020603050405020304" charset="0"/>
              </a:rPr>
              <a:t>Zhang</a:t>
            </a:r>
            <a:r>
              <a:rPr lang="zh-CN" altLang="en-US">
                <a:latin typeface="Times New Roman Regular" panose="02020603050405020304" charset="0"/>
                <a:cs typeface="Times New Roman Regular" panose="02020603050405020304" charset="0"/>
              </a:rPr>
              <a:t>, for his support. </a:t>
            </a:r>
            <a:endParaRPr lang="zh-CN" alt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285750" indent="-285750">
              <a:buFont typeface="Arial" panose="020B0704020202020204" pitchFamily="34" charset="0"/>
              <a:buChar char="•"/>
            </a:pPr>
            <a:r>
              <a:rPr lang="zh-CN" altLang="en-US">
                <a:latin typeface="Times New Roman Regular" panose="02020603050405020304" charset="0"/>
                <a:cs typeface="Times New Roman Regular" panose="02020603050405020304" charset="0"/>
              </a:rPr>
              <a:t>Thanks to the </a:t>
            </a:r>
            <a:r>
              <a:rPr lang="zh-CN" altLang="en-US" b="1">
                <a:solidFill>
                  <a:schemeClr val="accent2">
                    <a:lumMod val="75000"/>
                  </a:schemeClr>
                </a:solidFill>
                <a:latin typeface="Times New Roman Bold" panose="02020603050405020304" charset="0"/>
                <a:cs typeface="Times New Roman Bold" panose="02020603050405020304" charset="0"/>
              </a:rPr>
              <a:t>testers</a:t>
            </a:r>
            <a:r>
              <a:rPr lang="zh-CN" altLang="en-US">
                <a:latin typeface="Times New Roman Regular" panose="02020603050405020304" charset="0"/>
                <a:cs typeface="Times New Roman Regular" panose="02020603050405020304" charset="0"/>
              </a:rPr>
              <a:t> for their participation in line with participatory design. </a:t>
            </a:r>
            <a:endParaRPr lang="zh-CN" alt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285750" indent="-285750">
              <a:buFont typeface="Arial" panose="020B0704020202020204" pitchFamily="34" charset="0"/>
              <a:buChar char="•"/>
            </a:pPr>
            <a:r>
              <a:rPr lang="zh-CN" altLang="en-US">
                <a:latin typeface="Times New Roman Regular" panose="02020603050405020304" charset="0"/>
                <a:cs typeface="Times New Roman Regular" panose="02020603050405020304" charset="0"/>
              </a:rPr>
              <a:t>Appreciation to my </a:t>
            </a:r>
            <a:r>
              <a:rPr lang="zh-CN" altLang="en-US" b="1">
                <a:solidFill>
                  <a:schemeClr val="accent2">
                    <a:lumMod val="75000"/>
                  </a:schemeClr>
                </a:solidFill>
                <a:latin typeface="Times New Roman Bold" panose="02020603050405020304" charset="0"/>
                <a:cs typeface="Times New Roman Bold" panose="02020603050405020304" charset="0"/>
              </a:rPr>
              <a:t>team members</a:t>
            </a:r>
            <a:r>
              <a:rPr lang="zh-CN" altLang="en-US">
                <a:latin typeface="Times New Roman Regular" panose="02020603050405020304" charset="0"/>
                <a:cs typeface="Times New Roman Regular" panose="02020603050405020304" charset="0"/>
              </a:rPr>
              <a:t> for our early - stage collaboration. </a:t>
            </a:r>
            <a:endParaRPr lang="zh-CN" alt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285750" indent="-285750">
              <a:buFont typeface="Arial" panose="020B0704020202020204" pitchFamily="34" charset="0"/>
              <a:buChar char="•"/>
            </a:pPr>
            <a:r>
              <a:rPr lang="zh-CN" altLang="en-US">
                <a:latin typeface="Times New Roman Regular" panose="02020603050405020304" charset="0"/>
                <a:cs typeface="Times New Roman Regular" panose="02020603050405020304" charset="0"/>
              </a:rPr>
              <a:t>Finally, kudos to the developers of </a:t>
            </a:r>
            <a:r>
              <a:rPr lang="zh-CN" altLang="en-US" b="1">
                <a:solidFill>
                  <a:schemeClr val="accent2">
                    <a:lumMod val="75000"/>
                  </a:schemeClr>
                </a:solidFill>
                <a:latin typeface="Times New Roman Bold" panose="02020603050405020304" charset="0"/>
                <a:cs typeface="Times New Roman Bold" panose="02020603050405020304" charset="0"/>
              </a:rPr>
              <a:t>open - source tools (TensorFlow, ARCore)</a:t>
            </a:r>
            <a:r>
              <a:rPr lang="zh-CN" altLang="en-US">
                <a:latin typeface="Times New Roman Regular" panose="02020603050405020304" charset="0"/>
                <a:cs typeface="Times New Roman Regular" panose="02020603050405020304" charset="0"/>
              </a:rPr>
              <a:t> for facilitating AIVA's technical realization. </a:t>
            </a:r>
            <a:endParaRPr lang="zh-CN" altLang="en-US">
              <a:latin typeface="Times New Roman Regular" panose="02020603050405020304" charset="0"/>
              <a:cs typeface="Times New Roman Regular" panose="0202060305040502030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BEAUTIFY_FLAG" val=""/>
</p:tagLst>
</file>

<file path=ppt/tags/tag41.xml><?xml version="1.0" encoding="utf-8"?>
<p:tagLst xmlns:p="http://schemas.openxmlformats.org/presentationml/2006/main">
  <p:tag name="KSO_WM_BEAUTIFY_FLAG" val=""/>
</p:tagLst>
</file>

<file path=ppt/tags/tag42.xml><?xml version="1.0" encoding="utf-8"?>
<p:tagLst xmlns:p="http://schemas.openxmlformats.org/presentationml/2006/main">
  <p:tag name="KSO_WM_BEAUTIFY_FLAG" val=""/>
</p:tagLst>
</file>

<file path=ppt/tags/tag43.xml><?xml version="1.0" encoding="utf-8"?>
<p:tagLst xmlns:p="http://schemas.openxmlformats.org/presentationml/2006/main">
  <p:tag name="KSO_WM_BEAUTIFY_FLAG" val=""/>
</p:tagLst>
</file>

<file path=ppt/tags/tag44.xml><?xml version="1.0" encoding="utf-8"?>
<p:tagLst xmlns:p="http://schemas.openxmlformats.org/presentationml/2006/main">
  <p:tag name="KSO_WM_BEAUTIFY_FLAG" val=""/>
</p:tagLst>
</file>

<file path=ppt/tags/tag45.xml><?xml version="1.0" encoding="utf-8"?>
<p:tagLst xmlns:p="http://schemas.openxmlformats.org/presentationml/2006/main">
  <p:tag name="KSO_WM_BEAUTIFY_FLAG" val=""/>
</p:tagLst>
</file>

<file path=ppt/tags/tag46.xml><?xml version="1.0" encoding="utf-8"?>
<p:tagLst xmlns:p="http://schemas.openxmlformats.org/presentationml/2006/main">
  <p:tag name="KSO_WM_BEAUTIFY_FLAG" val=""/>
</p:tagLst>
</file>

<file path=ppt/tags/tag47.xml><?xml version="1.0" encoding="utf-8"?>
<p:tagLst xmlns:p="http://schemas.openxmlformats.org/presentationml/2006/main">
  <p:tag name="KSO_WM_BEAUTIFY_FLAG" val=""/>
</p:tagLst>
</file>

<file path=ppt/tags/tag48.xml><?xml version="1.0" encoding="utf-8"?>
<p:tagLst xmlns:p="http://schemas.openxmlformats.org/presentationml/2006/main">
  <p:tag name="KSO_WM_BEAUTIFY_FLAG" val=""/>
</p:tagLst>
</file>

<file path=ppt/tags/tag49.xml><?xml version="1.0" encoding="utf-8"?>
<p:tagLst xmlns:p="http://schemas.openxmlformats.org/presentationml/2006/main">
  <p:tag name="KSO_WM_BEAUTIFY_FLAG" val=""/>
</p:tagLst>
</file>

<file path=ppt/tags/tag50.xml><?xml version="1.0" encoding="utf-8"?>
<p:tagLst xmlns:p="http://schemas.openxmlformats.org/presentationml/2006/main">
  <p:tag name="KSO_WM_BEAUTIFY_FLAG" val=""/>
</p:tagLst>
</file>

<file path=ppt/tags/tag51.xml><?xml version="1.0" encoding="utf-8"?>
<p:tagLst xmlns:p="http://schemas.openxmlformats.org/presentationml/2006/main">
  <p:tag name="KSO_WM_BEAUTIFY_FLAG" val=""/>
</p:tagLst>
</file>

<file path=ppt/tags/tag52.xml><?xml version="1.0" encoding="utf-8"?>
<p:tagLst xmlns:p="http://schemas.openxmlformats.org/presentationml/2006/main">
  <p:tag name="KSO_WM_BEAUTIFY_FLAG" val=""/>
</p:tagLst>
</file>

<file path=ppt/tags/tag53.xml><?xml version="1.0" encoding="utf-8"?>
<p:tagLst xmlns:p="http://schemas.openxmlformats.org/presentationml/2006/main">
  <p:tag name="KSO_WM_BEAUTIFY_FLAG" val=""/>
</p:tagLst>
</file>

<file path=ppt/tags/tag54.xml><?xml version="1.0" encoding="utf-8"?>
<p:tagLst xmlns:p="http://schemas.openxmlformats.org/presentationml/2006/main">
  <p:tag name="KSO_WM_BEAUTIFY_FLAG" val=""/>
</p:tagLst>
</file>

<file path=ppt/tags/tag55.xml><?xml version="1.0" encoding="utf-8"?>
<p:tagLst xmlns:p="http://schemas.openxmlformats.org/presentationml/2006/main">
  <p:tag name="KSO_WM_BEAUTIFY_FLAG" val=""/>
</p:tagLst>
</file>

<file path=ppt/tags/tag56.xml><?xml version="1.0" encoding="utf-8"?>
<p:tagLst xmlns:p="http://schemas.openxmlformats.org/presentationml/2006/main">
  <p:tag name="KSO_WM_BEAUTIFY_FLAG" val=""/>
</p:tagLst>
</file>

<file path=ppt/tags/tag57.xml><?xml version="1.0" encoding="utf-8"?>
<p:tagLst xmlns:p="http://schemas.openxmlformats.org/presentationml/2006/main">
  <p:tag name="KSO_WM_BEAUTIFY_FLAG" val=""/>
</p:tagLst>
</file>

<file path=ppt/tags/tag58.xml><?xml version="1.0" encoding="utf-8"?>
<p:tagLst xmlns:p="http://schemas.openxmlformats.org/presentationml/2006/main">
  <p:tag name="KSO_WM_BEAUTIFY_FLAG" val=""/>
</p:tagLst>
</file>

<file path=ppt/tags/tag59.xml><?xml version="1.0" encoding="utf-8"?>
<p:tagLst xmlns:p="http://schemas.openxmlformats.org/presentationml/2006/main">
  <p:tag name="KSO_WM_BEAUTIFY_FLAG" val=""/>
</p:tagLst>
</file>

<file path=ppt/tags/tag60.xml><?xml version="1.0" encoding="utf-8"?>
<p:tagLst xmlns:p="http://schemas.openxmlformats.org/presentationml/2006/main">
  <p:tag name="KSO_WM_BEAUTIFY_FLAG" val=""/>
</p:tagLst>
</file>

<file path=ppt/tags/tag61.xml><?xml version="1.0" encoding="utf-8"?>
<p:tagLst xmlns:p="http://schemas.openxmlformats.org/presentationml/2006/main">
  <p:tag name="KSO_WM_BEAUTIFY_FLAG" val=""/>
</p:tagLst>
</file>

<file path=ppt/tags/tag62.xml><?xml version="1.0" encoding="utf-8"?>
<p:tagLst xmlns:p="http://schemas.openxmlformats.org/presentationml/2006/main">
  <p:tag name="KSO_WM_BEAUTIFY_FLAG" val="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KSO_WM_BEAUTIFY_FLAG" val=""/>
</p:tagLst>
</file>

<file path=ppt/tags/tag73.xml><?xml version="1.0" encoding="utf-8"?>
<p:tagLst xmlns:p="http://schemas.openxmlformats.org/presentationml/2006/main">
  <p:tag name="KSO_WM_BEAUTIFY_FLAG" val=""/>
</p:tagLst>
</file>

<file path=ppt/tags/tag74.xml><?xml version="1.0" encoding="utf-8"?>
<p:tagLst xmlns:p="http://schemas.openxmlformats.org/presentationml/2006/main">
  <p:tag name="KSO_WM_BEAUTIFY_FLAG" val=""/>
</p:tagLst>
</file>

<file path=ppt/tags/tag75.xml><?xml version="1.0" encoding="utf-8"?>
<p:tagLst xmlns:p="http://schemas.openxmlformats.org/presentationml/2006/main">
  <p:tag name="KSO_WM_BEAUTIFY_FLAG" val=""/>
</p:tagLst>
</file>

<file path=ppt/tags/tag76.xml><?xml version="1.0" encoding="utf-8"?>
<p:tagLst xmlns:p="http://schemas.openxmlformats.org/presentationml/2006/main">
  <p:tag name="KSO_WM_BEAUTIFY_FLAG" val=""/>
</p:tagLst>
</file>

<file path=ppt/tags/tag77.xml><?xml version="1.0" encoding="utf-8"?>
<p:tagLst xmlns:p="http://schemas.openxmlformats.org/presentationml/2006/main">
  <p:tag name="KSO_WM_BEAUTIFY_FLAG" val=""/>
</p:tagLst>
</file>

<file path=ppt/tags/tag78.xml><?xml version="1.0" encoding="utf-8"?>
<p:tagLst xmlns:p="http://schemas.openxmlformats.org/presentationml/2006/main">
  <p:tag name="KSO_WM_BEAUTIFY_FLAG" val=""/>
</p:tagLst>
</file>

<file path=ppt/tags/tag79.xml><?xml version="1.0" encoding="utf-8"?>
<p:tagLst xmlns:p="http://schemas.openxmlformats.org/presentationml/2006/main">
  <p:tag name="KSO_WM_BEAUTIFY_FLAG" val=""/>
</p:tagLst>
</file>

<file path=ppt/tags/tag80.xml><?xml version="1.0" encoding="utf-8"?>
<p:tagLst xmlns:p="http://schemas.openxmlformats.org/presentationml/2006/main">
  <p:tag name="KSO_WM_BEAUTIFY_FLAG" val=""/>
</p:tagLst>
</file>

<file path=ppt/tags/tag81.xml><?xml version="1.0" encoding="utf-8"?>
<p:tagLst xmlns:p="http://schemas.openxmlformats.org/presentationml/2006/main">
  <p:tag name="KSO_WM_BEAUTIFY_FLAG" val=""/>
</p:tagLst>
</file>

<file path=ppt/tags/tag82.xml><?xml version="1.0" encoding="utf-8"?>
<p:tagLst xmlns:p="http://schemas.openxmlformats.org/presentationml/2006/main">
  <p:tag name="KSO_WM_BEAUTIFY_FLAG" val=""/>
</p:tagLst>
</file>

<file path=ppt/tags/tag83.xml><?xml version="1.0" encoding="utf-8"?>
<p:tagLst xmlns:p="http://schemas.openxmlformats.org/presentationml/2006/main">
  <p:tag name="KSO_WM_BEAUTIFY_FLAG" val=""/>
</p:tagLst>
</file>

<file path=ppt/tags/tag84.xml><?xml version="1.0" encoding="utf-8"?>
<p:tagLst xmlns:p="http://schemas.openxmlformats.org/presentationml/2006/main">
  <p:tag name="KSO_WM_BEAUTIFY_FLAG" val=""/>
</p:tagLst>
</file>

<file path=ppt/tags/tag85.xml><?xml version="1.0" encoding="utf-8"?>
<p:tagLst xmlns:p="http://schemas.openxmlformats.org/presentationml/2006/main">
  <p:tag name="KSO_WM_BEAUTIFY_FLAG" val=""/>
</p:tagLst>
</file>

<file path=ppt/tags/tag86.xml><?xml version="1.0" encoding="utf-8"?>
<p:tagLst xmlns:p="http://schemas.openxmlformats.org/presentationml/2006/main">
  <p:tag name="KSO_WM_BEAUTIFY_FLAG" val=""/>
</p:tagLst>
</file>

<file path=ppt/tags/tag87.xml><?xml version="1.0" encoding="utf-8"?>
<p:tagLst xmlns:p="http://schemas.openxmlformats.org/presentationml/2006/main">
  <p:tag name="KSO_WM_BEAUTIFY_FLAG" val=""/>
</p:tagLst>
</file>

<file path=ppt/tags/tag88.xml><?xml version="1.0" encoding="utf-8"?>
<p:tagLst xmlns:p="http://schemas.openxmlformats.org/presentationml/2006/main">
  <p:tag name="KSO_WM_BEAUTIFY_FLAG" val=""/>
</p:tagLst>
</file>

<file path=ppt/tags/tag89.xml><?xml version="1.0" encoding="utf-8"?>
<p:tagLst xmlns:p="http://schemas.openxmlformats.org/presentationml/2006/main">
  <p:tag name="KSO_WM_BEAUTIFY_FLAG" val=""/>
</p:tagLst>
</file>

<file path=ppt/tags/tag90.xml><?xml version="1.0" encoding="utf-8"?>
<p:tagLst xmlns:p="http://schemas.openxmlformats.org/presentationml/2006/main">
  <p:tag name="KSO_WM_BEAUTIFY_FLAG" val=""/>
</p:tagLst>
</file>

<file path=ppt/tags/tag91.xml><?xml version="1.0" encoding="utf-8"?>
<p:tagLst xmlns:p="http://schemas.openxmlformats.org/presentationml/2006/main">
  <p:tag name="KSO_WM_BEAUTIFY_FLAG" val=""/>
</p:tagLst>
</file>

<file path=ppt/tags/tag92.xml><?xml version="1.0" encoding="utf-8"?>
<p:tagLst xmlns:p="http://schemas.openxmlformats.org/presentationml/2006/main">
  <p:tag name="KSO_WM_BEAUTIFY_FLAG" val=""/>
</p:tagLst>
</file>

<file path=ppt/tags/tag93.xml><?xml version="1.0" encoding="utf-8"?>
<p:tagLst xmlns:p="http://schemas.openxmlformats.org/presentationml/2006/main">
  <p:tag name="KSO_WM_BEAUTIFY_FLAG" val=""/>
</p:tagLst>
</file>

<file path=ppt/tags/tag94.xml><?xml version="1.0" encoding="utf-8"?>
<p:tagLst xmlns:p="http://schemas.openxmlformats.org/presentationml/2006/main">
  <p:tag name="KSO_WM_BEAUTIFY_FLAG" val=""/>
</p:tagLst>
</file>

<file path=ppt/tags/tag95.xml><?xml version="1.0" encoding="utf-8"?>
<p:tagLst xmlns:p="http://schemas.openxmlformats.org/presentationml/2006/main">
  <p:tag name="KSO_WM_BEAUTIFY_FLAG" val=""/>
</p:tagLst>
</file>

<file path=ppt/tags/tag96.xml><?xml version="1.0" encoding="utf-8"?>
<p:tagLst xmlns:p="http://schemas.openxmlformats.org/presentationml/2006/main">
  <p:tag name="KSO_WM_BEAUTIFY_FLAG" val=""/>
</p:tagLst>
</file>

<file path=ppt/tags/tag97.xml><?xml version="1.0" encoding="utf-8"?>
<p:tagLst xmlns:p="http://schemas.openxmlformats.org/presentationml/2006/main">
  <p:tag name="KSO_WM_BEAUTIFY_FLAG" val=""/>
</p:tagLst>
</file>

<file path=ppt/tags/tag98.xml><?xml version="1.0" encoding="utf-8"?>
<p:tagLst xmlns:p="http://schemas.openxmlformats.org/presentationml/2006/main">
  <p:tag name="KSO_WM_BEAUTIFY_FLAG" val=""/>
</p:tagLst>
</file>

<file path=ppt/tags/tag99.xml><?xml version="1.0" encoding="utf-8"?>
<p:tagLst xmlns:p="http://schemas.openxmlformats.org/presentationml/2006/main">
  <p:tag name="KSO_WM_BEAUTIFY_FLAG" val=""/>
</p:tagLst>
</file>

<file path=ppt/tags/tag100.xml><?xml version="1.0" encoding="utf-8"?>
<p:tagLst xmlns:p="http://schemas.openxmlformats.org/presentationml/2006/main">
  <p:tag name="KSO_WM_BEAUTIFY_FLAG" val=""/>
</p:tagLst>
</file>

<file path=ppt/tags/tag101.xml><?xml version="1.0" encoding="utf-8"?>
<p:tagLst xmlns:p="http://schemas.openxmlformats.org/presentationml/2006/main">
  <p:tag name="KSO_WM_BEAUTIFY_FLAG" val=""/>
</p:tagLst>
</file>

<file path=ppt/tags/tag102.xml><?xml version="1.0" encoding="utf-8"?>
<p:tagLst xmlns:p="http://schemas.openxmlformats.org/presentationml/2006/main">
  <p:tag name="KSO_WM_BEAUTIFY_FLAG" val=""/>
</p:tagLst>
</file>

<file path=ppt/tags/tag103.xml><?xml version="1.0" encoding="utf-8"?>
<p:tagLst xmlns:p="http://schemas.openxmlformats.org/presentationml/2006/main">
  <p:tag name="KSO_WM_BEAUTIFY_FLAG" val=""/>
</p:tagLst>
</file>

<file path=ppt/tags/tag104.xml><?xml version="1.0" encoding="utf-8"?>
<p:tagLst xmlns:p="http://schemas.openxmlformats.org/presentationml/2006/main">
  <p:tag name="KSO_WM_BEAUTIFY_FLAG" val=""/>
</p:tagLst>
</file>

<file path=ppt/tags/tag105.xml><?xml version="1.0" encoding="utf-8"?>
<p:tagLst xmlns:p="http://schemas.openxmlformats.org/presentationml/2006/main">
  <p:tag name="KSO_WM_BEAUTIFY_FLAG" val=""/>
</p:tagLst>
</file>

<file path=ppt/tags/tag106.xml><?xml version="1.0" encoding="utf-8"?>
<p:tagLst xmlns:p="http://schemas.openxmlformats.org/presentationml/2006/main">
  <p:tag name="KSO_WM_BEAUTIFY_FLAG" val=""/>
</p:tagLst>
</file>

<file path=ppt/tags/tag107.xml><?xml version="1.0" encoding="utf-8"?>
<p:tagLst xmlns:p="http://schemas.openxmlformats.org/presentationml/2006/main">
  <p:tag name="KSO_WM_BEAUTIFY_FLAG" val=""/>
</p:tagLst>
</file>

<file path=ppt/tags/tag108.xml><?xml version="1.0" encoding="utf-8"?>
<p:tagLst xmlns:p="http://schemas.openxmlformats.org/presentationml/2006/main">
  <p:tag name="KSO_WM_BEAUTIFY_FLAG" val=""/>
</p:tagLst>
</file>

<file path=ppt/tags/tag109.xml><?xml version="1.0" encoding="utf-8"?>
<p:tagLst xmlns:p="http://schemas.openxmlformats.org/presentationml/2006/main">
  <p:tag name="KSO_WM_BEAUTIFY_FLAG" val=""/>
</p:tagLst>
</file>

<file path=ppt/tags/tag110.xml><?xml version="1.0" encoding="utf-8"?>
<p:tagLst xmlns:p="http://schemas.openxmlformats.org/presentationml/2006/main">
  <p:tag name="KSO_WM_BEAUTIFY_FLAG" val=""/>
</p:tagLst>
</file>

<file path=ppt/tags/tag111.xml><?xml version="1.0" encoding="utf-8"?>
<p:tagLst xmlns:p="http://schemas.openxmlformats.org/presentationml/2006/main">
  <p:tag name="KSO_WM_BEAUTIFY_FLAG" val=""/>
</p:tagLst>
</file>

<file path=ppt/tags/tag112.xml><?xml version="1.0" encoding="utf-8"?>
<p:tagLst xmlns:p="http://schemas.openxmlformats.org/presentationml/2006/main">
  <p:tag name="KSO_WM_BEAUTIFY_FLAG" val=""/>
</p:tagLst>
</file>

<file path=ppt/tags/tag113.xml><?xml version="1.0" encoding="utf-8"?>
<p:tagLst xmlns:p="http://schemas.openxmlformats.org/presentationml/2006/main">
  <p:tag name="KSO_WM_BEAUTIFY_FLAG" val=""/>
</p:tagLst>
</file>

<file path=ppt/tags/tag114.xml><?xml version="1.0" encoding="utf-8"?>
<p:tagLst xmlns:p="http://schemas.openxmlformats.org/presentationml/2006/main">
  <p:tag name="KSO_WM_BEAUTIFY_FLAG" val=""/>
</p:tagLst>
</file>

<file path=ppt/tags/tag115.xml><?xml version="1.0" encoding="utf-8"?>
<p:tagLst xmlns:p="http://schemas.openxmlformats.org/presentationml/2006/main">
  <p:tag name="KSO_WM_BEAUTIFY_FLAG" val=""/>
</p:tagLst>
</file>

<file path=ppt/tags/tag116.xml><?xml version="1.0" encoding="utf-8"?>
<p:tagLst xmlns:p="http://schemas.openxmlformats.org/presentationml/2006/main">
  <p:tag name="KSO_WM_BEAUTIFY_FLAG" val=""/>
</p:tagLst>
</file>

<file path=ppt/tags/tag117.xml><?xml version="1.0" encoding="utf-8"?>
<p:tagLst xmlns:p="http://schemas.openxmlformats.org/presentationml/2006/main">
  <p:tag name="KSO_WM_BEAUTIFY_FLAG" val=""/>
</p:tagLst>
</file>

<file path=ppt/tags/tag118.xml><?xml version="1.0" encoding="utf-8"?>
<p:tagLst xmlns:p="http://schemas.openxmlformats.org/presentationml/2006/main">
  <p:tag name="KSO_WM_BEAUTIFY_FLAG" val=""/>
</p:tagLst>
</file>

<file path=ppt/tags/tag119.xml><?xml version="1.0" encoding="utf-8"?>
<p:tagLst xmlns:p="http://schemas.openxmlformats.org/presentationml/2006/main">
  <p:tag name="KSO_WM_BEAUTIFY_FLAG" val=""/>
</p:tagLst>
</file>

<file path=ppt/tags/tag120.xml><?xml version="1.0" encoding="utf-8"?>
<p:tagLst xmlns:p="http://schemas.openxmlformats.org/presentationml/2006/main">
  <p:tag name="KSO_WM_BEAUTIFY_FLAG" val=""/>
</p:tagLst>
</file>

<file path=ppt/tags/tag121.xml><?xml version="1.0" encoding="utf-8"?>
<p:tagLst xmlns:p="http://schemas.openxmlformats.org/presentationml/2006/main">
  <p:tag name="KSO_WM_BEAUTIFY_FLAG" val=""/>
</p:tagLst>
</file>

<file path=ppt/tags/tag122.xml><?xml version="1.0" encoding="utf-8"?>
<p:tagLst xmlns:p="http://schemas.openxmlformats.org/presentationml/2006/main">
  <p:tag name="KSO_WM_BEAUTIFY_FLAG" val=""/>
</p:tagLst>
</file>

<file path=ppt/tags/tag123.xml><?xml version="1.0" encoding="utf-8"?>
<p:tagLst xmlns:p="http://schemas.openxmlformats.org/presentationml/2006/main">
  <p:tag name="KSO_WM_BEAUTIFY_FLAG" val=""/>
</p:tagLst>
</file>

<file path=ppt/tags/tag124.xml><?xml version="1.0" encoding="utf-8"?>
<p:tagLst xmlns:p="http://schemas.openxmlformats.org/presentationml/2006/main">
  <p:tag name="KSO_WM_BEAUTIFY_FLAG" val=""/>
</p:tagLst>
</file>

<file path=ppt/tags/tag125.xml><?xml version="1.0" encoding="utf-8"?>
<p:tagLst xmlns:p="http://schemas.openxmlformats.org/presentationml/2006/main">
  <p:tag name="KSO_WM_BEAUTIFY_FLAG" val=""/>
</p:tagLst>
</file>

<file path=ppt/tags/tag126.xml><?xml version="1.0" encoding="utf-8"?>
<p:tagLst xmlns:p="http://schemas.openxmlformats.org/presentationml/2006/main">
  <p:tag name="KSO_WM_BEAUTIFY_FLAG" val=""/>
</p:tagLst>
</file>

<file path=ppt/tags/tag127.xml><?xml version="1.0" encoding="utf-8"?>
<p:tagLst xmlns:p="http://schemas.openxmlformats.org/presentationml/2006/main">
  <p:tag name="KSO_WM_BEAUTIFY_FLAG" val=""/>
</p:tagLst>
</file>

<file path=ppt/tags/tag128.xml><?xml version="1.0" encoding="utf-8"?>
<p:tagLst xmlns:p="http://schemas.openxmlformats.org/presentationml/2006/main">
  <p:tag name="KSO_WM_BEAUTIFY_FLAG" val=""/>
</p:tagLst>
</file>

<file path=ppt/tags/tag129.xml><?xml version="1.0" encoding="utf-8"?>
<p:tagLst xmlns:p="http://schemas.openxmlformats.org/presentationml/2006/main">
  <p:tag name="KSO_WM_BEAUTIFY_FLAG" val=""/>
</p:tagLst>
</file>

<file path=ppt/tags/tag130.xml><?xml version="1.0" encoding="utf-8"?>
<p:tagLst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WPS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874CB"/>
    </a:accent1>
    <a:accent2>
      <a:srgbClr val="EE822F"/>
    </a:accent2>
    <a:accent3>
      <a:srgbClr val="F2BA02"/>
    </a:accent3>
    <a:accent4>
      <a:srgbClr val="75BD42"/>
    </a:accent4>
    <a:accent5>
      <a:srgbClr val="30C0B4"/>
    </a:accent5>
    <a:accent6>
      <a:srgbClr val="E54C5E"/>
    </a:accent6>
    <a:hlink>
      <a:srgbClr val="0026E5"/>
    </a:hlink>
    <a:folHlink>
      <a:srgbClr val="7E1FAD"/>
    </a:folHlink>
  </a:clrScheme>
  <a:fontScheme name="WPS">
    <a:majorFont>
      <a:latin typeface="Calibri Light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WPS">
    <a:fillStyleLst>
      <a:solidFill>
        <a:schemeClr val="phClr"/>
      </a:solidFill>
      <a:gradFill>
        <a:gsLst>
          <a:gs pos="0">
            <a:schemeClr val="phClr">
              <a:lumOff val="17500"/>
            </a:schemeClr>
          </a:gs>
          <a:gs pos="100000">
            <a:schemeClr val="phClr"/>
          </a:gs>
        </a:gsLst>
        <a:lin ang="2700000" scaled="0"/>
      </a:gradFill>
      <a:gradFill>
        <a:gsLst>
          <a:gs pos="0">
            <a:schemeClr val="phClr">
              <a:hueOff val="-2520000"/>
            </a:schemeClr>
          </a:gs>
          <a:gs pos="100000">
            <a:schemeClr val="phClr"/>
          </a:gs>
        </a:gsLst>
        <a:lin ang="27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2700" cap="flat" cmpd="sng" algn="ctr">
        <a:gradFill>
          <a:gsLst>
            <a:gs pos="0">
              <a:schemeClr val="phClr">
                <a:hueOff val="-4200000"/>
              </a:schemeClr>
            </a:gs>
            <a:gs pos="100000">
              <a:schemeClr val="phClr"/>
            </a:gs>
          </a:gsLst>
          <a:lin ang="2700000" scaled="1"/>
        </a:gradFill>
        <a:prstDash val="solid"/>
        <a:miter lim="800000"/>
      </a:ln>
    </a:lnStyleLst>
    <a:effectStyleLst>
      <a:effectStyle>
        <a:effectLst>
          <a:outerShdw blurRad="101600" dist="50800" dir="5400000" algn="ctr" rotWithShape="0">
            <a:schemeClr val="phClr">
              <a:alpha val="60000"/>
            </a:schemeClr>
          </a:outerShdw>
        </a:effectLst>
      </a:effectStyle>
      <a:effectStyle>
        <a:effectLst>
          <a:reflection stA="50000" endA="300" endPos="40000" dist="25400" dir="5400000" sy="-100000" algn="bl" rotWithShape="0"/>
        </a:effectLst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12347</Words>
  <Application>WPS 表格</Application>
  <PresentationFormat>宽屏</PresentationFormat>
  <Paragraphs>222</Paragraphs>
  <Slides>16</Slides>
  <Notes>7</Notes>
  <HiddenSlides>1</HiddenSlides>
  <MMClips>0</MMClips>
  <ScaleCrop>false</ScaleCrop>
  <HeadingPairs>
    <vt:vector size="6" baseType="variant">
      <vt:variant>
        <vt:lpstr>已用的字体</vt:lpstr>
      </vt:variant>
      <vt:variant>
        <vt:i4>31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16</vt:i4>
      </vt:variant>
    </vt:vector>
  </HeadingPairs>
  <TitlesOfParts>
    <vt:vector size="49" baseType="lpstr">
      <vt:lpstr>Arial</vt:lpstr>
      <vt:lpstr>宋体</vt:lpstr>
      <vt:lpstr>Wingdings</vt:lpstr>
      <vt:lpstr>Times New Roman Bold</vt:lpstr>
      <vt:lpstr>汉仪字酷堂义山楷W</vt:lpstr>
      <vt:lpstr>Times New Roman</vt:lpstr>
      <vt:lpstr>汉仪大宋简</vt:lpstr>
      <vt:lpstr>Times New Roman Regular</vt:lpstr>
      <vt:lpstr>思源黑体 CN Heavy</vt:lpstr>
      <vt:lpstr>等线</vt:lpstr>
      <vt:lpstr>汉仪中等线KW</vt:lpstr>
      <vt:lpstr>微软雅黑</vt:lpstr>
      <vt:lpstr>汉仪旗黑</vt:lpstr>
      <vt:lpstr>宋体</vt:lpstr>
      <vt:lpstr>Arial Unicode MS</vt:lpstr>
      <vt:lpstr>等线 Light</vt:lpstr>
      <vt:lpstr>HYYakuHei 65W</vt:lpstr>
      <vt:lpstr>黑体</vt:lpstr>
      <vt:lpstr>冬青黑体简体中文</vt:lpstr>
      <vt:lpstr>OPPOSans M</vt:lpstr>
      <vt:lpstr>Calibri</vt:lpstr>
      <vt:lpstr>Helvetica Neue</vt:lpstr>
      <vt:lpstr>汉仪书宋二KW</vt:lpstr>
      <vt:lpstr>宋体-简</vt:lpstr>
      <vt:lpstr>HYYakuHei 65W</vt:lpstr>
      <vt:lpstr>OPPOSans M</vt:lpstr>
      <vt:lpstr>Wingdings</vt:lpstr>
      <vt:lpstr>思源黑体 CN Heavy</vt:lpstr>
      <vt:lpstr>苹方-简</vt:lpstr>
      <vt:lpstr>思源黑体</vt:lpstr>
      <vt:lpstr>微软雅黑</vt:lpstr>
      <vt:lpstr>Office 主题​​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白 夜</dc:creator>
  <cp:lastModifiedBy>WPS_1641386769</cp:lastModifiedBy>
  <cp:revision>9</cp:revision>
  <dcterms:created xsi:type="dcterms:W3CDTF">2025-05-13T08:39:25Z</dcterms:created>
  <dcterms:modified xsi:type="dcterms:W3CDTF">2025-05-13T08:39:25Z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2052-6.5.2.8766</vt:lpwstr>
  </property>
  <property fmtid="{D5CDD505-2E9C-101B-9397-08002B2CF9AE}" pid="3" name="KSOTemplateUUID">
    <vt:lpwstr>v1.0_mb_yPlSy1rV8DSurzzSHH8GXA==</vt:lpwstr>
  </property>
  <property fmtid="{D5CDD505-2E9C-101B-9397-08002B2CF9AE}" pid="4" name="ICV">
    <vt:lpwstr>29084763F61304907469216821360C06_43</vt:lpwstr>
  </property>
</Properties>
</file>